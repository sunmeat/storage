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4610100" cy="3460750"/>
  <p:notesSz cx="4610100" cy="34607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Lucida Sans Unicode" panose="020B0602030504020204"/>
                <a:cs typeface="Lucida Sans Unicode" panose="020B0602030504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/>
              <a:t>Программная</a:t>
            </a:r>
            <a:r>
              <a:rPr spc="-30" dirty="0"/>
              <a:t> </a:t>
            </a:r>
            <a:r>
              <a:rPr spc="15" dirty="0"/>
              <a:t>инженерия.</a:t>
            </a:r>
            <a:r>
              <a:rPr spc="25" dirty="0"/>
              <a:t> </a:t>
            </a:r>
            <a:r>
              <a:rPr spc="15" dirty="0"/>
              <a:t>Лекция</a:t>
            </a:r>
            <a:r>
              <a:rPr spc="-20" dirty="0"/>
              <a:t> </a:t>
            </a:r>
            <a:r>
              <a:rPr dirty="0"/>
              <a:t>№16   </a:t>
            </a:r>
            <a:r>
              <a:rPr spc="45" dirty="0"/>
              <a:t> </a:t>
            </a:r>
            <a:r>
              <a:rPr spc="10" dirty="0"/>
              <a:t>Документирование</a:t>
            </a:r>
            <a:r>
              <a:rPr spc="-25" dirty="0"/>
              <a:t> </a:t>
            </a:r>
            <a:r>
              <a:rPr spc="15" dirty="0"/>
              <a:t>ПО</a:t>
            </a:r>
            <a:endParaRPr spc="1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Lucida Sans Unicode" panose="020B0602030504020204"/>
                <a:cs typeface="Lucida Sans Unicode" panose="020B0602030504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-20" dirty="0"/>
              <a:t>1</a:t>
            </a:r>
            <a:fld id="{81D60167-4931-47E6-BA6A-407CBD079E47}" type="slidenum">
              <a:rPr spc="-20" dirty="0"/>
            </a:fld>
            <a:r>
              <a:rPr spc="-80" dirty="0"/>
              <a:t> </a:t>
            </a:r>
            <a:r>
              <a:rPr spc="-75" dirty="0"/>
              <a:t>/</a:t>
            </a:r>
            <a:r>
              <a:rPr spc="-80" dirty="0"/>
              <a:t> </a:t>
            </a:r>
            <a:r>
              <a:rPr spc="-20" dirty="0"/>
              <a:t>26</a:t>
            </a:r>
            <a:endParaRPr spc="-2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Lucida Sans Unicode" panose="020B0602030504020204"/>
                <a:cs typeface="Lucida Sans Unicode" panose="020B0602030504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/>
              <a:t>Программная</a:t>
            </a:r>
            <a:r>
              <a:rPr spc="-30" dirty="0"/>
              <a:t> </a:t>
            </a:r>
            <a:r>
              <a:rPr spc="15" dirty="0"/>
              <a:t>инженерия.</a:t>
            </a:r>
            <a:r>
              <a:rPr spc="25" dirty="0"/>
              <a:t> </a:t>
            </a:r>
            <a:r>
              <a:rPr spc="15" dirty="0"/>
              <a:t>Лекция</a:t>
            </a:r>
            <a:r>
              <a:rPr spc="-20" dirty="0"/>
              <a:t> </a:t>
            </a:r>
            <a:r>
              <a:rPr dirty="0"/>
              <a:t>№16   </a:t>
            </a:r>
            <a:r>
              <a:rPr spc="45" dirty="0"/>
              <a:t> </a:t>
            </a:r>
            <a:r>
              <a:rPr spc="10" dirty="0"/>
              <a:t>Документирование</a:t>
            </a:r>
            <a:r>
              <a:rPr spc="-25" dirty="0"/>
              <a:t> </a:t>
            </a:r>
            <a:r>
              <a:rPr spc="15" dirty="0"/>
              <a:t>ПО</a:t>
            </a:r>
            <a:endParaRPr spc="1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Lucida Sans Unicode" panose="020B0602030504020204"/>
                <a:cs typeface="Lucida Sans Unicode" panose="020B0602030504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-20" dirty="0"/>
              <a:t>1</a:t>
            </a:r>
            <a:fld id="{81D60167-4931-47E6-BA6A-407CBD079E47}" type="slidenum">
              <a:rPr spc="-20" dirty="0"/>
            </a:fld>
            <a:r>
              <a:rPr spc="-80" dirty="0"/>
              <a:t> </a:t>
            </a:r>
            <a:r>
              <a:rPr spc="-75" dirty="0"/>
              <a:t>/</a:t>
            </a:r>
            <a:r>
              <a:rPr spc="-80" dirty="0"/>
              <a:t> </a:t>
            </a:r>
            <a:r>
              <a:rPr spc="-20" dirty="0"/>
              <a:t>26</a:t>
            </a:r>
            <a:endParaRPr spc="-2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Lucida Sans Unicode" panose="020B0602030504020204"/>
                <a:cs typeface="Lucida Sans Unicode" panose="020B0602030504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/>
              <a:t>Программная</a:t>
            </a:r>
            <a:r>
              <a:rPr spc="-30" dirty="0"/>
              <a:t> </a:t>
            </a:r>
            <a:r>
              <a:rPr spc="15" dirty="0"/>
              <a:t>инженерия.</a:t>
            </a:r>
            <a:r>
              <a:rPr spc="25" dirty="0"/>
              <a:t> </a:t>
            </a:r>
            <a:r>
              <a:rPr spc="15" dirty="0"/>
              <a:t>Лекция</a:t>
            </a:r>
            <a:r>
              <a:rPr spc="-20" dirty="0"/>
              <a:t> </a:t>
            </a:r>
            <a:r>
              <a:rPr dirty="0"/>
              <a:t>№16   </a:t>
            </a:r>
            <a:r>
              <a:rPr spc="45" dirty="0"/>
              <a:t> </a:t>
            </a:r>
            <a:r>
              <a:rPr spc="10" dirty="0"/>
              <a:t>Документирование</a:t>
            </a:r>
            <a:r>
              <a:rPr spc="-25" dirty="0"/>
              <a:t> </a:t>
            </a:r>
            <a:r>
              <a:rPr spc="15" dirty="0"/>
              <a:t>ПО</a:t>
            </a:r>
            <a:endParaRPr spc="1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Lucida Sans Unicode" panose="020B0602030504020204"/>
                <a:cs typeface="Lucida Sans Unicode" panose="020B0602030504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-20" dirty="0"/>
              <a:t>1</a:t>
            </a:r>
            <a:fld id="{81D60167-4931-47E6-BA6A-407CBD079E47}" type="slidenum">
              <a:rPr spc="-20" dirty="0"/>
            </a:fld>
            <a:r>
              <a:rPr spc="-80" dirty="0"/>
              <a:t> </a:t>
            </a:r>
            <a:r>
              <a:rPr spc="-75" dirty="0"/>
              <a:t>/</a:t>
            </a:r>
            <a:r>
              <a:rPr spc="-80" dirty="0"/>
              <a:t> </a:t>
            </a:r>
            <a:r>
              <a:rPr spc="-20" dirty="0"/>
              <a:t>26</a:t>
            </a:r>
            <a:endParaRPr spc="-2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Lucida Sans Unicode" panose="020B0602030504020204"/>
                <a:cs typeface="Lucida Sans Unicode" panose="020B0602030504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/>
              <a:t>Программная</a:t>
            </a:r>
            <a:r>
              <a:rPr spc="-30" dirty="0"/>
              <a:t> </a:t>
            </a:r>
            <a:r>
              <a:rPr spc="15" dirty="0"/>
              <a:t>инженерия.</a:t>
            </a:r>
            <a:r>
              <a:rPr spc="25" dirty="0"/>
              <a:t> </a:t>
            </a:r>
            <a:r>
              <a:rPr spc="15" dirty="0"/>
              <a:t>Лекция</a:t>
            </a:r>
            <a:r>
              <a:rPr spc="-20" dirty="0"/>
              <a:t> </a:t>
            </a:r>
            <a:r>
              <a:rPr dirty="0"/>
              <a:t>№16   </a:t>
            </a:r>
            <a:r>
              <a:rPr spc="45" dirty="0"/>
              <a:t> </a:t>
            </a:r>
            <a:r>
              <a:rPr spc="10" dirty="0"/>
              <a:t>Документирование</a:t>
            </a:r>
            <a:r>
              <a:rPr spc="-25" dirty="0"/>
              <a:t> </a:t>
            </a:r>
            <a:r>
              <a:rPr spc="15" dirty="0"/>
              <a:t>ПО</a:t>
            </a:r>
            <a:endParaRPr spc="1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Lucida Sans Unicode" panose="020B0602030504020204"/>
                <a:cs typeface="Lucida Sans Unicode" panose="020B0602030504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-20" dirty="0"/>
              <a:t>1</a:t>
            </a:r>
            <a:fld id="{81D60167-4931-47E6-BA6A-407CBD079E47}" type="slidenum">
              <a:rPr spc="-20" dirty="0"/>
            </a:fld>
            <a:r>
              <a:rPr spc="-80" dirty="0"/>
              <a:t> </a:t>
            </a:r>
            <a:r>
              <a:rPr spc="-75" dirty="0"/>
              <a:t>/</a:t>
            </a:r>
            <a:r>
              <a:rPr spc="-80" dirty="0"/>
              <a:t> </a:t>
            </a:r>
            <a:r>
              <a:rPr spc="-20" dirty="0"/>
              <a:t>26</a:t>
            </a:r>
            <a:endParaRPr spc="-2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Lucida Sans Unicode" panose="020B0602030504020204"/>
                <a:cs typeface="Lucida Sans Unicode" panose="020B0602030504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/>
              <a:t>Программная</a:t>
            </a:r>
            <a:r>
              <a:rPr spc="-30" dirty="0"/>
              <a:t> </a:t>
            </a:r>
            <a:r>
              <a:rPr spc="15" dirty="0"/>
              <a:t>инженерия.</a:t>
            </a:r>
            <a:r>
              <a:rPr spc="25" dirty="0"/>
              <a:t> </a:t>
            </a:r>
            <a:r>
              <a:rPr spc="15" dirty="0"/>
              <a:t>Лекция</a:t>
            </a:r>
            <a:r>
              <a:rPr spc="-20" dirty="0"/>
              <a:t> </a:t>
            </a:r>
            <a:r>
              <a:rPr dirty="0"/>
              <a:t>№16   </a:t>
            </a:r>
            <a:r>
              <a:rPr spc="45" dirty="0"/>
              <a:t> </a:t>
            </a:r>
            <a:r>
              <a:rPr spc="10" dirty="0"/>
              <a:t>Документирование</a:t>
            </a:r>
            <a:r>
              <a:rPr spc="-25" dirty="0"/>
              <a:t> </a:t>
            </a:r>
            <a:r>
              <a:rPr spc="15" dirty="0"/>
              <a:t>ПО</a:t>
            </a:r>
            <a:endParaRPr spc="1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Lucida Sans Unicode" panose="020B0602030504020204"/>
                <a:cs typeface="Lucida Sans Unicode" panose="020B0602030504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-20" dirty="0"/>
              <a:t>1</a:t>
            </a:r>
            <a:fld id="{81D60167-4931-47E6-BA6A-407CBD079E47}" type="slidenum">
              <a:rPr spc="-20" dirty="0"/>
            </a:fld>
            <a:r>
              <a:rPr spc="-80" dirty="0"/>
              <a:t> </a:t>
            </a:r>
            <a:r>
              <a:rPr spc="-75" dirty="0"/>
              <a:t>/</a:t>
            </a:r>
            <a:r>
              <a:rPr spc="-80" dirty="0"/>
              <a:t> </a:t>
            </a:r>
            <a:r>
              <a:rPr spc="-20" dirty="0"/>
              <a:t>26</a:t>
            </a:r>
            <a:endParaRPr spc="-2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201295"/>
          </a:xfrm>
          <a:custGeom>
            <a:avLst/>
            <a:gdLst/>
            <a:ahLst/>
            <a:cxnLst/>
            <a:rect l="l" t="t" r="r" b="b"/>
            <a:pathLst>
              <a:path w="4608195" h="201295">
                <a:moveTo>
                  <a:pt x="4607941" y="0"/>
                </a:moveTo>
                <a:lnTo>
                  <a:pt x="0" y="0"/>
                </a:lnTo>
                <a:lnTo>
                  <a:pt x="0" y="200914"/>
                </a:lnTo>
                <a:lnTo>
                  <a:pt x="4607941" y="200914"/>
                </a:lnTo>
                <a:lnTo>
                  <a:pt x="4607941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20650" y="148521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5" h="27305">
                <a:moveTo>
                  <a:pt x="26992" y="13496"/>
                </a:moveTo>
                <a:lnTo>
                  <a:pt x="26992" y="6042"/>
                </a:lnTo>
                <a:lnTo>
                  <a:pt x="20949" y="0"/>
                </a:lnTo>
                <a:lnTo>
                  <a:pt x="13496" y="0"/>
                </a:lnTo>
                <a:lnTo>
                  <a:pt x="6042" y="0"/>
                </a:lnTo>
                <a:lnTo>
                  <a:pt x="0" y="6042"/>
                </a:lnTo>
                <a:lnTo>
                  <a:pt x="0" y="13496"/>
                </a:lnTo>
                <a:lnTo>
                  <a:pt x="0" y="20949"/>
                </a:lnTo>
                <a:lnTo>
                  <a:pt x="6042" y="26992"/>
                </a:lnTo>
                <a:lnTo>
                  <a:pt x="13496" y="26992"/>
                </a:lnTo>
                <a:lnTo>
                  <a:pt x="20949" y="26992"/>
                </a:lnTo>
                <a:lnTo>
                  <a:pt x="26992" y="20949"/>
                </a:lnTo>
                <a:lnTo>
                  <a:pt x="26992" y="13496"/>
                </a:lnTo>
                <a:close/>
              </a:path>
            </a:pathLst>
          </a:custGeom>
          <a:ln w="5060">
            <a:solidFill>
              <a:srgbClr val="8C8C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56590" y="148521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5" h="27305">
                <a:moveTo>
                  <a:pt x="26992" y="13496"/>
                </a:moveTo>
                <a:lnTo>
                  <a:pt x="26992" y="6042"/>
                </a:lnTo>
                <a:lnTo>
                  <a:pt x="20949" y="0"/>
                </a:lnTo>
                <a:lnTo>
                  <a:pt x="13496" y="0"/>
                </a:lnTo>
                <a:lnTo>
                  <a:pt x="6042" y="0"/>
                </a:lnTo>
                <a:lnTo>
                  <a:pt x="0" y="6042"/>
                </a:lnTo>
                <a:lnTo>
                  <a:pt x="0" y="13496"/>
                </a:lnTo>
                <a:lnTo>
                  <a:pt x="0" y="20949"/>
                </a:lnTo>
                <a:lnTo>
                  <a:pt x="6042" y="26992"/>
                </a:lnTo>
                <a:lnTo>
                  <a:pt x="13496" y="26992"/>
                </a:lnTo>
                <a:lnTo>
                  <a:pt x="20949" y="26992"/>
                </a:lnTo>
                <a:lnTo>
                  <a:pt x="26992" y="20949"/>
                </a:lnTo>
                <a:lnTo>
                  <a:pt x="26992" y="13496"/>
                </a:lnTo>
                <a:close/>
              </a:path>
            </a:pathLst>
          </a:custGeom>
          <a:ln w="5060">
            <a:solidFill>
              <a:srgbClr val="8C8C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92659" y="148521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5">
                <a:moveTo>
                  <a:pt x="26992" y="13496"/>
                </a:moveTo>
                <a:lnTo>
                  <a:pt x="26992" y="6042"/>
                </a:lnTo>
                <a:lnTo>
                  <a:pt x="20949" y="0"/>
                </a:lnTo>
                <a:lnTo>
                  <a:pt x="13496" y="0"/>
                </a:lnTo>
                <a:lnTo>
                  <a:pt x="6042" y="0"/>
                </a:lnTo>
                <a:lnTo>
                  <a:pt x="0" y="6042"/>
                </a:lnTo>
                <a:lnTo>
                  <a:pt x="0" y="13496"/>
                </a:lnTo>
                <a:lnTo>
                  <a:pt x="0" y="20949"/>
                </a:lnTo>
                <a:lnTo>
                  <a:pt x="6042" y="26992"/>
                </a:lnTo>
                <a:lnTo>
                  <a:pt x="13496" y="26992"/>
                </a:lnTo>
                <a:lnTo>
                  <a:pt x="20949" y="26992"/>
                </a:lnTo>
                <a:lnTo>
                  <a:pt x="26992" y="20949"/>
                </a:lnTo>
                <a:lnTo>
                  <a:pt x="26992" y="13496"/>
                </a:lnTo>
                <a:close/>
              </a:path>
            </a:pathLst>
          </a:custGeom>
          <a:ln w="5060">
            <a:solidFill>
              <a:srgbClr val="8C8C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228600" y="148521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5">
                <a:moveTo>
                  <a:pt x="26992" y="13496"/>
                </a:moveTo>
                <a:lnTo>
                  <a:pt x="26992" y="6042"/>
                </a:lnTo>
                <a:lnTo>
                  <a:pt x="20949" y="0"/>
                </a:lnTo>
                <a:lnTo>
                  <a:pt x="13496" y="0"/>
                </a:lnTo>
                <a:lnTo>
                  <a:pt x="6042" y="0"/>
                </a:lnTo>
                <a:lnTo>
                  <a:pt x="0" y="6042"/>
                </a:lnTo>
                <a:lnTo>
                  <a:pt x="0" y="13496"/>
                </a:lnTo>
                <a:lnTo>
                  <a:pt x="0" y="20949"/>
                </a:lnTo>
                <a:lnTo>
                  <a:pt x="6042" y="26992"/>
                </a:lnTo>
                <a:lnTo>
                  <a:pt x="13496" y="26992"/>
                </a:lnTo>
                <a:lnTo>
                  <a:pt x="20949" y="26992"/>
                </a:lnTo>
                <a:lnTo>
                  <a:pt x="26992" y="20949"/>
                </a:lnTo>
                <a:lnTo>
                  <a:pt x="26992" y="13496"/>
                </a:lnTo>
                <a:close/>
              </a:path>
            </a:pathLst>
          </a:custGeom>
          <a:ln w="5060">
            <a:solidFill>
              <a:srgbClr val="8C8C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264668" y="148521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5">
                <a:moveTo>
                  <a:pt x="26992" y="13496"/>
                </a:moveTo>
                <a:lnTo>
                  <a:pt x="26992" y="6042"/>
                </a:lnTo>
                <a:lnTo>
                  <a:pt x="20949" y="0"/>
                </a:lnTo>
                <a:lnTo>
                  <a:pt x="13496" y="0"/>
                </a:lnTo>
                <a:lnTo>
                  <a:pt x="6042" y="0"/>
                </a:lnTo>
                <a:lnTo>
                  <a:pt x="0" y="6042"/>
                </a:lnTo>
                <a:lnTo>
                  <a:pt x="0" y="13496"/>
                </a:lnTo>
                <a:lnTo>
                  <a:pt x="0" y="20949"/>
                </a:lnTo>
                <a:lnTo>
                  <a:pt x="6042" y="26992"/>
                </a:lnTo>
                <a:lnTo>
                  <a:pt x="13496" y="26992"/>
                </a:lnTo>
                <a:lnTo>
                  <a:pt x="20949" y="26992"/>
                </a:lnTo>
                <a:lnTo>
                  <a:pt x="26992" y="20949"/>
                </a:lnTo>
                <a:lnTo>
                  <a:pt x="26992" y="13496"/>
                </a:lnTo>
                <a:close/>
              </a:path>
            </a:pathLst>
          </a:custGeom>
          <a:ln w="5060">
            <a:solidFill>
              <a:srgbClr val="8C8C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00609" y="148521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5">
                <a:moveTo>
                  <a:pt x="26992" y="13496"/>
                </a:moveTo>
                <a:lnTo>
                  <a:pt x="26992" y="6042"/>
                </a:lnTo>
                <a:lnTo>
                  <a:pt x="20949" y="0"/>
                </a:lnTo>
                <a:lnTo>
                  <a:pt x="13496" y="0"/>
                </a:lnTo>
                <a:lnTo>
                  <a:pt x="6042" y="0"/>
                </a:lnTo>
                <a:lnTo>
                  <a:pt x="0" y="6042"/>
                </a:lnTo>
                <a:lnTo>
                  <a:pt x="0" y="13496"/>
                </a:lnTo>
                <a:lnTo>
                  <a:pt x="0" y="20949"/>
                </a:lnTo>
                <a:lnTo>
                  <a:pt x="6042" y="26992"/>
                </a:lnTo>
                <a:lnTo>
                  <a:pt x="13496" y="26992"/>
                </a:lnTo>
                <a:lnTo>
                  <a:pt x="20949" y="26992"/>
                </a:lnTo>
                <a:lnTo>
                  <a:pt x="26992" y="20949"/>
                </a:lnTo>
                <a:lnTo>
                  <a:pt x="26992" y="13496"/>
                </a:lnTo>
                <a:close/>
              </a:path>
            </a:pathLst>
          </a:custGeom>
          <a:ln w="5060">
            <a:solidFill>
              <a:srgbClr val="8C8C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36550" y="148521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5">
                <a:moveTo>
                  <a:pt x="26992" y="13496"/>
                </a:moveTo>
                <a:lnTo>
                  <a:pt x="26992" y="6042"/>
                </a:lnTo>
                <a:lnTo>
                  <a:pt x="20949" y="0"/>
                </a:lnTo>
                <a:lnTo>
                  <a:pt x="13496" y="0"/>
                </a:lnTo>
                <a:lnTo>
                  <a:pt x="6042" y="0"/>
                </a:lnTo>
                <a:lnTo>
                  <a:pt x="0" y="6042"/>
                </a:lnTo>
                <a:lnTo>
                  <a:pt x="0" y="13496"/>
                </a:lnTo>
                <a:lnTo>
                  <a:pt x="0" y="20949"/>
                </a:lnTo>
                <a:lnTo>
                  <a:pt x="6042" y="26992"/>
                </a:lnTo>
                <a:lnTo>
                  <a:pt x="13496" y="26992"/>
                </a:lnTo>
                <a:lnTo>
                  <a:pt x="20949" y="26992"/>
                </a:lnTo>
                <a:lnTo>
                  <a:pt x="26992" y="20949"/>
                </a:lnTo>
                <a:lnTo>
                  <a:pt x="26992" y="13496"/>
                </a:lnTo>
                <a:close/>
              </a:path>
            </a:pathLst>
          </a:custGeom>
          <a:ln w="5060">
            <a:solidFill>
              <a:srgbClr val="8C8C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0505" y="138430"/>
            <a:ext cx="4149090" cy="553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505" y="795972"/>
            <a:ext cx="4149090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749" y="3313885"/>
            <a:ext cx="2357120" cy="125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" b="0" i="0">
                <a:solidFill>
                  <a:schemeClr val="bg1"/>
                </a:solidFill>
                <a:latin typeface="Lucida Sans Unicode" panose="020B0602030504020204"/>
                <a:cs typeface="Lucida Sans Unicode" panose="020B0602030504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/>
              <a:t>Программная</a:t>
            </a:r>
            <a:r>
              <a:rPr spc="-30" dirty="0"/>
              <a:t> </a:t>
            </a:r>
            <a:r>
              <a:rPr spc="15" dirty="0"/>
              <a:t>инженерия.</a:t>
            </a:r>
            <a:r>
              <a:rPr spc="25" dirty="0"/>
              <a:t> </a:t>
            </a:r>
            <a:r>
              <a:rPr spc="15" dirty="0"/>
              <a:t>Лекция</a:t>
            </a:r>
            <a:r>
              <a:rPr spc="-20" dirty="0"/>
              <a:t> </a:t>
            </a:r>
            <a:r>
              <a:rPr dirty="0"/>
              <a:t>№16   </a:t>
            </a:r>
            <a:r>
              <a:rPr spc="45" dirty="0"/>
              <a:t> </a:t>
            </a:r>
            <a:r>
              <a:rPr spc="10" dirty="0"/>
              <a:t>Документирование</a:t>
            </a:r>
            <a:r>
              <a:rPr spc="-25" dirty="0"/>
              <a:t> </a:t>
            </a:r>
            <a:r>
              <a:rPr spc="15" dirty="0"/>
              <a:t>ПО</a:t>
            </a:r>
            <a:endParaRPr spc="1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67580" y="3313885"/>
            <a:ext cx="281939" cy="125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" b="0" i="0">
                <a:solidFill>
                  <a:schemeClr val="bg1"/>
                </a:solidFill>
                <a:latin typeface="Lucida Sans Unicode" panose="020B0602030504020204"/>
                <a:cs typeface="Lucida Sans Unicode" panose="020B0602030504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-20" dirty="0"/>
              <a:t>1</a:t>
            </a:r>
            <a:fld id="{81D60167-4931-47E6-BA6A-407CBD079E47}" type="slidenum">
              <a:rPr spc="-20" dirty="0"/>
            </a:fld>
            <a:r>
              <a:rPr spc="-80" dirty="0"/>
              <a:t> </a:t>
            </a:r>
            <a:r>
              <a:rPr spc="-75" dirty="0"/>
              <a:t>/</a:t>
            </a:r>
            <a:r>
              <a:rPr spc="-80" dirty="0"/>
              <a:t> </a:t>
            </a:r>
            <a:r>
              <a:rPr spc="-20" dirty="0"/>
              <a:t>26</a:t>
            </a:r>
            <a:endParaRPr spc="-2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hyperlink" Target="http://stackoverflow.com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hyperlink" Target="https://en.wikipedia.org/wiki/Noweb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50" y="13017"/>
            <a:ext cx="69405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Общие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понятия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61642" y="145981"/>
            <a:ext cx="464184" cy="32384"/>
            <a:chOff x="1961642" y="145981"/>
            <a:chExt cx="464184" cy="32384"/>
          </a:xfrm>
        </p:grpSpPr>
        <p:sp>
          <p:nvSpPr>
            <p:cNvPr id="4" name="object 4"/>
            <p:cNvSpPr/>
            <p:nvPr/>
          </p:nvSpPr>
          <p:spPr>
            <a:xfrm>
              <a:off x="19641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002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0361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07213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1082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1441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1800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2161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520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28815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3241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3600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39610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938908" y="13017"/>
            <a:ext cx="87947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Виды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990730" y="145991"/>
            <a:ext cx="104139" cy="32384"/>
            <a:chOff x="3990730" y="145991"/>
            <a:chExt cx="104139" cy="32384"/>
          </a:xfrm>
        </p:grpSpPr>
        <p:sp>
          <p:nvSpPr>
            <p:cNvPr id="19" name="object 19"/>
            <p:cNvSpPr/>
            <p:nvPr/>
          </p:nvSpPr>
          <p:spPr>
            <a:xfrm>
              <a:off x="399326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02932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06526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3967988" y="13017"/>
            <a:ext cx="54546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Заключение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3840" y="1045210"/>
            <a:ext cx="4114165" cy="1190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n/>
                <a:solidFill>
                  <a:schemeClr val="tx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Lucida Sans Unicode" panose="020B0602030504020204"/>
                <a:cs typeface="Lucida Sans Unicode" panose="020B0602030504020204"/>
              </a:rPr>
              <a:t>Документирование</a:t>
            </a:r>
            <a:endParaRPr sz="2500" spc="-5" dirty="0">
              <a:ln/>
              <a:solidFill>
                <a:schemeClr val="tx2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Lucida Sans Unicode" panose="020B0602030504020204"/>
              <a:cs typeface="Lucida Sans Unicode" panose="020B0602030504020204"/>
            </a:endParaRPr>
          </a:p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ru-RU" sz="2500">
                <a:ln/>
                <a:solidFill>
                  <a:schemeClr val="tx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Lucida Sans Unicode" panose="020B0602030504020204"/>
                <a:cs typeface="Lucida Sans Unicode" panose="020B0602030504020204"/>
              </a:rPr>
              <a:t>программного</a:t>
            </a:r>
            <a:endParaRPr lang="ru-RU" sz="2500">
              <a:ln/>
              <a:solidFill>
                <a:schemeClr val="tx2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Lucida Sans Unicode" panose="020B0602030504020204"/>
              <a:cs typeface="Lucida Sans Unicode" panose="020B0602030504020204"/>
            </a:endParaRPr>
          </a:p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ru-RU" sz="2500">
                <a:ln/>
                <a:solidFill>
                  <a:schemeClr val="tx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Lucida Sans Unicode" panose="020B0602030504020204"/>
                <a:cs typeface="Lucida Sans Unicode" panose="020B0602030504020204"/>
              </a:rPr>
              <a:t>обеспечения</a:t>
            </a:r>
            <a:endParaRPr lang="ru-RU" sz="2500">
              <a:ln/>
              <a:solidFill>
                <a:schemeClr val="tx2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3305175"/>
            <a:ext cx="4608195" cy="151130"/>
            <a:chOff x="0" y="3305175"/>
            <a:chExt cx="4608195" cy="151130"/>
          </a:xfrm>
        </p:grpSpPr>
        <p:sp>
          <p:nvSpPr>
            <p:cNvPr id="27" name="object 27"/>
            <p:cNvSpPr/>
            <p:nvPr/>
          </p:nvSpPr>
          <p:spPr>
            <a:xfrm>
              <a:off x="0" y="3305175"/>
              <a:ext cx="4608195" cy="151130"/>
            </a:xfrm>
            <a:custGeom>
              <a:avLst/>
              <a:gdLst/>
              <a:ahLst/>
              <a:cxnLst/>
              <a:rect l="l" t="t" r="r" b="b"/>
              <a:pathLst>
                <a:path w="4608195" h="151129">
                  <a:moveTo>
                    <a:pt x="4607941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4607941" y="150875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207128" y="3320923"/>
              <a:ext cx="364490" cy="120014"/>
            </a:xfrm>
            <a:custGeom>
              <a:avLst/>
              <a:gdLst/>
              <a:ahLst/>
              <a:cxnLst/>
              <a:rect l="l" t="t" r="r" b="b"/>
              <a:pathLst>
                <a:path w="364489" h="120014">
                  <a:moveTo>
                    <a:pt x="364363" y="0"/>
                  </a:moveTo>
                  <a:lnTo>
                    <a:pt x="0" y="0"/>
                  </a:lnTo>
                  <a:lnTo>
                    <a:pt x="0" y="119506"/>
                  </a:lnTo>
                  <a:lnTo>
                    <a:pt x="364363" y="119506"/>
                  </a:lnTo>
                  <a:lnTo>
                    <a:pt x="36436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4288409" y="3318903"/>
            <a:ext cx="201930" cy="113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50" spc="-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1</a:t>
            </a:r>
            <a:r>
              <a:rPr sz="550" spc="-8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-7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/</a:t>
            </a:r>
            <a:r>
              <a:rPr sz="550" spc="-8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-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26</a:t>
            </a:r>
            <a:endParaRPr sz="55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50" y="13017"/>
            <a:ext cx="69405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Общие</a:t>
            </a:r>
            <a:r>
              <a:rPr sz="650" spc="-3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понятия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61642" y="145981"/>
            <a:ext cx="464184" cy="32384"/>
            <a:chOff x="1961642" y="145981"/>
            <a:chExt cx="464184" cy="32384"/>
          </a:xfrm>
        </p:grpSpPr>
        <p:sp>
          <p:nvSpPr>
            <p:cNvPr id="4" name="object 4"/>
            <p:cNvSpPr/>
            <p:nvPr/>
          </p:nvSpPr>
          <p:spPr>
            <a:xfrm>
              <a:off x="19641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002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0361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07213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1082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1441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1800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2161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520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28815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3241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3600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39610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938908" y="13017"/>
            <a:ext cx="87947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Виды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990730" y="145991"/>
            <a:ext cx="104139" cy="32384"/>
            <a:chOff x="3990730" y="145991"/>
            <a:chExt cx="104139" cy="32384"/>
          </a:xfrm>
        </p:grpSpPr>
        <p:sp>
          <p:nvSpPr>
            <p:cNvPr id="19" name="object 19"/>
            <p:cNvSpPr/>
            <p:nvPr/>
          </p:nvSpPr>
          <p:spPr>
            <a:xfrm>
              <a:off x="399326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02932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06526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3967988" y="13017"/>
            <a:ext cx="54546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Заключение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847" y="269964"/>
            <a:ext cx="140652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1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Документация</a:t>
            </a:r>
            <a:r>
              <a:rPr sz="1050" spc="-6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н</a:t>
            </a:r>
            <a:r>
              <a:rPr sz="1050" spc="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а</a:t>
            </a:r>
            <a:r>
              <a:rPr sz="1050" spc="-6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ПО</a:t>
            </a:r>
            <a:endParaRPr sz="10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73963" y="1198118"/>
            <a:ext cx="73025" cy="0"/>
          </a:xfrm>
          <a:custGeom>
            <a:avLst/>
            <a:gdLst/>
            <a:ahLst/>
            <a:cxnLst/>
            <a:rect l="l" t="t" r="r" b="b"/>
            <a:pathLst>
              <a:path w="73025">
                <a:moveTo>
                  <a:pt x="0" y="0"/>
                </a:moveTo>
                <a:lnTo>
                  <a:pt x="7289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37413" y="901395"/>
            <a:ext cx="3964940" cy="17456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sz="950" spc="-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Определение</a:t>
            </a:r>
            <a:endParaRPr sz="950">
              <a:latin typeface="Lucida Sans Unicode" panose="020B0602030504020204"/>
              <a:cs typeface="Lucida Sans Unicode" panose="020B0602030504020204"/>
            </a:endParaRPr>
          </a:p>
          <a:p>
            <a:pPr marL="50800" marR="17780">
              <a:lnSpc>
                <a:spcPct val="142000"/>
              </a:lnSpc>
              <a:spcBef>
                <a:spcPts val="190"/>
              </a:spcBef>
            </a:pPr>
            <a:r>
              <a:rPr sz="750" b="1" spc="45" dirty="0">
                <a:latin typeface="Arial" panose="020B0604020202020204"/>
                <a:cs typeface="Arial" panose="020B0604020202020204"/>
              </a:rPr>
              <a:t>Документация  </a:t>
            </a:r>
            <a:r>
              <a:rPr sz="750" b="1" spc="295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печатный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5" dirty="0">
                <a:latin typeface="Lucida Sans Unicode" panose="020B0602030504020204"/>
                <a:cs typeface="Lucida Sans Unicode" panose="020B0602030504020204"/>
              </a:rPr>
              <a:t>текст,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сопровождающий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программное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обеспечение </a:t>
            </a:r>
            <a:r>
              <a:rPr sz="750" spc="-2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для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5" dirty="0">
                <a:latin typeface="Lucida Sans Unicode" panose="020B0602030504020204"/>
                <a:cs typeface="Lucida Sans Unicode" panose="020B0602030504020204"/>
              </a:rPr>
              <a:t>объяснения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принципов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его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функционирования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или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использования.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700">
              <a:latin typeface="Lucida Sans Unicode" panose="020B0602030504020204"/>
              <a:cs typeface="Lucida Sans Unicode" panose="020B0602030504020204"/>
            </a:endParaRPr>
          </a:p>
          <a:p>
            <a:pPr marL="50800">
              <a:lnSpc>
                <a:spcPct val="100000"/>
              </a:lnSpc>
            </a:pPr>
            <a:r>
              <a:rPr sz="750" b="1" spc="45" dirty="0">
                <a:latin typeface="Arial" panose="020B0604020202020204"/>
                <a:cs typeface="Arial" panose="020B0604020202020204"/>
              </a:rPr>
              <a:t>Цели</a:t>
            </a:r>
            <a:r>
              <a:rPr sz="75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40" dirty="0">
                <a:latin typeface="Arial" panose="020B0604020202020204"/>
                <a:cs typeface="Arial" panose="020B0604020202020204"/>
              </a:rPr>
              <a:t>документирования: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43510">
              <a:lnSpc>
                <a:spcPct val="100000"/>
              </a:lnSpc>
              <a:spcBef>
                <a:spcPts val="675"/>
              </a:spcBef>
            </a:pPr>
            <a:r>
              <a:rPr sz="750" spc="179" baseline="17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34" baseline="17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посредничество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между</a:t>
            </a:r>
            <a:r>
              <a:rPr sz="750" spc="-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разработчиками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ПО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43510">
              <a:lnSpc>
                <a:spcPct val="100000"/>
              </a:lnSpc>
              <a:spcBef>
                <a:spcPts val="67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50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упрощение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сопровождения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и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эволюции</a:t>
            </a:r>
            <a:r>
              <a:rPr lang="ru-RU" sz="750" dirty="0">
                <a:latin typeface="Lucida Sans Unicode" panose="020B0602030504020204"/>
                <a:cs typeface="Lucida Sans Unicode" panose="020B0602030504020204"/>
              </a:rPr>
              <a:t> проекта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43510">
              <a:lnSpc>
                <a:spcPct val="100000"/>
              </a:lnSpc>
              <a:spcBef>
                <a:spcPts val="680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80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информация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для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планирования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и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оценки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затрат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45" dirty="0">
                <a:latin typeface="Lucida Sans Unicode" panose="020B0602030504020204"/>
                <a:cs typeface="Lucida Sans Unicode" panose="020B0602030504020204"/>
              </a:rPr>
              <a:t>в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процессе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разработки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43510">
              <a:lnSpc>
                <a:spcPct val="100000"/>
              </a:lnSpc>
              <a:spcBef>
                <a:spcPts val="67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80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инструкции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по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использованию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и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управлению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программной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системой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43510">
              <a:lnSpc>
                <a:spcPct val="100000"/>
              </a:lnSpc>
              <a:spcBef>
                <a:spcPts val="675"/>
              </a:spcBef>
            </a:pPr>
            <a:endParaRPr sz="7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3305175"/>
            <a:ext cx="4608195" cy="151130"/>
            <a:chOff x="0" y="3305175"/>
            <a:chExt cx="4608195" cy="151130"/>
          </a:xfrm>
        </p:grpSpPr>
        <p:sp>
          <p:nvSpPr>
            <p:cNvPr id="27" name="object 27"/>
            <p:cNvSpPr/>
            <p:nvPr/>
          </p:nvSpPr>
          <p:spPr>
            <a:xfrm>
              <a:off x="0" y="3305175"/>
              <a:ext cx="4608195" cy="151130"/>
            </a:xfrm>
            <a:custGeom>
              <a:avLst/>
              <a:gdLst/>
              <a:ahLst/>
              <a:cxnLst/>
              <a:rect l="l" t="t" r="r" b="b"/>
              <a:pathLst>
                <a:path w="4608195" h="151129">
                  <a:moveTo>
                    <a:pt x="4607941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4607941" y="150875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465199" y="3382390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4">
                  <a:moveTo>
                    <a:pt x="0" y="0"/>
                  </a:moveTo>
                  <a:lnTo>
                    <a:pt x="54736" y="0"/>
                  </a:lnTo>
                </a:path>
              </a:pathLst>
            </a:custGeom>
            <a:ln w="50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207128" y="3320923"/>
              <a:ext cx="364490" cy="120014"/>
            </a:xfrm>
            <a:custGeom>
              <a:avLst/>
              <a:gdLst/>
              <a:ahLst/>
              <a:cxnLst/>
              <a:rect l="l" t="t" r="r" b="b"/>
              <a:pathLst>
                <a:path w="364489" h="120014">
                  <a:moveTo>
                    <a:pt x="364363" y="0"/>
                  </a:moveTo>
                  <a:lnTo>
                    <a:pt x="0" y="0"/>
                  </a:lnTo>
                  <a:lnTo>
                    <a:pt x="0" y="119506"/>
                  </a:lnTo>
                  <a:lnTo>
                    <a:pt x="364363" y="119506"/>
                  </a:lnTo>
                  <a:lnTo>
                    <a:pt x="36436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xfrm>
            <a:off x="23749" y="3313885"/>
            <a:ext cx="2357120" cy="1047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/>
              <a:t>Программная</a:t>
            </a:r>
            <a:r>
              <a:rPr spc="-30" dirty="0"/>
              <a:t> </a:t>
            </a:r>
            <a:r>
              <a:rPr spc="15" dirty="0"/>
              <a:t>инженерия.</a:t>
            </a:r>
            <a:r>
              <a:rPr lang="en-US" spc="15" dirty="0"/>
              <a:t> </a:t>
            </a:r>
            <a:r>
              <a:rPr spc="10" dirty="0"/>
              <a:t>Документирование</a:t>
            </a:r>
            <a:r>
              <a:rPr spc="-25" dirty="0"/>
              <a:t> </a:t>
            </a:r>
            <a:r>
              <a:rPr spc="15" dirty="0"/>
              <a:t>ПО</a:t>
            </a:r>
            <a:endParaRPr spc="15" dirty="0"/>
          </a:p>
        </p:txBody>
      </p:sp>
      <p:sp>
        <p:nvSpPr>
          <p:cNvPr id="31" name="object 31"/>
          <p:cNvSpPr txBox="1"/>
          <p:nvPr/>
        </p:nvSpPr>
        <p:spPr>
          <a:xfrm>
            <a:off x="4263009" y="3313885"/>
            <a:ext cx="265430" cy="12509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z="550" spc="-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</a:fld>
            <a:r>
              <a:rPr sz="550" spc="-8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-7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/</a:t>
            </a:r>
            <a:r>
              <a:rPr sz="550" spc="-8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-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26</a:t>
            </a:r>
            <a:endParaRPr sz="55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50" y="13017"/>
            <a:ext cx="69405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Общие</a:t>
            </a:r>
            <a:r>
              <a:rPr sz="650" spc="-3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понятия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61642" y="145981"/>
            <a:ext cx="464184" cy="32384"/>
            <a:chOff x="1961642" y="145981"/>
            <a:chExt cx="464184" cy="32384"/>
          </a:xfrm>
        </p:grpSpPr>
        <p:sp>
          <p:nvSpPr>
            <p:cNvPr id="4" name="object 4"/>
            <p:cNvSpPr/>
            <p:nvPr/>
          </p:nvSpPr>
          <p:spPr>
            <a:xfrm>
              <a:off x="19641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002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0361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07213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1082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1441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1800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2161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520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28815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3241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3600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39610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938908" y="13017"/>
            <a:ext cx="87947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Виды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990730" y="145991"/>
            <a:ext cx="104139" cy="32384"/>
            <a:chOff x="3990730" y="145991"/>
            <a:chExt cx="104139" cy="32384"/>
          </a:xfrm>
        </p:grpSpPr>
        <p:sp>
          <p:nvSpPr>
            <p:cNvPr id="19" name="object 19"/>
            <p:cNvSpPr/>
            <p:nvPr/>
          </p:nvSpPr>
          <p:spPr>
            <a:xfrm>
              <a:off x="399326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02932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06526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3967988" y="13017"/>
            <a:ext cx="54546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Заключение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847" y="269964"/>
            <a:ext cx="140652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1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Документация</a:t>
            </a:r>
            <a:r>
              <a:rPr sz="1050" spc="-6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н</a:t>
            </a:r>
            <a:r>
              <a:rPr sz="1050" spc="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а</a:t>
            </a:r>
            <a:r>
              <a:rPr sz="1050" spc="-6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ПО</a:t>
            </a:r>
            <a:endParaRPr sz="10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49502" y="612655"/>
            <a:ext cx="723265" cy="276860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109220" marR="101600" indent="7620">
              <a:lnSpc>
                <a:spcPct val="102000"/>
              </a:lnSpc>
              <a:spcBef>
                <a:spcPts val="180"/>
              </a:spcBef>
            </a:pPr>
            <a:r>
              <a:rPr sz="650" spc="25" dirty="0">
                <a:latin typeface="Lucida Sans Unicode" panose="020B0602030504020204"/>
                <a:cs typeface="Lucida Sans Unicode" panose="020B0602030504020204"/>
              </a:rPr>
              <a:t>Ин</a:t>
            </a:r>
            <a:r>
              <a:rPr sz="650" spc="15" dirty="0">
                <a:latin typeface="Lucida Sans Unicode" panose="020B0602030504020204"/>
                <a:cs typeface="Lucida Sans Unicode" panose="020B0602030504020204"/>
              </a:rPr>
              <a:t>ж</a:t>
            </a:r>
            <a:r>
              <a:rPr sz="650" spc="15" dirty="0">
                <a:latin typeface="Lucida Sans Unicode" panose="020B0602030504020204"/>
                <a:cs typeface="Lucida Sans Unicode" panose="020B0602030504020204"/>
              </a:rPr>
              <a:t>енерия  </a:t>
            </a:r>
            <a:r>
              <a:rPr sz="650" spc="15" dirty="0">
                <a:latin typeface="Lucida Sans Unicode" panose="020B0602030504020204"/>
                <a:cs typeface="Lucida Sans Unicode" panose="020B0602030504020204"/>
              </a:rPr>
              <a:t>требований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62061" y="624522"/>
            <a:ext cx="1129030" cy="2292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20"/>
              </a:spcBef>
              <a:tabLst>
                <a:tab pos="397510" algn="l"/>
              </a:tabLst>
            </a:pPr>
            <a:r>
              <a:rPr sz="650" u="dash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50" u="dash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650" dirty="0">
                <a:latin typeface="Times New Roman" panose="02020603050405020304"/>
                <a:cs typeface="Times New Roman" panose="02020603050405020304"/>
              </a:rPr>
              <a:t>   </a:t>
            </a:r>
            <a:r>
              <a:rPr sz="6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50" spc="5" dirty="0">
                <a:latin typeface="Lucida Sans Unicode" panose="020B0602030504020204"/>
                <a:cs typeface="Lucida Sans Unicode" panose="020B0602030504020204"/>
              </a:rPr>
              <a:t>Спецификация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  <a:p>
            <a:pPr marR="67310" algn="r">
              <a:lnSpc>
                <a:spcPct val="100000"/>
              </a:lnSpc>
              <a:spcBef>
                <a:spcPts val="15"/>
              </a:spcBef>
            </a:pPr>
            <a:r>
              <a:rPr sz="650" spc="15" dirty="0">
                <a:latin typeface="Lucida Sans Unicode" panose="020B0602030504020204"/>
                <a:cs typeface="Lucida Sans Unicode" panose="020B0602030504020204"/>
              </a:rPr>
              <a:t>требований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26914" y="1064107"/>
            <a:ext cx="768350" cy="276860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595"/>
              </a:spcBef>
            </a:pPr>
            <a:r>
              <a:rPr sz="650" spc="10" dirty="0">
                <a:latin typeface="Lucida Sans Unicode" panose="020B0602030504020204"/>
                <a:cs typeface="Lucida Sans Unicode" panose="020B0602030504020204"/>
              </a:rPr>
              <a:t>Проектирование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59250" y="1074229"/>
            <a:ext cx="141287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975" u="dash" baseline="-3400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75" u="dash" baseline="-3400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    </a:t>
            </a:r>
            <a:r>
              <a:rPr sz="975" u="dash" spc="-82" baseline="-3400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75" baseline="-3400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975" spc="-44" baseline="-34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50" spc="-15" dirty="0">
                <a:latin typeface="Lucida Sans Unicode" panose="020B0602030504020204"/>
                <a:cs typeface="Lucida Sans Unicode" panose="020B0602030504020204"/>
              </a:rPr>
              <a:t>А</a:t>
            </a:r>
            <a:r>
              <a:rPr sz="650" spc="-20" dirty="0">
                <a:latin typeface="Lucida Sans Unicode" panose="020B0602030504020204"/>
                <a:cs typeface="Lucida Sans Unicode" panose="020B0602030504020204"/>
              </a:rPr>
              <a:t>р</a:t>
            </a:r>
            <a:r>
              <a:rPr sz="650" spc="-10" dirty="0">
                <a:latin typeface="Lucida Sans Unicode" panose="020B0602030504020204"/>
                <a:cs typeface="Lucida Sans Unicode" panose="020B0602030504020204"/>
              </a:rPr>
              <a:t>хи</a:t>
            </a:r>
            <a:r>
              <a:rPr sz="650" spc="-15" dirty="0">
                <a:latin typeface="Lucida Sans Unicode" panose="020B0602030504020204"/>
                <a:cs typeface="Lucida Sans Unicode" panose="020B0602030504020204"/>
              </a:rPr>
              <a:t>т</a:t>
            </a:r>
            <a:r>
              <a:rPr sz="650" spc="10" dirty="0">
                <a:latin typeface="Lucida Sans Unicode" panose="020B0602030504020204"/>
                <a:cs typeface="Lucida Sans Unicode" panose="020B0602030504020204"/>
              </a:rPr>
              <a:t>ектурная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-95" dirty="0">
                <a:latin typeface="Lucida Sans Unicode" panose="020B0602030504020204"/>
                <a:cs typeface="Lucida Sans Unicode" panose="020B0602030504020204"/>
              </a:rPr>
              <a:t>/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10" dirty="0">
                <a:latin typeface="Lucida Sans Unicode" panose="020B0602030504020204"/>
                <a:cs typeface="Lucida Sans Unicode" panose="020B0602030504020204"/>
              </a:rPr>
              <a:t>проектная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51607" y="1175448"/>
            <a:ext cx="62420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5" dirty="0">
                <a:latin typeface="Lucida Sans Unicode" panose="020B0602030504020204"/>
                <a:cs typeface="Lucida Sans Unicode" panose="020B0602030504020204"/>
              </a:rPr>
              <a:t>документация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38227" y="1515559"/>
            <a:ext cx="745490" cy="276860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615"/>
              </a:spcBef>
            </a:pPr>
            <a:r>
              <a:rPr sz="650" spc="15" dirty="0">
                <a:latin typeface="Lucida Sans Unicode" panose="020B0602030504020204"/>
                <a:cs typeface="Lucida Sans Unicode" panose="020B0602030504020204"/>
              </a:rPr>
              <a:t>Имплементация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73337" y="1578419"/>
            <a:ext cx="41211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98780" algn="l"/>
              </a:tabLst>
            </a:pPr>
            <a:r>
              <a:rPr sz="650" u="dash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50" u="dash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endParaRPr sz="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51607" y="1525460"/>
            <a:ext cx="624205" cy="22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5560">
              <a:lnSpc>
                <a:spcPct val="102000"/>
              </a:lnSpc>
              <a:spcBef>
                <a:spcPts val="100"/>
              </a:spcBef>
            </a:pPr>
            <a:r>
              <a:rPr sz="650" spc="5" dirty="0">
                <a:latin typeface="Lucida Sans Unicode" panose="020B0602030504020204"/>
                <a:cs typeface="Lucida Sans Unicode" panose="020B0602030504020204"/>
              </a:rPr>
              <a:t>Техническая </a:t>
            </a:r>
            <a:r>
              <a:rPr sz="650" spc="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latin typeface="Lucida Sans Unicode" panose="020B0602030504020204"/>
                <a:cs typeface="Lucida Sans Unicode" panose="020B0602030504020204"/>
              </a:rPr>
              <a:t>документация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749502" y="1967011"/>
            <a:ext cx="723265" cy="276860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595"/>
              </a:spcBef>
            </a:pPr>
            <a:r>
              <a:rPr sz="650" spc="5" dirty="0">
                <a:latin typeface="Lucida Sans Unicode" panose="020B0602030504020204"/>
                <a:cs typeface="Lucida Sans Unicode" panose="020B0602030504020204"/>
              </a:rPr>
              <a:t>Тестирование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742773" y="2418463"/>
            <a:ext cx="736600" cy="276860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600"/>
              </a:spcBef>
            </a:pPr>
            <a:r>
              <a:rPr sz="650" spc="5" dirty="0">
                <a:latin typeface="Lucida Sans Unicode" panose="020B0602030504020204"/>
                <a:cs typeface="Lucida Sans Unicode" panose="020B0602030504020204"/>
              </a:rPr>
              <a:t>Сопровождение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91888" y="891523"/>
            <a:ext cx="38100" cy="170180"/>
            <a:chOff x="2091888" y="891523"/>
            <a:chExt cx="38100" cy="170180"/>
          </a:xfrm>
        </p:grpSpPr>
        <p:sp>
          <p:nvSpPr>
            <p:cNvPr id="35" name="object 35"/>
            <p:cNvSpPr/>
            <p:nvPr/>
          </p:nvSpPr>
          <p:spPr>
            <a:xfrm>
              <a:off x="2110867" y="891523"/>
              <a:ext cx="0" cy="125095"/>
            </a:xfrm>
            <a:custGeom>
              <a:avLst/>
              <a:gdLst/>
              <a:ahLst/>
              <a:cxnLst/>
              <a:rect l="l" t="t" r="r" b="b"/>
              <a:pathLst>
                <a:path h="125094">
                  <a:moveTo>
                    <a:pt x="0" y="0"/>
                  </a:moveTo>
                  <a:lnTo>
                    <a:pt x="0" y="124504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091888" y="1010966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37957" y="0"/>
                  </a:moveTo>
                  <a:lnTo>
                    <a:pt x="0" y="0"/>
                  </a:lnTo>
                  <a:lnTo>
                    <a:pt x="6345" y="12415"/>
                  </a:lnTo>
                  <a:lnTo>
                    <a:pt x="11861" y="25937"/>
                  </a:lnTo>
                  <a:lnTo>
                    <a:pt x="16191" y="39143"/>
                  </a:lnTo>
                  <a:lnTo>
                    <a:pt x="18978" y="50609"/>
                  </a:lnTo>
                  <a:lnTo>
                    <a:pt x="21766" y="39143"/>
                  </a:lnTo>
                  <a:lnTo>
                    <a:pt x="26095" y="25937"/>
                  </a:lnTo>
                  <a:lnTo>
                    <a:pt x="31611" y="12415"/>
                  </a:lnTo>
                  <a:lnTo>
                    <a:pt x="379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/>
          <p:nvPr/>
        </p:nvSpPr>
        <p:spPr>
          <a:xfrm>
            <a:off x="2849285" y="731845"/>
            <a:ext cx="50800" cy="38100"/>
          </a:xfrm>
          <a:custGeom>
            <a:avLst/>
            <a:gdLst/>
            <a:ahLst/>
            <a:cxnLst/>
            <a:rect l="l" t="t" r="r" b="b"/>
            <a:pathLst>
              <a:path w="50800" h="38100">
                <a:moveTo>
                  <a:pt x="0" y="0"/>
                </a:moveTo>
                <a:lnTo>
                  <a:pt x="0" y="37957"/>
                </a:lnTo>
                <a:lnTo>
                  <a:pt x="12415" y="31611"/>
                </a:lnTo>
                <a:lnTo>
                  <a:pt x="25937" y="26095"/>
                </a:lnTo>
                <a:lnTo>
                  <a:pt x="39143" y="21766"/>
                </a:lnTo>
                <a:lnTo>
                  <a:pt x="50609" y="18978"/>
                </a:lnTo>
                <a:lnTo>
                  <a:pt x="39143" y="16191"/>
                </a:lnTo>
                <a:lnTo>
                  <a:pt x="25937" y="11861"/>
                </a:lnTo>
                <a:lnTo>
                  <a:pt x="12415" y="634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8" name="object 38"/>
          <p:cNvGrpSpPr/>
          <p:nvPr/>
        </p:nvGrpSpPr>
        <p:grpSpPr>
          <a:xfrm>
            <a:off x="2091888" y="1342974"/>
            <a:ext cx="38100" cy="170180"/>
            <a:chOff x="2091888" y="1342974"/>
            <a:chExt cx="38100" cy="170180"/>
          </a:xfrm>
        </p:grpSpPr>
        <p:sp>
          <p:nvSpPr>
            <p:cNvPr id="39" name="object 39"/>
            <p:cNvSpPr/>
            <p:nvPr/>
          </p:nvSpPr>
          <p:spPr>
            <a:xfrm>
              <a:off x="2110867" y="1342974"/>
              <a:ext cx="0" cy="125095"/>
            </a:xfrm>
            <a:custGeom>
              <a:avLst/>
              <a:gdLst/>
              <a:ahLst/>
              <a:cxnLst/>
              <a:rect l="l" t="t" r="r" b="b"/>
              <a:pathLst>
                <a:path h="125094">
                  <a:moveTo>
                    <a:pt x="0" y="0"/>
                  </a:moveTo>
                  <a:lnTo>
                    <a:pt x="0" y="124504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091888" y="1462418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37957" y="0"/>
                  </a:moveTo>
                  <a:lnTo>
                    <a:pt x="0" y="0"/>
                  </a:lnTo>
                  <a:lnTo>
                    <a:pt x="6345" y="12415"/>
                  </a:lnTo>
                  <a:lnTo>
                    <a:pt x="11861" y="25937"/>
                  </a:lnTo>
                  <a:lnTo>
                    <a:pt x="16191" y="39143"/>
                  </a:lnTo>
                  <a:lnTo>
                    <a:pt x="18978" y="50609"/>
                  </a:lnTo>
                  <a:lnTo>
                    <a:pt x="21766" y="39143"/>
                  </a:lnTo>
                  <a:lnTo>
                    <a:pt x="26095" y="25937"/>
                  </a:lnTo>
                  <a:lnTo>
                    <a:pt x="31611" y="12415"/>
                  </a:lnTo>
                  <a:lnTo>
                    <a:pt x="379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/>
          <p:nvPr/>
        </p:nvSpPr>
        <p:spPr>
          <a:xfrm>
            <a:off x="2612593" y="1183297"/>
            <a:ext cx="50800" cy="38100"/>
          </a:xfrm>
          <a:custGeom>
            <a:avLst/>
            <a:gdLst/>
            <a:ahLst/>
            <a:cxnLst/>
            <a:rect l="l" t="t" r="r" b="b"/>
            <a:pathLst>
              <a:path w="50800" h="38100">
                <a:moveTo>
                  <a:pt x="0" y="0"/>
                </a:moveTo>
                <a:lnTo>
                  <a:pt x="0" y="37957"/>
                </a:lnTo>
                <a:lnTo>
                  <a:pt x="12415" y="31611"/>
                </a:lnTo>
                <a:lnTo>
                  <a:pt x="25937" y="26095"/>
                </a:lnTo>
                <a:lnTo>
                  <a:pt x="39143" y="21766"/>
                </a:lnTo>
                <a:lnTo>
                  <a:pt x="50609" y="18978"/>
                </a:lnTo>
                <a:lnTo>
                  <a:pt x="39143" y="16191"/>
                </a:lnTo>
                <a:lnTo>
                  <a:pt x="25937" y="11861"/>
                </a:lnTo>
                <a:lnTo>
                  <a:pt x="12415" y="634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2" name="object 42"/>
          <p:cNvGrpSpPr/>
          <p:nvPr/>
        </p:nvGrpSpPr>
        <p:grpSpPr>
          <a:xfrm>
            <a:off x="2091888" y="1794426"/>
            <a:ext cx="38100" cy="170180"/>
            <a:chOff x="2091888" y="1794426"/>
            <a:chExt cx="38100" cy="170180"/>
          </a:xfrm>
        </p:grpSpPr>
        <p:sp>
          <p:nvSpPr>
            <p:cNvPr id="43" name="object 43"/>
            <p:cNvSpPr/>
            <p:nvPr/>
          </p:nvSpPr>
          <p:spPr>
            <a:xfrm>
              <a:off x="2110867" y="1794426"/>
              <a:ext cx="0" cy="125095"/>
            </a:xfrm>
            <a:custGeom>
              <a:avLst/>
              <a:gdLst/>
              <a:ahLst/>
              <a:cxnLst/>
              <a:rect l="l" t="t" r="r" b="b"/>
              <a:pathLst>
                <a:path h="125094">
                  <a:moveTo>
                    <a:pt x="0" y="0"/>
                  </a:moveTo>
                  <a:lnTo>
                    <a:pt x="0" y="124504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091888" y="1913870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37957" y="0"/>
                  </a:moveTo>
                  <a:lnTo>
                    <a:pt x="0" y="0"/>
                  </a:lnTo>
                  <a:lnTo>
                    <a:pt x="6345" y="12415"/>
                  </a:lnTo>
                  <a:lnTo>
                    <a:pt x="11861" y="25937"/>
                  </a:lnTo>
                  <a:lnTo>
                    <a:pt x="16191" y="39143"/>
                  </a:lnTo>
                  <a:lnTo>
                    <a:pt x="18978" y="50609"/>
                  </a:lnTo>
                  <a:lnTo>
                    <a:pt x="21766" y="39143"/>
                  </a:lnTo>
                  <a:lnTo>
                    <a:pt x="26095" y="25937"/>
                  </a:lnTo>
                  <a:lnTo>
                    <a:pt x="31611" y="12415"/>
                  </a:lnTo>
                  <a:lnTo>
                    <a:pt x="379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/>
          <p:nvPr/>
        </p:nvSpPr>
        <p:spPr>
          <a:xfrm>
            <a:off x="2849285" y="1634749"/>
            <a:ext cx="50800" cy="38100"/>
          </a:xfrm>
          <a:custGeom>
            <a:avLst/>
            <a:gdLst/>
            <a:ahLst/>
            <a:cxnLst/>
            <a:rect l="l" t="t" r="r" b="b"/>
            <a:pathLst>
              <a:path w="50800" h="38100">
                <a:moveTo>
                  <a:pt x="0" y="0"/>
                </a:moveTo>
                <a:lnTo>
                  <a:pt x="0" y="37957"/>
                </a:lnTo>
                <a:lnTo>
                  <a:pt x="12415" y="31611"/>
                </a:lnTo>
                <a:lnTo>
                  <a:pt x="25937" y="26095"/>
                </a:lnTo>
                <a:lnTo>
                  <a:pt x="39143" y="21766"/>
                </a:lnTo>
                <a:lnTo>
                  <a:pt x="50609" y="18978"/>
                </a:lnTo>
                <a:lnTo>
                  <a:pt x="39143" y="16191"/>
                </a:lnTo>
                <a:lnTo>
                  <a:pt x="25937" y="11861"/>
                </a:lnTo>
                <a:lnTo>
                  <a:pt x="12415" y="634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6" name="object 46"/>
          <p:cNvGrpSpPr/>
          <p:nvPr/>
        </p:nvGrpSpPr>
        <p:grpSpPr>
          <a:xfrm>
            <a:off x="2091888" y="2245878"/>
            <a:ext cx="38100" cy="170180"/>
            <a:chOff x="2091888" y="2245878"/>
            <a:chExt cx="38100" cy="170180"/>
          </a:xfrm>
        </p:grpSpPr>
        <p:sp>
          <p:nvSpPr>
            <p:cNvPr id="47" name="object 47"/>
            <p:cNvSpPr/>
            <p:nvPr/>
          </p:nvSpPr>
          <p:spPr>
            <a:xfrm>
              <a:off x="2110867" y="2245878"/>
              <a:ext cx="0" cy="125095"/>
            </a:xfrm>
            <a:custGeom>
              <a:avLst/>
              <a:gdLst/>
              <a:ahLst/>
              <a:cxnLst/>
              <a:rect l="l" t="t" r="r" b="b"/>
              <a:pathLst>
                <a:path h="125094">
                  <a:moveTo>
                    <a:pt x="0" y="0"/>
                  </a:moveTo>
                  <a:lnTo>
                    <a:pt x="0" y="124504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091888" y="236532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37957" y="0"/>
                  </a:moveTo>
                  <a:lnTo>
                    <a:pt x="0" y="0"/>
                  </a:lnTo>
                  <a:lnTo>
                    <a:pt x="6345" y="12415"/>
                  </a:lnTo>
                  <a:lnTo>
                    <a:pt x="11861" y="25937"/>
                  </a:lnTo>
                  <a:lnTo>
                    <a:pt x="16191" y="39143"/>
                  </a:lnTo>
                  <a:lnTo>
                    <a:pt x="18978" y="50609"/>
                  </a:lnTo>
                  <a:lnTo>
                    <a:pt x="21766" y="39143"/>
                  </a:lnTo>
                  <a:lnTo>
                    <a:pt x="26095" y="25937"/>
                  </a:lnTo>
                  <a:lnTo>
                    <a:pt x="31611" y="12415"/>
                  </a:lnTo>
                  <a:lnTo>
                    <a:pt x="379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/>
          <p:nvPr/>
        </p:nvSpPr>
        <p:spPr>
          <a:xfrm>
            <a:off x="1649698" y="750824"/>
            <a:ext cx="34290" cy="1354455"/>
          </a:xfrm>
          <a:custGeom>
            <a:avLst/>
            <a:gdLst/>
            <a:ahLst/>
            <a:cxnLst/>
            <a:rect l="l" t="t" r="r" b="b"/>
            <a:pathLst>
              <a:path w="34289" h="1354455">
                <a:moveTo>
                  <a:pt x="34010" y="1354355"/>
                </a:moveTo>
                <a:lnTo>
                  <a:pt x="27048" y="1349280"/>
                </a:lnTo>
                <a:lnTo>
                  <a:pt x="21681" y="1341814"/>
                </a:lnTo>
                <a:lnTo>
                  <a:pt x="18227" y="1332116"/>
                </a:lnTo>
                <a:lnTo>
                  <a:pt x="17005" y="1320345"/>
                </a:lnTo>
                <a:lnTo>
                  <a:pt x="17005" y="711187"/>
                </a:lnTo>
                <a:lnTo>
                  <a:pt x="15782" y="699417"/>
                </a:lnTo>
                <a:lnTo>
                  <a:pt x="12328" y="689718"/>
                </a:lnTo>
                <a:lnTo>
                  <a:pt x="6961" y="682252"/>
                </a:lnTo>
                <a:lnTo>
                  <a:pt x="0" y="677177"/>
                </a:lnTo>
                <a:lnTo>
                  <a:pt x="6961" y="672103"/>
                </a:lnTo>
                <a:lnTo>
                  <a:pt x="12328" y="664636"/>
                </a:lnTo>
                <a:lnTo>
                  <a:pt x="15782" y="654938"/>
                </a:lnTo>
                <a:lnTo>
                  <a:pt x="17005" y="643167"/>
                </a:lnTo>
                <a:lnTo>
                  <a:pt x="17005" y="34010"/>
                </a:lnTo>
                <a:lnTo>
                  <a:pt x="18227" y="22239"/>
                </a:lnTo>
                <a:lnTo>
                  <a:pt x="21681" y="12541"/>
                </a:lnTo>
                <a:lnTo>
                  <a:pt x="27048" y="5074"/>
                </a:lnTo>
                <a:lnTo>
                  <a:pt x="34010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835660" y="1198562"/>
            <a:ext cx="797560" cy="420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algn="ctr">
              <a:lnSpc>
                <a:spcPct val="102000"/>
              </a:lnSpc>
              <a:spcBef>
                <a:spcPts val="100"/>
              </a:spcBef>
            </a:pPr>
            <a:r>
              <a:rPr sz="650" spc="15" dirty="0">
                <a:latin typeface="Lucida Sans Unicode" panose="020B0602030504020204"/>
                <a:cs typeface="Lucida Sans Unicode" panose="020B0602030504020204"/>
              </a:rPr>
              <a:t>Пользова</a:t>
            </a:r>
            <a:r>
              <a:rPr sz="650" spc="10" dirty="0">
                <a:latin typeface="Lucida Sans Unicode" panose="020B0602030504020204"/>
                <a:cs typeface="Lucida Sans Unicode" panose="020B0602030504020204"/>
              </a:rPr>
              <a:t>т</a:t>
            </a:r>
            <a:r>
              <a:rPr sz="650" spc="15" dirty="0">
                <a:latin typeface="Lucida Sans Unicode" panose="020B0602030504020204"/>
                <a:cs typeface="Lucida Sans Unicode" panose="020B0602030504020204"/>
              </a:rPr>
              <a:t>ельская  </a:t>
            </a:r>
            <a:r>
              <a:rPr sz="650" spc="5" dirty="0">
                <a:latin typeface="Lucida Sans Unicode" panose="020B0602030504020204"/>
                <a:cs typeface="Lucida Sans Unicode" panose="020B0602030504020204"/>
              </a:rPr>
              <a:t>документация</a:t>
            </a:r>
            <a:r>
              <a:rPr lang="ru-RU" sz="650" spc="5" dirty="0">
                <a:latin typeface="Lucida Sans Unicode" panose="020B0602030504020204"/>
                <a:cs typeface="Lucida Sans Unicode" panose="020B0602030504020204"/>
              </a:rPr>
              <a:t> и</a:t>
            </a:r>
            <a:r>
              <a:rPr sz="650" spc="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10" dirty="0">
                <a:latin typeface="Lucida Sans Unicode" panose="020B0602030504020204"/>
                <a:cs typeface="Lucida Sans Unicode" panose="020B0602030504020204"/>
              </a:rPr>
              <a:t> маркетинговая </a:t>
            </a:r>
            <a:r>
              <a:rPr sz="650" spc="1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latin typeface="Lucida Sans Unicode" panose="020B0602030504020204"/>
                <a:cs typeface="Lucida Sans Unicode" panose="020B0602030504020204"/>
              </a:rPr>
              <a:t>документация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453769" y="2862592"/>
            <a:ext cx="1700530" cy="113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50" spc="1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Документирование</a:t>
            </a:r>
            <a:r>
              <a:rPr sz="550" spc="-2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4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в</a:t>
            </a:r>
            <a:r>
              <a:rPr sz="550" spc="-2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процессе</a:t>
            </a:r>
            <a:r>
              <a:rPr sz="550" spc="-2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разработки</a:t>
            </a:r>
            <a:r>
              <a:rPr sz="550" spc="-2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1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ПО</a:t>
            </a:r>
            <a:endParaRPr sz="5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0" y="3305175"/>
            <a:ext cx="4608195" cy="151130"/>
            <a:chOff x="0" y="3305175"/>
            <a:chExt cx="4608195" cy="151130"/>
          </a:xfrm>
        </p:grpSpPr>
        <p:sp>
          <p:nvSpPr>
            <p:cNvPr id="53" name="object 53"/>
            <p:cNvSpPr/>
            <p:nvPr/>
          </p:nvSpPr>
          <p:spPr>
            <a:xfrm>
              <a:off x="0" y="3305175"/>
              <a:ext cx="4608195" cy="151130"/>
            </a:xfrm>
            <a:custGeom>
              <a:avLst/>
              <a:gdLst/>
              <a:ahLst/>
              <a:cxnLst/>
              <a:rect l="l" t="t" r="r" b="b"/>
              <a:pathLst>
                <a:path w="4608195" h="151129">
                  <a:moveTo>
                    <a:pt x="4607941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4607941" y="150875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1465199" y="3382390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4">
                  <a:moveTo>
                    <a:pt x="0" y="0"/>
                  </a:moveTo>
                  <a:lnTo>
                    <a:pt x="54736" y="0"/>
                  </a:lnTo>
                </a:path>
              </a:pathLst>
            </a:custGeom>
            <a:ln w="50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4207128" y="3320923"/>
              <a:ext cx="364490" cy="120014"/>
            </a:xfrm>
            <a:custGeom>
              <a:avLst/>
              <a:gdLst/>
              <a:ahLst/>
              <a:cxnLst/>
              <a:rect l="l" t="t" r="r" b="b"/>
              <a:pathLst>
                <a:path w="364489" h="120014">
                  <a:moveTo>
                    <a:pt x="364363" y="0"/>
                  </a:moveTo>
                  <a:lnTo>
                    <a:pt x="0" y="0"/>
                  </a:lnTo>
                  <a:lnTo>
                    <a:pt x="0" y="119506"/>
                  </a:lnTo>
                  <a:lnTo>
                    <a:pt x="364363" y="119506"/>
                  </a:lnTo>
                  <a:lnTo>
                    <a:pt x="36436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>
            <a:spLocks noGrp="1"/>
          </p:cNvSpPr>
          <p:nvPr>
            <p:ph type="ftr" sz="quarter" idx="5"/>
          </p:nvPr>
        </p:nvSpPr>
        <p:spPr>
          <a:xfrm>
            <a:off x="23749" y="3313885"/>
            <a:ext cx="2357120" cy="1047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/>
              <a:t>Программная</a:t>
            </a:r>
            <a:r>
              <a:rPr spc="-30" dirty="0"/>
              <a:t> </a:t>
            </a:r>
            <a:r>
              <a:rPr spc="15" dirty="0"/>
              <a:t>инженерия.</a:t>
            </a:r>
            <a:r>
              <a:rPr spc="25" dirty="0"/>
              <a:t> </a:t>
            </a:r>
            <a:r>
              <a:rPr spc="10" dirty="0"/>
              <a:t>Документирование</a:t>
            </a:r>
            <a:r>
              <a:rPr spc="-25" dirty="0"/>
              <a:t> </a:t>
            </a:r>
            <a:r>
              <a:rPr spc="15" dirty="0"/>
              <a:t>ПО</a:t>
            </a:r>
            <a:endParaRPr spc="15" dirty="0"/>
          </a:p>
        </p:txBody>
      </p:sp>
      <p:sp>
        <p:nvSpPr>
          <p:cNvPr id="57" name="object 57"/>
          <p:cNvSpPr txBox="1"/>
          <p:nvPr/>
        </p:nvSpPr>
        <p:spPr>
          <a:xfrm>
            <a:off x="4263009" y="3313885"/>
            <a:ext cx="265430" cy="12509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z="550" spc="-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</a:fld>
            <a:r>
              <a:rPr sz="550" spc="-8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-7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/</a:t>
            </a:r>
            <a:r>
              <a:rPr sz="550" spc="-8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-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26</a:t>
            </a:r>
            <a:endParaRPr sz="55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608195" cy="201295"/>
            <a:chOff x="0" y="0"/>
            <a:chExt cx="4608195" cy="20129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608195" cy="201295"/>
            </a:xfrm>
            <a:custGeom>
              <a:avLst/>
              <a:gdLst/>
              <a:ahLst/>
              <a:cxnLst/>
              <a:rect l="l" t="t" r="r" b="b"/>
              <a:pathLst>
                <a:path w="4608195" h="201295">
                  <a:moveTo>
                    <a:pt x="4607941" y="0"/>
                  </a:moveTo>
                  <a:lnTo>
                    <a:pt x="0" y="0"/>
                  </a:lnTo>
                  <a:lnTo>
                    <a:pt x="0" y="200914"/>
                  </a:lnTo>
                  <a:lnTo>
                    <a:pt x="4607941" y="200914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06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0949" y="0"/>
                  </a:moveTo>
                  <a:lnTo>
                    <a:pt x="6042" y="0"/>
                  </a:lnTo>
                  <a:lnTo>
                    <a:pt x="0" y="6042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6042"/>
                  </a:lnTo>
                  <a:lnTo>
                    <a:pt x="209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206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659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9265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286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6466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0060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365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95250" y="13017"/>
            <a:ext cx="69405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Общие</a:t>
            </a:r>
            <a:r>
              <a:rPr sz="650" spc="-3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понятия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61642" y="145981"/>
            <a:ext cx="464184" cy="32384"/>
            <a:chOff x="1961642" y="145981"/>
            <a:chExt cx="464184" cy="32384"/>
          </a:xfrm>
        </p:grpSpPr>
        <p:sp>
          <p:nvSpPr>
            <p:cNvPr id="14" name="object 14"/>
            <p:cNvSpPr/>
            <p:nvPr/>
          </p:nvSpPr>
          <p:spPr>
            <a:xfrm>
              <a:off x="19641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0002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0361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07213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1082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1441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1800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2161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2520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28815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3241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3600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39610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938908" y="13017"/>
            <a:ext cx="87947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Виды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990730" y="145991"/>
            <a:ext cx="104139" cy="32384"/>
            <a:chOff x="3990730" y="145991"/>
            <a:chExt cx="104139" cy="32384"/>
          </a:xfrm>
        </p:grpSpPr>
        <p:sp>
          <p:nvSpPr>
            <p:cNvPr id="29" name="object 29"/>
            <p:cNvSpPr/>
            <p:nvPr/>
          </p:nvSpPr>
          <p:spPr>
            <a:xfrm>
              <a:off x="399326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02932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06526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3967988" y="13017"/>
            <a:ext cx="54546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Заключение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847" y="269964"/>
            <a:ext cx="135064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114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Т</a:t>
            </a:r>
            <a:r>
              <a:rPr sz="1050" spc="1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ип</a:t>
            </a:r>
            <a:r>
              <a:rPr sz="1050" spc="2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ы</a:t>
            </a:r>
            <a:r>
              <a:rPr sz="1050" spc="-6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2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10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7413" y="820407"/>
            <a:ext cx="3928745" cy="18929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5"/>
              </a:spcBef>
            </a:pP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Документация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b="1" spc="45" dirty="0">
                <a:latin typeface="Arial" panose="020B0604020202020204"/>
                <a:cs typeface="Arial" panose="020B0604020202020204"/>
              </a:rPr>
              <a:t>на</a:t>
            </a:r>
            <a:r>
              <a:rPr sz="75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20" dirty="0">
                <a:latin typeface="Arial" panose="020B0604020202020204"/>
                <a:cs typeface="Arial" panose="020B0604020202020204"/>
              </a:rPr>
              <a:t>процесс</a:t>
            </a:r>
            <a:r>
              <a:rPr sz="75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45" dirty="0">
                <a:latin typeface="Arial" panose="020B0604020202020204"/>
                <a:cs typeface="Arial" panose="020B0604020202020204"/>
              </a:rPr>
              <a:t>разработки</a:t>
            </a:r>
            <a:r>
              <a:rPr sz="75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15" dirty="0">
                <a:latin typeface="Lucida Sans Unicode" panose="020B0602030504020204"/>
                <a:cs typeface="Lucida Sans Unicode" panose="020B0602030504020204"/>
              </a:rPr>
              <a:t>(</a:t>
            </a:r>
            <a:r>
              <a:rPr sz="750" i="1" spc="-10" dirty="0">
                <a:latin typeface="Arial" panose="020B0604020202020204"/>
                <a:cs typeface="Arial" panose="020B0604020202020204"/>
              </a:rPr>
              <a:t>process</a:t>
            </a:r>
            <a:r>
              <a:rPr sz="750" i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750" i="1" spc="5" dirty="0">
                <a:latin typeface="Arial" panose="020B0604020202020204"/>
                <a:cs typeface="Arial" panose="020B0604020202020204"/>
              </a:rPr>
              <a:t>documentation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):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43510">
              <a:lnSpc>
                <a:spcPct val="100000"/>
              </a:lnSpc>
              <a:spcBef>
                <a:spcPts val="67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34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планы</a:t>
            </a:r>
            <a:r>
              <a:rPr sz="750" spc="-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разработки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43510">
              <a:lnSpc>
                <a:spcPct val="100000"/>
              </a:lnSpc>
              <a:spcBef>
                <a:spcPts val="67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382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расписания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43510">
              <a:lnSpc>
                <a:spcPct val="100000"/>
              </a:lnSpc>
              <a:spcBef>
                <a:spcPts val="680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80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документы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оценки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качества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процессов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разработки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43510">
              <a:lnSpc>
                <a:spcPct val="100000"/>
              </a:lnSpc>
              <a:spcBef>
                <a:spcPts val="67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1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организационные</a:t>
            </a:r>
            <a:r>
              <a:rPr sz="750" spc="-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и</a:t>
            </a:r>
            <a:r>
              <a:rPr sz="750" spc="-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проектные</a:t>
            </a:r>
            <a:r>
              <a:rPr sz="750" spc="-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стандарты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700">
              <a:latin typeface="Lucida Sans Unicode" panose="020B0602030504020204"/>
              <a:cs typeface="Lucida Sans Unicode" panose="020B0602030504020204"/>
            </a:endParaRPr>
          </a:p>
          <a:p>
            <a:pPr marL="50800">
              <a:lnSpc>
                <a:spcPct val="100000"/>
              </a:lnSpc>
            </a:pP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Документация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b="1" spc="45" dirty="0">
                <a:latin typeface="Arial" panose="020B0604020202020204"/>
                <a:cs typeface="Arial" panose="020B0604020202020204"/>
              </a:rPr>
              <a:t>на</a:t>
            </a:r>
            <a:r>
              <a:rPr sz="75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35" dirty="0">
                <a:latin typeface="Arial" panose="020B0604020202020204"/>
                <a:cs typeface="Arial" panose="020B0604020202020204"/>
              </a:rPr>
              <a:t>продукты</a:t>
            </a:r>
            <a:r>
              <a:rPr sz="750" b="1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45" dirty="0">
                <a:latin typeface="Arial" panose="020B0604020202020204"/>
                <a:cs typeface="Arial" panose="020B0604020202020204"/>
              </a:rPr>
              <a:t>разработки</a:t>
            </a:r>
            <a:r>
              <a:rPr sz="75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15" dirty="0">
                <a:latin typeface="Lucida Sans Unicode" panose="020B0602030504020204"/>
                <a:cs typeface="Lucida Sans Unicode" panose="020B0602030504020204"/>
              </a:rPr>
              <a:t>(</a:t>
            </a:r>
            <a:r>
              <a:rPr sz="750" i="1" spc="20" dirty="0">
                <a:latin typeface="Arial" panose="020B0604020202020204"/>
                <a:cs typeface="Arial" panose="020B0604020202020204"/>
              </a:rPr>
              <a:t>product</a:t>
            </a:r>
            <a:r>
              <a:rPr sz="750" i="1" dirty="0">
                <a:latin typeface="Arial" panose="020B0604020202020204"/>
                <a:cs typeface="Arial" panose="020B0604020202020204"/>
              </a:rPr>
              <a:t> </a:t>
            </a:r>
            <a:r>
              <a:rPr sz="750" i="1" spc="5" dirty="0">
                <a:latin typeface="Arial" panose="020B0604020202020204"/>
                <a:cs typeface="Arial" panose="020B0604020202020204"/>
              </a:rPr>
              <a:t>documentation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):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265430" marR="59690" indent="-122555">
              <a:lnSpc>
                <a:spcPct val="142000"/>
              </a:lnSpc>
              <a:spcBef>
                <a:spcPts val="300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72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техническая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документация</a:t>
            </a:r>
            <a:r>
              <a:rPr lang="en-US" sz="7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lang="ru-RU" altLang="en-US" sz="750" dirty="0">
                <a:latin typeface="Lucida Sans Unicode" panose="020B0602030504020204"/>
                <a:cs typeface="Lucida Sans Unicode" panose="020B0602030504020204"/>
              </a:rPr>
              <a:t>-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описание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программной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системы </a:t>
            </a:r>
            <a:r>
              <a:rPr sz="750" spc="-2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с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5" dirty="0">
                <a:latin typeface="Lucida Sans Unicode" panose="020B0602030504020204"/>
                <a:cs typeface="Lucida Sans Unicode" panose="020B0602030504020204"/>
              </a:rPr>
              <a:t>т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о</a:t>
            </a:r>
            <a:r>
              <a:rPr sz="750" spc="30" dirty="0">
                <a:latin typeface="Lucida Sans Unicode" panose="020B0602030504020204"/>
                <a:cs typeface="Lucida Sans Unicode" panose="020B0602030504020204"/>
              </a:rPr>
              <a:t>чки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зрени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я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разрабо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тчика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265430" marR="43180" indent="-122555">
              <a:lnSpc>
                <a:spcPct val="142000"/>
              </a:lnSpc>
              <a:spcBef>
                <a:spcPts val="300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80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пользовательская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документация</a:t>
            </a:r>
            <a:r>
              <a:rPr sz="750" spc="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lang="ru-RU" sz="750" spc="60" dirty="0">
                <a:latin typeface="Lucida Sans Unicode" panose="020B0602030504020204"/>
                <a:cs typeface="Lucida Sans Unicode" panose="020B0602030504020204"/>
              </a:rPr>
              <a:t>-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описание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ПО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с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точки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зрения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конечного </a:t>
            </a:r>
            <a:r>
              <a:rPr sz="75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пользователя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0" y="3305175"/>
            <a:ext cx="4608195" cy="151130"/>
            <a:chOff x="0" y="3305175"/>
            <a:chExt cx="4608195" cy="151130"/>
          </a:xfrm>
        </p:grpSpPr>
        <p:sp>
          <p:nvSpPr>
            <p:cNvPr id="38" name="object 38"/>
            <p:cNvSpPr/>
            <p:nvPr/>
          </p:nvSpPr>
          <p:spPr>
            <a:xfrm>
              <a:off x="0" y="3305175"/>
              <a:ext cx="4608195" cy="151130"/>
            </a:xfrm>
            <a:custGeom>
              <a:avLst/>
              <a:gdLst/>
              <a:ahLst/>
              <a:cxnLst/>
              <a:rect l="l" t="t" r="r" b="b"/>
              <a:pathLst>
                <a:path w="4608195" h="151129">
                  <a:moveTo>
                    <a:pt x="4607941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4607941" y="150875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465199" y="3382390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4">
                  <a:moveTo>
                    <a:pt x="0" y="0"/>
                  </a:moveTo>
                  <a:lnTo>
                    <a:pt x="54736" y="0"/>
                  </a:lnTo>
                </a:path>
              </a:pathLst>
            </a:custGeom>
            <a:ln w="50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207128" y="3320923"/>
              <a:ext cx="364490" cy="120014"/>
            </a:xfrm>
            <a:custGeom>
              <a:avLst/>
              <a:gdLst/>
              <a:ahLst/>
              <a:cxnLst/>
              <a:rect l="l" t="t" r="r" b="b"/>
              <a:pathLst>
                <a:path w="364489" h="120014">
                  <a:moveTo>
                    <a:pt x="364363" y="0"/>
                  </a:moveTo>
                  <a:lnTo>
                    <a:pt x="0" y="0"/>
                  </a:lnTo>
                  <a:lnTo>
                    <a:pt x="0" y="119506"/>
                  </a:lnTo>
                  <a:lnTo>
                    <a:pt x="364363" y="119506"/>
                  </a:lnTo>
                  <a:lnTo>
                    <a:pt x="36436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xfrm>
            <a:off x="23749" y="3313885"/>
            <a:ext cx="2357120" cy="1047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>
                <a:sym typeface="+mn-ea"/>
              </a:rPr>
              <a:t>Программная</a:t>
            </a:r>
            <a:r>
              <a:rPr spc="-30" dirty="0">
                <a:sym typeface="+mn-ea"/>
              </a:rPr>
              <a:t> </a:t>
            </a:r>
            <a:r>
              <a:rPr spc="15" dirty="0">
                <a:sym typeface="+mn-ea"/>
              </a:rPr>
              <a:t>инженерия.</a:t>
            </a:r>
            <a:r>
              <a:rPr spc="25" dirty="0">
                <a:sym typeface="+mn-ea"/>
              </a:rPr>
              <a:t> </a:t>
            </a:r>
            <a:r>
              <a:rPr spc="10" dirty="0">
                <a:sym typeface="+mn-ea"/>
              </a:rPr>
              <a:t>Документирование</a:t>
            </a:r>
            <a:r>
              <a:rPr spc="-25" dirty="0">
                <a:sym typeface="+mn-ea"/>
              </a:rPr>
              <a:t> </a:t>
            </a:r>
            <a:r>
              <a:rPr spc="15" dirty="0">
                <a:sym typeface="+mn-ea"/>
              </a:rPr>
              <a:t>ПО</a:t>
            </a:r>
            <a:endParaRPr spc="15" dirty="0"/>
          </a:p>
        </p:txBody>
      </p:sp>
      <p:sp>
        <p:nvSpPr>
          <p:cNvPr id="42" name="object 42"/>
          <p:cNvSpPr txBox="1"/>
          <p:nvPr/>
        </p:nvSpPr>
        <p:spPr>
          <a:xfrm>
            <a:off x="4263009" y="3313885"/>
            <a:ext cx="265430" cy="12509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z="550" spc="-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</a:fld>
            <a:r>
              <a:rPr sz="550" spc="-8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-7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/</a:t>
            </a:r>
            <a:r>
              <a:rPr sz="550" spc="-8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-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26</a:t>
            </a:r>
            <a:endParaRPr sz="55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608195" cy="201295"/>
            <a:chOff x="0" y="0"/>
            <a:chExt cx="4608195" cy="20129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608195" cy="201295"/>
            </a:xfrm>
            <a:custGeom>
              <a:avLst/>
              <a:gdLst/>
              <a:ahLst/>
              <a:cxnLst/>
              <a:rect l="l" t="t" r="r" b="b"/>
              <a:pathLst>
                <a:path w="4608195" h="201295">
                  <a:moveTo>
                    <a:pt x="4607941" y="0"/>
                  </a:moveTo>
                  <a:lnTo>
                    <a:pt x="0" y="0"/>
                  </a:lnTo>
                  <a:lnTo>
                    <a:pt x="0" y="200914"/>
                  </a:lnTo>
                  <a:lnTo>
                    <a:pt x="4607941" y="200914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06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659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0949" y="0"/>
                  </a:moveTo>
                  <a:lnTo>
                    <a:pt x="6042" y="0"/>
                  </a:lnTo>
                  <a:lnTo>
                    <a:pt x="0" y="6042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6042"/>
                  </a:lnTo>
                  <a:lnTo>
                    <a:pt x="209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659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9265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286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6466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0060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365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9641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0002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0361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07213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1082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1441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1800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2161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2520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28815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3241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3600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39610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99326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02932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06527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3967988" y="13017"/>
            <a:ext cx="54546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Заключение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847" y="13017"/>
            <a:ext cx="2764155" cy="44195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20"/>
              </a:spcBef>
              <a:tabLst>
                <a:tab pos="1897380" algn="l"/>
              </a:tabLst>
            </a:pP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Общие</a:t>
            </a:r>
            <a:r>
              <a:rPr sz="650" spc="-3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понятия</a:t>
            </a:r>
            <a:r>
              <a:rPr sz="65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Виды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</a:pPr>
            <a:r>
              <a:rPr sz="1050" spc="-1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Документация</a:t>
            </a:r>
            <a:r>
              <a:rPr sz="1050" spc="-7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5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в</a:t>
            </a:r>
            <a:r>
              <a:rPr sz="1050" spc="-6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1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гибкой</a:t>
            </a:r>
            <a:r>
              <a:rPr sz="1050" spc="-6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2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методологии</a:t>
            </a:r>
            <a:endParaRPr sz="10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99688" y="861314"/>
            <a:ext cx="55244" cy="0"/>
          </a:xfrm>
          <a:custGeom>
            <a:avLst/>
            <a:gdLst/>
            <a:ahLst/>
            <a:cxnLst/>
            <a:rect l="l" t="t" r="r" b="b"/>
            <a:pathLst>
              <a:path w="55245">
                <a:moveTo>
                  <a:pt x="0" y="0"/>
                </a:moveTo>
                <a:lnTo>
                  <a:pt x="5473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24713" y="613354"/>
            <a:ext cx="4160520" cy="175387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98120" algn="ctr">
              <a:lnSpc>
                <a:spcPct val="100000"/>
              </a:lnSpc>
              <a:spcBef>
                <a:spcPts val="385"/>
              </a:spcBef>
            </a:pPr>
            <a:r>
              <a:rPr sz="750" i="1" dirty="0">
                <a:latin typeface="Arial" panose="020B0604020202020204"/>
                <a:cs typeface="Arial" panose="020B0604020202020204"/>
              </a:rPr>
              <a:t>Работающее</a:t>
            </a:r>
            <a:r>
              <a:rPr sz="750" i="1" spc="20" dirty="0">
                <a:latin typeface="Arial" panose="020B0604020202020204"/>
                <a:cs typeface="Arial" panose="020B0604020202020204"/>
              </a:rPr>
              <a:t> </a:t>
            </a:r>
            <a:r>
              <a:rPr sz="750" i="1" spc="-30" dirty="0">
                <a:latin typeface="Arial" panose="020B0604020202020204"/>
                <a:cs typeface="Arial" panose="020B0604020202020204"/>
              </a:rPr>
              <a:t>ПО</a:t>
            </a:r>
            <a:r>
              <a:rPr sz="750" i="1" spc="270" dirty="0">
                <a:latin typeface="Arial" panose="020B0604020202020204"/>
                <a:cs typeface="Arial" panose="020B0604020202020204"/>
              </a:rPr>
              <a:t> </a:t>
            </a:r>
            <a:r>
              <a:rPr sz="750" i="1" spc="275" dirty="0">
                <a:latin typeface="Arial" panose="020B0604020202020204"/>
                <a:cs typeface="Arial" panose="020B0604020202020204"/>
              </a:rPr>
              <a:t> </a:t>
            </a:r>
            <a:r>
              <a:rPr sz="800" i="1" dirty="0">
                <a:latin typeface="Verdana" panose="020B0604030504040204"/>
                <a:cs typeface="Verdana" panose="020B0604030504040204"/>
              </a:rPr>
              <a:t>&gt;  </a:t>
            </a:r>
            <a:r>
              <a:rPr sz="800" i="1" spc="95" dirty="0">
                <a:latin typeface="Verdana" panose="020B0604030504040204"/>
                <a:cs typeface="Verdana" panose="020B0604030504040204"/>
              </a:rPr>
              <a:t> </a:t>
            </a:r>
            <a:r>
              <a:rPr sz="750" i="1" spc="5" dirty="0">
                <a:latin typeface="Arial" panose="020B0604020202020204"/>
                <a:cs typeface="Arial" panose="020B0604020202020204"/>
              </a:rPr>
              <a:t>Исчерпывающая</a:t>
            </a:r>
            <a:r>
              <a:rPr sz="750" i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750" i="1" spc="15" dirty="0">
                <a:latin typeface="Arial" panose="020B0604020202020204"/>
                <a:cs typeface="Arial" panose="020B0604020202020204"/>
              </a:rPr>
              <a:t>документация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R="72390" algn="r">
              <a:lnSpc>
                <a:spcPct val="100000"/>
              </a:lnSpc>
              <a:spcBef>
                <a:spcPts val="230"/>
              </a:spcBef>
            </a:pPr>
            <a:r>
              <a:rPr sz="550" spc="-10" dirty="0">
                <a:latin typeface="Lucida Sans Unicode" panose="020B0602030504020204"/>
                <a:cs typeface="Lucida Sans Unicode" panose="020B0602030504020204"/>
              </a:rPr>
              <a:t>Agil</a:t>
            </a:r>
            <a:r>
              <a:rPr sz="550" spc="-5" dirty="0">
                <a:latin typeface="Lucida Sans Unicode" panose="020B0602030504020204"/>
                <a:cs typeface="Lucida Sans Unicode" panose="020B0602030504020204"/>
              </a:rPr>
              <a:t>e</a:t>
            </a:r>
            <a:r>
              <a:rPr sz="5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dirty="0">
                <a:latin typeface="Lucida Sans Unicode" panose="020B0602030504020204"/>
                <a:cs typeface="Lucida Sans Unicode" panose="020B0602030504020204"/>
              </a:rPr>
              <a:t>Manifesto</a:t>
            </a:r>
            <a:endParaRPr sz="55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950">
              <a:latin typeface="Lucida Sans Unicode" panose="020B0602030504020204"/>
              <a:cs typeface="Lucida Sans Unicode" panose="020B0602030504020204"/>
            </a:endParaRPr>
          </a:p>
          <a:p>
            <a:pPr marL="63500">
              <a:lnSpc>
                <a:spcPct val="100000"/>
              </a:lnSpc>
            </a:pPr>
            <a:r>
              <a:rPr sz="750" b="1" spc="40" dirty="0">
                <a:latin typeface="Arial" panose="020B0604020202020204"/>
                <a:cs typeface="Arial" panose="020B0604020202020204"/>
              </a:rPr>
              <a:t>Недостатки</a:t>
            </a:r>
            <a:r>
              <a:rPr sz="75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40" dirty="0">
                <a:latin typeface="Arial" panose="020B0604020202020204"/>
                <a:cs typeface="Arial" panose="020B0604020202020204"/>
              </a:rPr>
              <a:t>традиционного</a:t>
            </a:r>
            <a:r>
              <a:rPr sz="75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25" dirty="0">
                <a:latin typeface="Arial" panose="020B0604020202020204"/>
                <a:cs typeface="Arial" panose="020B0604020202020204"/>
              </a:rPr>
              <a:t>подхода</a:t>
            </a:r>
            <a:r>
              <a:rPr sz="75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к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документированию: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278130" marR="55880" indent="-122555">
              <a:lnSpc>
                <a:spcPct val="142000"/>
              </a:lnSpc>
              <a:spcBef>
                <a:spcPts val="29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87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Производство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и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поддержка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документов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45" dirty="0">
                <a:latin typeface="Lucida Sans Unicode" panose="020B0602030504020204"/>
                <a:cs typeface="Lucida Sans Unicode" panose="020B0602030504020204"/>
              </a:rPr>
              <a:t>в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актуальном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состоянии </a:t>
            </a:r>
            <a:r>
              <a:rPr sz="750" spc="-2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занимает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много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времени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и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средств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и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приводит к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замедлению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процесса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разработки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278130" marR="196850" indent="-122555">
              <a:lnSpc>
                <a:spcPct val="142000"/>
              </a:lnSpc>
              <a:spcBef>
                <a:spcPts val="300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72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Требования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к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ПО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меняются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настолько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быстро,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что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документация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устаревает </a:t>
            </a:r>
            <a:r>
              <a:rPr sz="75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практически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сразу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после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написания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700">
              <a:latin typeface="Lucida Sans Unicode" panose="020B0602030504020204"/>
              <a:cs typeface="Lucida Sans Unicode" panose="020B0602030504020204"/>
            </a:endParaRPr>
          </a:p>
          <a:p>
            <a:pPr marL="156210">
              <a:lnSpc>
                <a:spcPct val="100000"/>
              </a:lnSpc>
              <a:spcBef>
                <a:spcPts val="680"/>
              </a:spcBef>
            </a:pPr>
            <a:endParaRPr sz="7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0" y="3305175"/>
            <a:ext cx="4608195" cy="151130"/>
            <a:chOff x="0" y="3305175"/>
            <a:chExt cx="4608195" cy="151130"/>
          </a:xfrm>
        </p:grpSpPr>
        <p:sp>
          <p:nvSpPr>
            <p:cNvPr id="33" name="object 33"/>
            <p:cNvSpPr/>
            <p:nvPr/>
          </p:nvSpPr>
          <p:spPr>
            <a:xfrm>
              <a:off x="0" y="3305175"/>
              <a:ext cx="4608195" cy="151130"/>
            </a:xfrm>
            <a:custGeom>
              <a:avLst/>
              <a:gdLst/>
              <a:ahLst/>
              <a:cxnLst/>
              <a:rect l="l" t="t" r="r" b="b"/>
              <a:pathLst>
                <a:path w="4608195" h="151129">
                  <a:moveTo>
                    <a:pt x="4607941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4607941" y="150875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465199" y="3382390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4">
                  <a:moveTo>
                    <a:pt x="0" y="0"/>
                  </a:moveTo>
                  <a:lnTo>
                    <a:pt x="54736" y="0"/>
                  </a:lnTo>
                </a:path>
              </a:pathLst>
            </a:custGeom>
            <a:ln w="50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207128" y="3320923"/>
              <a:ext cx="364490" cy="120014"/>
            </a:xfrm>
            <a:custGeom>
              <a:avLst/>
              <a:gdLst/>
              <a:ahLst/>
              <a:cxnLst/>
              <a:rect l="l" t="t" r="r" b="b"/>
              <a:pathLst>
                <a:path w="364489" h="120014">
                  <a:moveTo>
                    <a:pt x="364363" y="0"/>
                  </a:moveTo>
                  <a:lnTo>
                    <a:pt x="0" y="0"/>
                  </a:lnTo>
                  <a:lnTo>
                    <a:pt x="0" y="119506"/>
                  </a:lnTo>
                  <a:lnTo>
                    <a:pt x="364363" y="119506"/>
                  </a:lnTo>
                  <a:lnTo>
                    <a:pt x="36436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xfrm>
            <a:off x="23749" y="3313885"/>
            <a:ext cx="2357120" cy="1047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>
                <a:sym typeface="+mn-ea"/>
              </a:rPr>
              <a:t>Программная</a:t>
            </a:r>
            <a:r>
              <a:rPr spc="-30" dirty="0">
                <a:sym typeface="+mn-ea"/>
              </a:rPr>
              <a:t> </a:t>
            </a:r>
            <a:r>
              <a:rPr spc="15" dirty="0">
                <a:sym typeface="+mn-ea"/>
              </a:rPr>
              <a:t>инженерия.</a:t>
            </a:r>
            <a:r>
              <a:rPr spc="25" dirty="0">
                <a:sym typeface="+mn-ea"/>
              </a:rPr>
              <a:t> </a:t>
            </a:r>
            <a:r>
              <a:rPr spc="10" dirty="0">
                <a:sym typeface="+mn-ea"/>
              </a:rPr>
              <a:t>Документирование</a:t>
            </a:r>
            <a:r>
              <a:rPr spc="-25" dirty="0">
                <a:sym typeface="+mn-ea"/>
              </a:rPr>
              <a:t> </a:t>
            </a:r>
            <a:r>
              <a:rPr spc="15" dirty="0">
                <a:sym typeface="+mn-ea"/>
              </a:rPr>
              <a:t>ПО</a:t>
            </a:r>
            <a:endParaRPr spc="15" dirty="0"/>
          </a:p>
        </p:txBody>
      </p:sp>
      <p:sp>
        <p:nvSpPr>
          <p:cNvPr id="37" name="object 37"/>
          <p:cNvSpPr txBox="1"/>
          <p:nvPr/>
        </p:nvSpPr>
        <p:spPr>
          <a:xfrm>
            <a:off x="4263009" y="3313885"/>
            <a:ext cx="265430" cy="12509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z="550" spc="-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</a:fld>
            <a:r>
              <a:rPr sz="550" spc="-8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-7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/</a:t>
            </a:r>
            <a:r>
              <a:rPr sz="550" spc="-8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-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26</a:t>
            </a:r>
            <a:endParaRPr sz="55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608195" cy="201295"/>
            <a:chOff x="0" y="0"/>
            <a:chExt cx="4608195" cy="20129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608195" cy="201295"/>
            </a:xfrm>
            <a:custGeom>
              <a:avLst/>
              <a:gdLst/>
              <a:ahLst/>
              <a:cxnLst/>
              <a:rect l="l" t="t" r="r" b="b"/>
              <a:pathLst>
                <a:path w="4608195" h="201295">
                  <a:moveTo>
                    <a:pt x="4607941" y="0"/>
                  </a:moveTo>
                  <a:lnTo>
                    <a:pt x="0" y="0"/>
                  </a:lnTo>
                  <a:lnTo>
                    <a:pt x="0" y="200914"/>
                  </a:lnTo>
                  <a:lnTo>
                    <a:pt x="4607941" y="200914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06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659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9265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0949" y="0"/>
                  </a:moveTo>
                  <a:lnTo>
                    <a:pt x="6042" y="0"/>
                  </a:lnTo>
                  <a:lnTo>
                    <a:pt x="0" y="6042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6042"/>
                  </a:lnTo>
                  <a:lnTo>
                    <a:pt x="209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9265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286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6466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0060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365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95250" y="13017"/>
            <a:ext cx="69405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Общие</a:t>
            </a:r>
            <a:r>
              <a:rPr sz="650" spc="-3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понятия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61642" y="145981"/>
            <a:ext cx="464184" cy="32384"/>
            <a:chOff x="1961642" y="145981"/>
            <a:chExt cx="464184" cy="32384"/>
          </a:xfrm>
        </p:grpSpPr>
        <p:sp>
          <p:nvSpPr>
            <p:cNvPr id="14" name="object 14"/>
            <p:cNvSpPr/>
            <p:nvPr/>
          </p:nvSpPr>
          <p:spPr>
            <a:xfrm>
              <a:off x="19641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0002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0361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07213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1082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1441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1800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2161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2520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28815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3241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3600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39610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938908" y="13017"/>
            <a:ext cx="87947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Виды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990730" y="145991"/>
            <a:ext cx="104139" cy="32384"/>
            <a:chOff x="3990730" y="145991"/>
            <a:chExt cx="104139" cy="32384"/>
          </a:xfrm>
        </p:grpSpPr>
        <p:sp>
          <p:nvSpPr>
            <p:cNvPr id="29" name="object 29"/>
            <p:cNvSpPr/>
            <p:nvPr/>
          </p:nvSpPr>
          <p:spPr>
            <a:xfrm>
              <a:off x="399326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02932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06526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3967988" y="13017"/>
            <a:ext cx="54546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Заключение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847" y="269964"/>
            <a:ext cx="166243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3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Ст</a:t>
            </a:r>
            <a:r>
              <a:rPr sz="1050" spc="-5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р</a:t>
            </a:r>
            <a:r>
              <a:rPr sz="1050" spc="-1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уктура</a:t>
            </a:r>
            <a:r>
              <a:rPr sz="1050" spc="-6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2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10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707388" y="923290"/>
            <a:ext cx="73025" cy="0"/>
          </a:xfrm>
          <a:custGeom>
            <a:avLst/>
            <a:gdLst/>
            <a:ahLst/>
            <a:cxnLst/>
            <a:rect l="l" t="t" r="r" b="b"/>
            <a:pathLst>
              <a:path w="73025">
                <a:moveTo>
                  <a:pt x="0" y="0"/>
                </a:moveTo>
                <a:lnTo>
                  <a:pt x="7277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75513" y="841997"/>
            <a:ext cx="4197350" cy="16827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50" b="1" spc="30" dirty="0">
                <a:latin typeface="Arial" panose="020B0604020202020204"/>
                <a:cs typeface="Arial" panose="020B0604020202020204"/>
              </a:rPr>
              <a:t>Основной</a:t>
            </a:r>
            <a:r>
              <a:rPr sz="75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20" dirty="0">
                <a:latin typeface="Arial" panose="020B0604020202020204"/>
                <a:cs typeface="Arial" panose="020B0604020202020204"/>
              </a:rPr>
              <a:t>стандарт:</a:t>
            </a:r>
            <a:r>
              <a:rPr sz="75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25" dirty="0">
                <a:latin typeface="Lucida Sans Unicode" panose="020B0602030504020204"/>
                <a:cs typeface="Lucida Sans Unicode" panose="020B0602030504020204"/>
              </a:rPr>
              <a:t>IEEE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1063</a:t>
            </a:r>
            <a:r>
              <a:rPr sz="750" spc="2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Standard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for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Software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User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Documentation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[2001]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750" b="1" spc="30" dirty="0">
                <a:latin typeface="Arial" panose="020B0604020202020204"/>
                <a:cs typeface="Arial" panose="020B0604020202020204"/>
              </a:rPr>
              <a:t>Структура</a:t>
            </a:r>
            <a:r>
              <a:rPr sz="75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55" dirty="0">
                <a:latin typeface="Arial" panose="020B0604020202020204"/>
                <a:cs typeface="Arial" panose="020B0604020202020204"/>
              </a:rPr>
              <a:t>документации</a:t>
            </a:r>
            <a:r>
              <a:rPr sz="75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45" dirty="0">
                <a:latin typeface="Arial" panose="020B0604020202020204"/>
                <a:cs typeface="Arial" panose="020B0604020202020204"/>
              </a:rPr>
              <a:t>на</a:t>
            </a:r>
            <a:r>
              <a:rPr sz="75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dirty="0">
                <a:latin typeface="Arial" panose="020B0604020202020204"/>
                <a:cs typeface="Arial" panose="020B0604020202020204"/>
              </a:rPr>
              <a:t>ПО: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227330" marR="5080" indent="-135890">
              <a:lnSpc>
                <a:spcPct val="142000"/>
              </a:lnSpc>
              <a:spcBef>
                <a:spcPts val="300"/>
              </a:spcBef>
              <a:buClr>
                <a:srgbClr val="3333B2"/>
              </a:buClr>
              <a:buAutoNum type="arabicPeriod"/>
              <a:tabLst>
                <a:tab pos="227965" algn="l"/>
              </a:tabLst>
            </a:pP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данные,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позволяющие</a:t>
            </a: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идентифицировать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документ</a:t>
            </a: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(заголовок,</a:t>
            </a: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дата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составления</a:t>
            </a: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)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227330" indent="-135890">
              <a:lnSpc>
                <a:spcPct val="100000"/>
              </a:lnSpc>
              <a:spcBef>
                <a:spcPts val="675"/>
              </a:spcBef>
              <a:buClr>
                <a:srgbClr val="3333B2"/>
              </a:buClr>
              <a:buAutoNum type="arabicPeriod"/>
              <a:tabLst>
                <a:tab pos="227965" algn="l"/>
              </a:tabLst>
            </a:pP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содержание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227330" indent="-135890">
              <a:lnSpc>
                <a:spcPct val="100000"/>
              </a:lnSpc>
              <a:spcBef>
                <a:spcPts val="680"/>
              </a:spcBef>
              <a:buClr>
                <a:srgbClr val="3333B2"/>
              </a:buClr>
              <a:buAutoNum type="arabicPeriod"/>
              <a:tabLst>
                <a:tab pos="227965" algn="l"/>
              </a:tabLst>
            </a:pPr>
            <a:r>
              <a:rPr sz="750" dirty="0">
                <a:latin typeface="Lucida Sans Unicode" panose="020B0602030504020204"/>
                <a:cs typeface="Lucida Sans Unicode" panose="020B0602030504020204"/>
              </a:rPr>
              <a:t>список</a:t>
            </a:r>
            <a:r>
              <a:rPr sz="750" spc="-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иллюстраций</a:t>
            </a:r>
            <a:r>
              <a:rPr sz="750" spc="-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и</a:t>
            </a:r>
            <a:r>
              <a:rPr sz="750" spc="-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таблиц</a:t>
            </a:r>
            <a:r>
              <a:rPr sz="750" spc="-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(опционально)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227330" indent="-135890">
              <a:lnSpc>
                <a:spcPct val="100000"/>
              </a:lnSpc>
              <a:spcBef>
                <a:spcPts val="675"/>
              </a:spcBef>
              <a:buClr>
                <a:srgbClr val="3333B2"/>
              </a:buClr>
              <a:buAutoNum type="arabicPeriod"/>
              <a:tabLst>
                <a:tab pos="227965" algn="l"/>
              </a:tabLst>
            </a:pP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введение </a:t>
            </a:r>
            <a:r>
              <a:rPr lang="en-US" sz="750" spc="10" dirty="0">
                <a:latin typeface="Lucida Sans Unicode" panose="020B0602030504020204"/>
                <a:cs typeface="Lucida Sans Unicode" panose="020B0602030504020204"/>
              </a:rPr>
              <a:t>-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назначение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документа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и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краткое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описание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содержимого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227330" marR="105410" indent="-135890">
              <a:lnSpc>
                <a:spcPct val="142000"/>
              </a:lnSpc>
              <a:spcBef>
                <a:spcPts val="300"/>
              </a:spcBef>
              <a:buClr>
                <a:srgbClr val="3333B2"/>
              </a:buClr>
              <a:buAutoNum type="arabicPeriod"/>
              <a:tabLst>
                <a:tab pos="227965" algn="l"/>
              </a:tabLst>
            </a:pPr>
            <a:r>
              <a:rPr sz="750" dirty="0">
                <a:latin typeface="Lucida Sans Unicode" panose="020B0602030504020204"/>
                <a:cs typeface="Lucida Sans Unicode" panose="020B0602030504020204"/>
              </a:rPr>
              <a:t>информация по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использованию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lang="en-US" sz="750" spc="15" dirty="0">
                <a:latin typeface="Lucida Sans Unicode" panose="020B0602030504020204"/>
                <a:cs typeface="Lucida Sans Unicode" panose="020B0602030504020204"/>
              </a:rPr>
              <a:t>-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советы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по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эффективному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использованию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различными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группами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пользователей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(новичками,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опытными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пользователями, </a:t>
            </a:r>
            <a:r>
              <a:rPr sz="750" spc="-2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администраторами,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65" dirty="0">
                <a:latin typeface="Lucida Sans Unicode" panose="020B0602030504020204"/>
                <a:cs typeface="Lucida Sans Unicode" panose="020B0602030504020204"/>
              </a:rPr>
              <a:t>…)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0" y="3305175"/>
            <a:ext cx="4608195" cy="151130"/>
            <a:chOff x="0" y="3305175"/>
            <a:chExt cx="4608195" cy="151130"/>
          </a:xfrm>
        </p:grpSpPr>
        <p:sp>
          <p:nvSpPr>
            <p:cNvPr id="39" name="object 39"/>
            <p:cNvSpPr/>
            <p:nvPr/>
          </p:nvSpPr>
          <p:spPr>
            <a:xfrm>
              <a:off x="0" y="3305175"/>
              <a:ext cx="4608195" cy="151130"/>
            </a:xfrm>
            <a:custGeom>
              <a:avLst/>
              <a:gdLst/>
              <a:ahLst/>
              <a:cxnLst/>
              <a:rect l="l" t="t" r="r" b="b"/>
              <a:pathLst>
                <a:path w="4608195" h="151129">
                  <a:moveTo>
                    <a:pt x="4607941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4607941" y="150875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465199" y="3382390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4">
                  <a:moveTo>
                    <a:pt x="0" y="0"/>
                  </a:moveTo>
                  <a:lnTo>
                    <a:pt x="54736" y="0"/>
                  </a:lnTo>
                </a:path>
              </a:pathLst>
            </a:custGeom>
            <a:ln w="50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207128" y="3320923"/>
              <a:ext cx="364490" cy="120014"/>
            </a:xfrm>
            <a:custGeom>
              <a:avLst/>
              <a:gdLst/>
              <a:ahLst/>
              <a:cxnLst/>
              <a:rect l="l" t="t" r="r" b="b"/>
              <a:pathLst>
                <a:path w="364489" h="120014">
                  <a:moveTo>
                    <a:pt x="364363" y="0"/>
                  </a:moveTo>
                  <a:lnTo>
                    <a:pt x="0" y="0"/>
                  </a:lnTo>
                  <a:lnTo>
                    <a:pt x="0" y="119506"/>
                  </a:lnTo>
                  <a:lnTo>
                    <a:pt x="364363" y="119506"/>
                  </a:lnTo>
                  <a:lnTo>
                    <a:pt x="36436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xfrm>
            <a:off x="23749" y="3313885"/>
            <a:ext cx="2357120" cy="1047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>
                <a:sym typeface="+mn-ea"/>
              </a:rPr>
              <a:t>Программная</a:t>
            </a:r>
            <a:r>
              <a:rPr spc="-30" dirty="0">
                <a:sym typeface="+mn-ea"/>
              </a:rPr>
              <a:t> </a:t>
            </a:r>
            <a:r>
              <a:rPr spc="15" dirty="0">
                <a:sym typeface="+mn-ea"/>
              </a:rPr>
              <a:t>инженерия.</a:t>
            </a:r>
            <a:r>
              <a:rPr spc="25" dirty="0">
                <a:sym typeface="+mn-ea"/>
              </a:rPr>
              <a:t> </a:t>
            </a:r>
            <a:r>
              <a:rPr spc="10" dirty="0">
                <a:sym typeface="+mn-ea"/>
              </a:rPr>
              <a:t>Документирование</a:t>
            </a:r>
            <a:r>
              <a:rPr spc="-25" dirty="0">
                <a:sym typeface="+mn-ea"/>
              </a:rPr>
              <a:t> </a:t>
            </a:r>
            <a:r>
              <a:rPr spc="15" dirty="0">
                <a:sym typeface="+mn-ea"/>
              </a:rPr>
              <a:t>ПО</a:t>
            </a:r>
            <a:endParaRPr spc="15" dirty="0"/>
          </a:p>
        </p:txBody>
      </p:sp>
      <p:sp>
        <p:nvSpPr>
          <p:cNvPr id="43" name="object 43"/>
          <p:cNvSpPr txBox="1"/>
          <p:nvPr/>
        </p:nvSpPr>
        <p:spPr>
          <a:xfrm>
            <a:off x="4263009" y="3313885"/>
            <a:ext cx="265430" cy="12509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z="550" spc="-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</a:fld>
            <a:r>
              <a:rPr sz="550" spc="-8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-7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/</a:t>
            </a:r>
            <a:r>
              <a:rPr sz="550" spc="-8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-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26</a:t>
            </a:r>
            <a:endParaRPr sz="55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608195" cy="201295"/>
            <a:chOff x="0" y="0"/>
            <a:chExt cx="4608195" cy="20129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608195" cy="201295"/>
            </a:xfrm>
            <a:custGeom>
              <a:avLst/>
              <a:gdLst/>
              <a:ahLst/>
              <a:cxnLst/>
              <a:rect l="l" t="t" r="r" b="b"/>
              <a:pathLst>
                <a:path w="4608195" h="201295">
                  <a:moveTo>
                    <a:pt x="4607941" y="0"/>
                  </a:moveTo>
                  <a:lnTo>
                    <a:pt x="0" y="0"/>
                  </a:lnTo>
                  <a:lnTo>
                    <a:pt x="0" y="200914"/>
                  </a:lnTo>
                  <a:lnTo>
                    <a:pt x="4607941" y="200914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06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659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9265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286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0949" y="0"/>
                  </a:moveTo>
                  <a:lnTo>
                    <a:pt x="6042" y="0"/>
                  </a:lnTo>
                  <a:lnTo>
                    <a:pt x="0" y="6042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6042"/>
                  </a:lnTo>
                  <a:lnTo>
                    <a:pt x="209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286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6466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0060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365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95250" y="13017"/>
            <a:ext cx="69405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Общие</a:t>
            </a:r>
            <a:r>
              <a:rPr sz="650" spc="-3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понятия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61642" y="145981"/>
            <a:ext cx="464184" cy="32384"/>
            <a:chOff x="1961642" y="145981"/>
            <a:chExt cx="464184" cy="32384"/>
          </a:xfrm>
        </p:grpSpPr>
        <p:sp>
          <p:nvSpPr>
            <p:cNvPr id="14" name="object 14"/>
            <p:cNvSpPr/>
            <p:nvPr/>
          </p:nvSpPr>
          <p:spPr>
            <a:xfrm>
              <a:off x="19641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0002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0361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07213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1082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1441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1800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2161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2520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28815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3241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3600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39610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938908" y="13017"/>
            <a:ext cx="87947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Виды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990730" y="145991"/>
            <a:ext cx="104139" cy="32384"/>
            <a:chOff x="3990730" y="145991"/>
            <a:chExt cx="104139" cy="32384"/>
          </a:xfrm>
        </p:grpSpPr>
        <p:sp>
          <p:nvSpPr>
            <p:cNvPr id="29" name="object 29"/>
            <p:cNvSpPr/>
            <p:nvPr/>
          </p:nvSpPr>
          <p:spPr>
            <a:xfrm>
              <a:off x="399326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02932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06526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3967988" y="13017"/>
            <a:ext cx="54546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Заключение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847" y="269964"/>
            <a:ext cx="166243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3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Ст</a:t>
            </a:r>
            <a:r>
              <a:rPr sz="1050" spc="-5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р</a:t>
            </a:r>
            <a:r>
              <a:rPr sz="1050" spc="-1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уктура</a:t>
            </a:r>
            <a:r>
              <a:rPr sz="1050" spc="-6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2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10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126871" y="1163701"/>
            <a:ext cx="73025" cy="0"/>
          </a:xfrm>
          <a:custGeom>
            <a:avLst/>
            <a:gdLst/>
            <a:ahLst/>
            <a:cxnLst/>
            <a:rect l="l" t="t" r="r" b="b"/>
            <a:pathLst>
              <a:path w="73025">
                <a:moveTo>
                  <a:pt x="0" y="0"/>
                </a:moveTo>
                <a:lnTo>
                  <a:pt x="7289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58774" y="1363853"/>
            <a:ext cx="73025" cy="0"/>
          </a:xfrm>
          <a:custGeom>
            <a:avLst/>
            <a:gdLst/>
            <a:ahLst/>
            <a:cxnLst/>
            <a:rect l="l" t="t" r="r" b="b"/>
            <a:pathLst>
              <a:path w="73025">
                <a:moveTo>
                  <a:pt x="0" y="0"/>
                </a:moveTo>
                <a:lnTo>
                  <a:pt x="7289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75513" y="882129"/>
            <a:ext cx="3967479" cy="17462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50" b="1" spc="30" dirty="0">
                <a:latin typeface="Arial" panose="020B0604020202020204"/>
                <a:cs typeface="Arial" panose="020B0604020202020204"/>
              </a:rPr>
              <a:t>Структура</a:t>
            </a:r>
            <a:r>
              <a:rPr sz="75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55" dirty="0">
                <a:latin typeface="Arial" panose="020B0604020202020204"/>
                <a:cs typeface="Arial" panose="020B0604020202020204"/>
              </a:rPr>
              <a:t>документации</a:t>
            </a:r>
            <a:r>
              <a:rPr sz="75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45" dirty="0">
                <a:latin typeface="Arial" panose="020B0604020202020204"/>
                <a:cs typeface="Arial" panose="020B0604020202020204"/>
              </a:rPr>
              <a:t>на</a:t>
            </a:r>
            <a:r>
              <a:rPr sz="75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25" dirty="0">
                <a:latin typeface="Arial" panose="020B0604020202020204"/>
                <a:cs typeface="Arial" panose="020B0604020202020204"/>
              </a:rPr>
              <a:t>ПО</a:t>
            </a:r>
            <a:r>
              <a:rPr sz="75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(продолжение):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227330" indent="-135890">
              <a:lnSpc>
                <a:spcPct val="100000"/>
              </a:lnSpc>
              <a:spcBef>
                <a:spcPts val="675"/>
              </a:spcBef>
              <a:buClr>
                <a:srgbClr val="3333B2"/>
              </a:buClr>
              <a:buAutoNum type="arabicPeriod" startAt="6"/>
              <a:tabLst>
                <a:tab pos="227965" algn="l"/>
              </a:tabLst>
            </a:pP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концепция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ПО  </a:t>
            </a:r>
            <a:r>
              <a:rPr sz="750" spc="2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описание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вариантов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использования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программной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системы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227330" indent="-135890">
              <a:lnSpc>
                <a:spcPct val="100000"/>
              </a:lnSpc>
              <a:spcBef>
                <a:spcPts val="675"/>
              </a:spcBef>
              <a:buClr>
                <a:srgbClr val="3333B2"/>
              </a:buClr>
              <a:buAutoNum type="arabicPeriod" startAt="6"/>
              <a:tabLst>
                <a:tab pos="227965" algn="l"/>
              </a:tabLst>
            </a:pP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команды  </a:t>
            </a:r>
            <a:r>
              <a:rPr sz="750" spc="2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описание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команд,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поддерживаемых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системой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227330" indent="-135890">
              <a:lnSpc>
                <a:spcPct val="100000"/>
              </a:lnSpc>
              <a:spcBef>
                <a:spcPts val="680"/>
              </a:spcBef>
              <a:buClr>
                <a:srgbClr val="3333B2"/>
              </a:buClr>
              <a:buAutoNum type="arabicPeriod" startAt="6"/>
              <a:tabLst>
                <a:tab pos="227965" algn="l"/>
              </a:tabLst>
            </a:pP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выдаваемые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программой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сообщения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об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ошибках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и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способы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их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устранения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227330" indent="-135890">
              <a:lnSpc>
                <a:spcPct val="100000"/>
              </a:lnSpc>
              <a:spcBef>
                <a:spcPts val="675"/>
              </a:spcBef>
              <a:buClr>
                <a:srgbClr val="3333B2"/>
              </a:buClr>
              <a:buAutoNum type="arabicPeriod" startAt="6"/>
              <a:tabLst>
                <a:tab pos="227965" algn="l"/>
              </a:tabLst>
            </a:pP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словарь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используемых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45" dirty="0">
                <a:latin typeface="Lucida Sans Unicode" panose="020B0602030504020204"/>
                <a:cs typeface="Lucida Sans Unicode" panose="020B0602030504020204"/>
              </a:rPr>
              <a:t>в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документе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специфичных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терминов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227330" indent="-191770">
              <a:lnSpc>
                <a:spcPct val="100000"/>
              </a:lnSpc>
              <a:spcBef>
                <a:spcPts val="675"/>
              </a:spcBef>
              <a:buClr>
                <a:srgbClr val="3333B2"/>
              </a:buClr>
              <a:buAutoNum type="arabicPeriod" startAt="6"/>
              <a:tabLst>
                <a:tab pos="227965" algn="l"/>
              </a:tabLst>
            </a:pP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связанные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документы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и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информационные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ресурсы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227330" indent="-191770">
              <a:lnSpc>
                <a:spcPct val="100000"/>
              </a:lnSpc>
              <a:spcBef>
                <a:spcPts val="680"/>
              </a:spcBef>
              <a:buClr>
                <a:srgbClr val="3333B2"/>
              </a:buClr>
              <a:buAutoNum type="arabicPeriod" startAt="6"/>
              <a:tabLst>
                <a:tab pos="227965" algn="l"/>
              </a:tabLst>
            </a:pP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навигация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(особенно</a:t>
            </a: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для</a:t>
            </a: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электронных</a:t>
            </a: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документов)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227330" indent="-191770">
              <a:lnSpc>
                <a:spcPct val="100000"/>
              </a:lnSpc>
              <a:spcBef>
                <a:spcPts val="675"/>
              </a:spcBef>
              <a:buClr>
                <a:srgbClr val="3333B2"/>
              </a:buClr>
              <a:buAutoNum type="arabicPeriod" startAt="6"/>
              <a:tabLst>
                <a:tab pos="227965" algn="l"/>
              </a:tabLst>
            </a:pP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алфавитный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указатель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по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командам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227330" indent="-191770">
              <a:lnSpc>
                <a:spcPct val="100000"/>
              </a:lnSpc>
              <a:spcBef>
                <a:spcPts val="675"/>
              </a:spcBef>
              <a:buClr>
                <a:srgbClr val="3333B2"/>
              </a:buClr>
              <a:buAutoNum type="arabicPeriod" startAt="6"/>
              <a:tabLst>
                <a:tab pos="227965" algn="l"/>
              </a:tabLst>
            </a:pPr>
            <a:r>
              <a:rPr sz="750" dirty="0">
                <a:latin typeface="Lucida Sans Unicode" panose="020B0602030504020204"/>
                <a:cs typeface="Lucida Sans Unicode" panose="020B0602030504020204"/>
              </a:rPr>
              <a:t>поиск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по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содержанию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(для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электронных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документов)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0" y="3305175"/>
            <a:ext cx="4608195" cy="151130"/>
            <a:chOff x="0" y="3305175"/>
            <a:chExt cx="4608195" cy="151130"/>
          </a:xfrm>
        </p:grpSpPr>
        <p:sp>
          <p:nvSpPr>
            <p:cNvPr id="38" name="object 38"/>
            <p:cNvSpPr/>
            <p:nvPr/>
          </p:nvSpPr>
          <p:spPr>
            <a:xfrm>
              <a:off x="0" y="3305175"/>
              <a:ext cx="4608195" cy="151130"/>
            </a:xfrm>
            <a:custGeom>
              <a:avLst/>
              <a:gdLst/>
              <a:ahLst/>
              <a:cxnLst/>
              <a:rect l="l" t="t" r="r" b="b"/>
              <a:pathLst>
                <a:path w="4608195" h="151129">
                  <a:moveTo>
                    <a:pt x="4607941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4607941" y="150875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465199" y="3382390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4">
                  <a:moveTo>
                    <a:pt x="0" y="0"/>
                  </a:moveTo>
                  <a:lnTo>
                    <a:pt x="54736" y="0"/>
                  </a:lnTo>
                </a:path>
              </a:pathLst>
            </a:custGeom>
            <a:ln w="50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207128" y="3320923"/>
              <a:ext cx="364490" cy="120014"/>
            </a:xfrm>
            <a:custGeom>
              <a:avLst/>
              <a:gdLst/>
              <a:ahLst/>
              <a:cxnLst/>
              <a:rect l="l" t="t" r="r" b="b"/>
              <a:pathLst>
                <a:path w="364489" h="120014">
                  <a:moveTo>
                    <a:pt x="364363" y="0"/>
                  </a:moveTo>
                  <a:lnTo>
                    <a:pt x="0" y="0"/>
                  </a:lnTo>
                  <a:lnTo>
                    <a:pt x="0" y="119506"/>
                  </a:lnTo>
                  <a:lnTo>
                    <a:pt x="364363" y="119506"/>
                  </a:lnTo>
                  <a:lnTo>
                    <a:pt x="36436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xfrm>
            <a:off x="23749" y="3313885"/>
            <a:ext cx="2357120" cy="1047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>
                <a:sym typeface="+mn-ea"/>
              </a:rPr>
              <a:t>Программная</a:t>
            </a:r>
            <a:r>
              <a:rPr spc="-30" dirty="0">
                <a:sym typeface="+mn-ea"/>
              </a:rPr>
              <a:t> </a:t>
            </a:r>
            <a:r>
              <a:rPr spc="15" dirty="0">
                <a:sym typeface="+mn-ea"/>
              </a:rPr>
              <a:t>инженерия.</a:t>
            </a:r>
            <a:r>
              <a:rPr spc="25" dirty="0">
                <a:sym typeface="+mn-ea"/>
              </a:rPr>
              <a:t> </a:t>
            </a:r>
            <a:r>
              <a:rPr spc="10" dirty="0">
                <a:sym typeface="+mn-ea"/>
              </a:rPr>
              <a:t>Документирование</a:t>
            </a:r>
            <a:r>
              <a:rPr spc="-25" dirty="0">
                <a:sym typeface="+mn-ea"/>
              </a:rPr>
              <a:t> </a:t>
            </a:r>
            <a:r>
              <a:rPr spc="15" dirty="0">
                <a:sym typeface="+mn-ea"/>
              </a:rPr>
              <a:t>ПО</a:t>
            </a:r>
            <a:endParaRPr spc="15" dirty="0"/>
          </a:p>
        </p:txBody>
      </p:sp>
      <p:sp>
        <p:nvSpPr>
          <p:cNvPr id="42" name="object 42"/>
          <p:cNvSpPr txBox="1"/>
          <p:nvPr/>
        </p:nvSpPr>
        <p:spPr>
          <a:xfrm>
            <a:off x="4263009" y="3313885"/>
            <a:ext cx="265430" cy="12509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z="550" spc="-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</a:fld>
            <a:r>
              <a:rPr sz="550" spc="-8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-7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/</a:t>
            </a:r>
            <a:r>
              <a:rPr sz="550" spc="-8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-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26</a:t>
            </a:r>
            <a:endParaRPr sz="55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608195" cy="201295"/>
            <a:chOff x="0" y="0"/>
            <a:chExt cx="4608195" cy="20129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608195" cy="201295"/>
            </a:xfrm>
            <a:custGeom>
              <a:avLst/>
              <a:gdLst/>
              <a:ahLst/>
              <a:cxnLst/>
              <a:rect l="l" t="t" r="r" b="b"/>
              <a:pathLst>
                <a:path w="4608195" h="201295">
                  <a:moveTo>
                    <a:pt x="4607941" y="0"/>
                  </a:moveTo>
                  <a:lnTo>
                    <a:pt x="0" y="0"/>
                  </a:lnTo>
                  <a:lnTo>
                    <a:pt x="0" y="200914"/>
                  </a:lnTo>
                  <a:lnTo>
                    <a:pt x="4607941" y="200914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06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659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9265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286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6466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0949" y="0"/>
                  </a:moveTo>
                  <a:lnTo>
                    <a:pt x="6042" y="0"/>
                  </a:lnTo>
                  <a:lnTo>
                    <a:pt x="0" y="6042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6042"/>
                  </a:lnTo>
                  <a:lnTo>
                    <a:pt x="209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6466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0060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365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95250" y="13017"/>
            <a:ext cx="69405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Общие</a:t>
            </a:r>
            <a:r>
              <a:rPr sz="650" spc="-3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понятия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61642" y="145981"/>
            <a:ext cx="464184" cy="32384"/>
            <a:chOff x="1961642" y="145981"/>
            <a:chExt cx="464184" cy="32384"/>
          </a:xfrm>
        </p:grpSpPr>
        <p:sp>
          <p:nvSpPr>
            <p:cNvPr id="14" name="object 14"/>
            <p:cNvSpPr/>
            <p:nvPr/>
          </p:nvSpPr>
          <p:spPr>
            <a:xfrm>
              <a:off x="19641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0002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0361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07213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1082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1441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1800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2161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2520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28815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3241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3600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39610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938908" y="13017"/>
            <a:ext cx="87947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Виды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990730" y="145991"/>
            <a:ext cx="104139" cy="32384"/>
            <a:chOff x="3990730" y="145991"/>
            <a:chExt cx="104139" cy="32384"/>
          </a:xfrm>
        </p:grpSpPr>
        <p:sp>
          <p:nvSpPr>
            <p:cNvPr id="29" name="object 29"/>
            <p:cNvSpPr/>
            <p:nvPr/>
          </p:nvSpPr>
          <p:spPr>
            <a:xfrm>
              <a:off x="399326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02932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06526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3967988" y="13017"/>
            <a:ext cx="54546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Заключение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847" y="269964"/>
            <a:ext cx="139700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Стиль</a:t>
            </a:r>
            <a:r>
              <a:rPr sz="1050" spc="-6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2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10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42950" y="894590"/>
            <a:ext cx="4049395" cy="1715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020" marR="304800" indent="-122555">
              <a:lnSpc>
                <a:spcPct val="142000"/>
              </a:lnSpc>
              <a:spcBef>
                <a:spcPts val="9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72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Предпочтительно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использование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английского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языка,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45" dirty="0">
                <a:latin typeface="Lucida Sans Unicode" panose="020B0602030504020204"/>
                <a:cs typeface="Lucida Sans Unicode" panose="020B0602030504020204"/>
              </a:rPr>
              <a:t>в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т.</a:t>
            </a:r>
            <a:r>
              <a:rPr sz="750" spc="-11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ч.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из-за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проблем </a:t>
            </a:r>
            <a:r>
              <a:rPr sz="750" spc="-2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перевода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терминов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38100">
              <a:lnSpc>
                <a:spcPct val="100000"/>
              </a:lnSpc>
              <a:spcBef>
                <a:spcPts val="67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65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проверка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грамматики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(присутствует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45" dirty="0">
                <a:latin typeface="Lucida Sans Unicode" panose="020B0602030504020204"/>
                <a:cs typeface="Lucida Sans Unicode" panose="020B0602030504020204"/>
              </a:rPr>
              <a:t>в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современных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средах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разработки)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38100">
              <a:lnSpc>
                <a:spcPct val="100000"/>
              </a:lnSpc>
              <a:spcBef>
                <a:spcPts val="680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65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короткие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и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ясные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предложения;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короткие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абзацы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(не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более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7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предложений)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38100">
              <a:lnSpc>
                <a:spcPct val="100000"/>
              </a:lnSpc>
              <a:spcBef>
                <a:spcPts val="67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57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четкие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определения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для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используемых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терминов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60020" marR="30480" indent="-122555">
              <a:lnSpc>
                <a:spcPct val="142000"/>
              </a:lnSpc>
              <a:spcBef>
                <a:spcPts val="300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нумерованные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и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ненумерованные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списки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для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перечислений,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выделение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текста </a:t>
            </a:r>
            <a:r>
              <a:rPr sz="75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(курсив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или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полужирное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начертание)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38100">
              <a:lnSpc>
                <a:spcPct val="100000"/>
              </a:lnSpc>
              <a:spcBef>
                <a:spcPts val="67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50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заголовки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и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подзаголовки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для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фрагментации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информации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38100">
              <a:lnSpc>
                <a:spcPct val="100000"/>
              </a:lnSpc>
              <a:spcBef>
                <a:spcPts val="680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42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иллюстрации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и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таблицы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для</a:t>
            </a:r>
            <a:r>
              <a:rPr sz="750" spc="-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наглядности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0" y="3305175"/>
            <a:ext cx="4608195" cy="151130"/>
            <a:chOff x="0" y="3305175"/>
            <a:chExt cx="4608195" cy="151130"/>
          </a:xfrm>
        </p:grpSpPr>
        <p:sp>
          <p:nvSpPr>
            <p:cNvPr id="36" name="object 36"/>
            <p:cNvSpPr/>
            <p:nvPr/>
          </p:nvSpPr>
          <p:spPr>
            <a:xfrm>
              <a:off x="0" y="3305175"/>
              <a:ext cx="4608195" cy="151130"/>
            </a:xfrm>
            <a:custGeom>
              <a:avLst/>
              <a:gdLst/>
              <a:ahLst/>
              <a:cxnLst/>
              <a:rect l="l" t="t" r="r" b="b"/>
              <a:pathLst>
                <a:path w="4608195" h="151129">
                  <a:moveTo>
                    <a:pt x="4607941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4607941" y="150875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465199" y="3382390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4">
                  <a:moveTo>
                    <a:pt x="0" y="0"/>
                  </a:moveTo>
                  <a:lnTo>
                    <a:pt x="54736" y="0"/>
                  </a:lnTo>
                </a:path>
              </a:pathLst>
            </a:custGeom>
            <a:ln w="50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207128" y="3320923"/>
              <a:ext cx="364490" cy="120014"/>
            </a:xfrm>
            <a:custGeom>
              <a:avLst/>
              <a:gdLst/>
              <a:ahLst/>
              <a:cxnLst/>
              <a:rect l="l" t="t" r="r" b="b"/>
              <a:pathLst>
                <a:path w="364489" h="120014">
                  <a:moveTo>
                    <a:pt x="364363" y="0"/>
                  </a:moveTo>
                  <a:lnTo>
                    <a:pt x="0" y="0"/>
                  </a:lnTo>
                  <a:lnTo>
                    <a:pt x="0" y="119506"/>
                  </a:lnTo>
                  <a:lnTo>
                    <a:pt x="364363" y="119506"/>
                  </a:lnTo>
                  <a:lnTo>
                    <a:pt x="36436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xfrm>
            <a:off x="23749" y="3313885"/>
            <a:ext cx="2357120" cy="1047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>
                <a:sym typeface="+mn-ea"/>
              </a:rPr>
              <a:t>Программная</a:t>
            </a:r>
            <a:r>
              <a:rPr spc="-30" dirty="0">
                <a:sym typeface="+mn-ea"/>
              </a:rPr>
              <a:t> </a:t>
            </a:r>
            <a:r>
              <a:rPr spc="15" dirty="0">
                <a:sym typeface="+mn-ea"/>
              </a:rPr>
              <a:t>инженерия.</a:t>
            </a:r>
            <a:r>
              <a:rPr spc="25" dirty="0">
                <a:sym typeface="+mn-ea"/>
              </a:rPr>
              <a:t> </a:t>
            </a:r>
            <a:r>
              <a:rPr spc="10" dirty="0">
                <a:sym typeface="+mn-ea"/>
              </a:rPr>
              <a:t>Документирование</a:t>
            </a:r>
            <a:r>
              <a:rPr spc="-25" dirty="0">
                <a:sym typeface="+mn-ea"/>
              </a:rPr>
              <a:t> </a:t>
            </a:r>
            <a:r>
              <a:rPr spc="15" dirty="0">
                <a:sym typeface="+mn-ea"/>
              </a:rPr>
              <a:t>ПО</a:t>
            </a:r>
            <a:endParaRPr spc="15" dirty="0"/>
          </a:p>
        </p:txBody>
      </p:sp>
      <p:sp>
        <p:nvSpPr>
          <p:cNvPr id="40" name="object 40"/>
          <p:cNvSpPr txBox="1"/>
          <p:nvPr/>
        </p:nvSpPr>
        <p:spPr>
          <a:xfrm>
            <a:off x="4263009" y="3313885"/>
            <a:ext cx="265430" cy="12509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z="550" spc="-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</a:fld>
            <a:r>
              <a:rPr sz="550" spc="-8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-7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/</a:t>
            </a:r>
            <a:r>
              <a:rPr sz="550" spc="-8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-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26</a:t>
            </a:r>
            <a:endParaRPr sz="55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608195" cy="201295"/>
            <a:chOff x="0" y="0"/>
            <a:chExt cx="4608195" cy="20129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608195" cy="201295"/>
            </a:xfrm>
            <a:custGeom>
              <a:avLst/>
              <a:gdLst/>
              <a:ahLst/>
              <a:cxnLst/>
              <a:rect l="l" t="t" r="r" b="b"/>
              <a:pathLst>
                <a:path w="4608195" h="201295">
                  <a:moveTo>
                    <a:pt x="4607941" y="0"/>
                  </a:moveTo>
                  <a:lnTo>
                    <a:pt x="0" y="0"/>
                  </a:lnTo>
                  <a:lnTo>
                    <a:pt x="0" y="200914"/>
                  </a:lnTo>
                  <a:lnTo>
                    <a:pt x="4607941" y="200914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06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659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9265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286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6466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0060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0949" y="0"/>
                  </a:moveTo>
                  <a:lnTo>
                    <a:pt x="6042" y="0"/>
                  </a:lnTo>
                  <a:lnTo>
                    <a:pt x="0" y="6042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6042"/>
                  </a:lnTo>
                  <a:lnTo>
                    <a:pt x="209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0060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365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95250" y="13017"/>
            <a:ext cx="69405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Общие</a:t>
            </a:r>
            <a:r>
              <a:rPr sz="650" spc="-3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понятия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61642" y="145981"/>
            <a:ext cx="464184" cy="32384"/>
            <a:chOff x="1961642" y="145981"/>
            <a:chExt cx="464184" cy="32384"/>
          </a:xfrm>
        </p:grpSpPr>
        <p:sp>
          <p:nvSpPr>
            <p:cNvPr id="14" name="object 14"/>
            <p:cNvSpPr/>
            <p:nvPr/>
          </p:nvSpPr>
          <p:spPr>
            <a:xfrm>
              <a:off x="19641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0002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0361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07213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1082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1441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1800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2161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2520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28815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3241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3600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39610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938908" y="13017"/>
            <a:ext cx="87947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Виды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990730" y="145991"/>
            <a:ext cx="104139" cy="32384"/>
            <a:chOff x="3990730" y="145991"/>
            <a:chExt cx="104139" cy="32384"/>
          </a:xfrm>
        </p:grpSpPr>
        <p:sp>
          <p:nvSpPr>
            <p:cNvPr id="29" name="object 29"/>
            <p:cNvSpPr/>
            <p:nvPr/>
          </p:nvSpPr>
          <p:spPr>
            <a:xfrm>
              <a:off x="399326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02932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06526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3967988" y="13017"/>
            <a:ext cx="54546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Заключение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847" y="269964"/>
            <a:ext cx="161798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1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Формат</a:t>
            </a:r>
            <a:r>
              <a:rPr sz="1050" spc="2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ы</a:t>
            </a:r>
            <a:r>
              <a:rPr sz="1050" spc="-6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2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10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30250" y="888733"/>
            <a:ext cx="4241165" cy="173418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57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b="1" spc="35" dirty="0">
                <a:latin typeface="Arial" panose="020B0604020202020204"/>
                <a:cs typeface="Arial" panose="020B0604020202020204"/>
              </a:rPr>
              <a:t>Печатная</a:t>
            </a:r>
            <a:r>
              <a:rPr sz="75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40" dirty="0">
                <a:latin typeface="Arial" panose="020B0604020202020204"/>
                <a:cs typeface="Arial" panose="020B0604020202020204"/>
              </a:rPr>
              <a:t>документация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50800">
              <a:lnSpc>
                <a:spcPct val="100000"/>
              </a:lnSpc>
              <a:spcBef>
                <a:spcPts val="88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34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b="1" spc="35" dirty="0">
                <a:latin typeface="Arial" panose="020B0604020202020204"/>
                <a:cs typeface="Arial" panose="020B0604020202020204"/>
              </a:rPr>
              <a:t>Электронная</a:t>
            </a:r>
            <a:r>
              <a:rPr sz="75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40" dirty="0">
                <a:latin typeface="Arial" panose="020B0604020202020204"/>
                <a:cs typeface="Arial" panose="020B0604020202020204"/>
              </a:rPr>
              <a:t>документация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265430">
              <a:lnSpc>
                <a:spcPct val="100000"/>
              </a:lnSpc>
              <a:spcBef>
                <a:spcPts val="475"/>
              </a:spcBef>
            </a:pPr>
            <a:r>
              <a:rPr sz="750" spc="179" baseline="17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57" baseline="17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650" spc="15" dirty="0">
                <a:latin typeface="Lucida Sans Unicode" panose="020B0602030504020204"/>
                <a:cs typeface="Lucida Sans Unicode" panose="020B0602030504020204"/>
              </a:rPr>
              <a:t>локальные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latin typeface="Lucida Sans Unicode" panose="020B0602030504020204"/>
                <a:cs typeface="Lucida Sans Unicode" panose="020B0602030504020204"/>
              </a:rPr>
              <a:t>файлы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-5" dirty="0">
                <a:latin typeface="Lucida Sans Unicode" panose="020B0602030504020204"/>
                <a:cs typeface="Lucida Sans Unicode" panose="020B0602030504020204"/>
              </a:rPr>
              <a:t>(plain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-15" dirty="0">
                <a:latin typeface="Lucida Sans Unicode" panose="020B0602030504020204"/>
                <a:cs typeface="Lucida Sans Unicode" panose="020B0602030504020204"/>
              </a:rPr>
              <a:t>text,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dirty="0">
                <a:latin typeface="Lucida Sans Unicode" panose="020B0602030504020204"/>
                <a:cs typeface="Lucida Sans Unicode" panose="020B0602030504020204"/>
              </a:rPr>
              <a:t>Markdown,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-5" dirty="0">
                <a:latin typeface="Lucida Sans Unicode" panose="020B0602030504020204"/>
                <a:cs typeface="Lucida Sans Unicode" panose="020B0602030504020204"/>
              </a:rPr>
              <a:t>HTML,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dirty="0">
                <a:latin typeface="Lucida Sans Unicode" panose="020B0602030504020204"/>
                <a:cs typeface="Lucida Sans Unicode" panose="020B0602030504020204"/>
              </a:rPr>
              <a:t>PDF,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-55" dirty="0">
                <a:latin typeface="Lucida Sans Unicode" panose="020B0602030504020204"/>
                <a:cs typeface="Lucida Sans Unicode" panose="020B0602030504020204"/>
              </a:rPr>
              <a:t>…);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750" spc="179" baseline="17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65" baseline="17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650" spc="10" dirty="0">
                <a:latin typeface="Lucida Sans Unicode" panose="020B0602030504020204"/>
                <a:cs typeface="Lucida Sans Unicode" panose="020B0602030504020204"/>
              </a:rPr>
              <a:t>интегрируемая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40" dirty="0">
                <a:latin typeface="Lucida Sans Unicode" panose="020B0602030504020204"/>
                <a:cs typeface="Lucida Sans Unicode" panose="020B0602030504020204"/>
              </a:rPr>
              <a:t>в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10" dirty="0">
                <a:latin typeface="Lucida Sans Unicode" panose="020B0602030504020204"/>
                <a:cs typeface="Lucida Sans Unicode" panose="020B0602030504020204"/>
              </a:rPr>
              <a:t>общесистемную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15" dirty="0">
                <a:latin typeface="Lucida Sans Unicode" panose="020B0602030504020204"/>
                <a:cs typeface="Lucida Sans Unicode" panose="020B0602030504020204"/>
              </a:rPr>
              <a:t>справочную</a:t>
            </a:r>
            <a:r>
              <a:rPr sz="6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latin typeface="Lucida Sans Unicode" panose="020B0602030504020204"/>
                <a:cs typeface="Lucida Sans Unicode" panose="020B0602030504020204"/>
              </a:rPr>
              <a:t>систему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dirty="0">
                <a:latin typeface="Lucida Sans Unicode" panose="020B0602030504020204"/>
                <a:cs typeface="Lucida Sans Unicode" panose="020B0602030504020204"/>
              </a:rPr>
              <a:t>(man,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-10" dirty="0">
                <a:latin typeface="Lucida Sans Unicode" panose="020B0602030504020204"/>
                <a:cs typeface="Lucida Sans Unicode" panose="020B0602030504020204"/>
              </a:rPr>
              <a:t>info,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-55" dirty="0">
                <a:latin typeface="Lucida Sans Unicode" panose="020B0602030504020204"/>
                <a:cs typeface="Lucida Sans Unicode" panose="020B0602030504020204"/>
              </a:rPr>
              <a:t>…);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  <a:p>
            <a:pPr marL="387985" marR="297815" indent="-122555">
              <a:lnSpc>
                <a:spcPct val="138000"/>
              </a:lnSpc>
            </a:pPr>
            <a:r>
              <a:rPr sz="750" spc="179" baseline="17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57" baseline="17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650" spc="10" dirty="0">
                <a:latin typeface="Lucida Sans Unicode" panose="020B0602030504020204"/>
                <a:cs typeface="Lucida Sans Unicode" panose="020B0602030504020204"/>
              </a:rPr>
              <a:t>интегрируемая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40" dirty="0">
                <a:latin typeface="Lucida Sans Unicode" panose="020B0602030504020204"/>
                <a:cs typeface="Lucida Sans Unicode" panose="020B0602030504020204"/>
              </a:rPr>
              <a:t>в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-10" dirty="0">
                <a:latin typeface="Lucida Sans Unicode" panose="020B0602030504020204"/>
                <a:cs typeface="Lucida Sans Unicode" panose="020B0602030504020204"/>
              </a:rPr>
              <a:t>среду</a:t>
            </a:r>
            <a:r>
              <a:rPr sz="6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latin typeface="Lucida Sans Unicode" panose="020B0602030504020204"/>
                <a:cs typeface="Lucida Sans Unicode" panose="020B0602030504020204"/>
              </a:rPr>
              <a:t>разработки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-5" dirty="0">
                <a:latin typeface="Lucida Sans Unicode" panose="020B0602030504020204"/>
                <a:cs typeface="Lucida Sans Unicode" panose="020B0602030504020204"/>
              </a:rPr>
              <a:t>(напр.,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dirty="0">
                <a:latin typeface="Lucida Sans Unicode" panose="020B0602030504020204"/>
                <a:cs typeface="Lucida Sans Unicode" panose="020B0602030504020204"/>
              </a:rPr>
              <a:t>исходные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-10" dirty="0">
                <a:latin typeface="Lucida Sans Unicode" panose="020B0602030504020204"/>
                <a:cs typeface="Lucida Sans Unicode" panose="020B0602030504020204"/>
              </a:rPr>
              <a:t>Java-файлы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15" dirty="0">
                <a:latin typeface="Lucida Sans Unicode" panose="020B0602030504020204"/>
                <a:cs typeface="Lucida Sans Unicode" panose="020B0602030504020204"/>
              </a:rPr>
              <a:t>или</a:t>
            </a:r>
            <a:r>
              <a:rPr sz="6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-5" dirty="0">
                <a:latin typeface="Lucida Sans Unicode" panose="020B0602030504020204"/>
                <a:cs typeface="Lucida Sans Unicode" panose="020B0602030504020204"/>
              </a:rPr>
              <a:t>javadoc-архивы </a:t>
            </a:r>
            <a:r>
              <a:rPr sz="65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10" dirty="0">
                <a:latin typeface="Lucida Sans Unicode" panose="020B0602030504020204"/>
                <a:cs typeface="Lucida Sans Unicode" panose="020B0602030504020204"/>
              </a:rPr>
              <a:t>при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dirty="0">
                <a:latin typeface="Lucida Sans Unicode" panose="020B0602030504020204"/>
                <a:cs typeface="Lucida Sans Unicode" panose="020B0602030504020204"/>
              </a:rPr>
              <a:t>разработке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15" dirty="0">
                <a:latin typeface="Lucida Sans Unicode" panose="020B0602030504020204"/>
                <a:cs typeface="Lucida Sans Unicode" panose="020B0602030504020204"/>
              </a:rPr>
              <a:t>на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dirty="0">
                <a:latin typeface="Lucida Sans Unicode" panose="020B0602030504020204"/>
                <a:cs typeface="Lucida Sans Unicode" panose="020B0602030504020204"/>
              </a:rPr>
              <a:t>Java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40" dirty="0">
                <a:latin typeface="Lucida Sans Unicode" panose="020B0602030504020204"/>
                <a:cs typeface="Lucida Sans Unicode" panose="020B0602030504020204"/>
              </a:rPr>
              <a:t>в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-15" dirty="0">
                <a:latin typeface="Lucida Sans Unicode" panose="020B0602030504020204"/>
                <a:cs typeface="Lucida Sans Unicode" panose="020B0602030504020204"/>
              </a:rPr>
              <a:t>Eclipse).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700">
              <a:latin typeface="Lucida Sans Unicode" panose="020B0602030504020204"/>
              <a:cs typeface="Lucida Sans Unicode" panose="020B0602030504020204"/>
            </a:endParaRPr>
          </a:p>
          <a:p>
            <a:pPr marL="50800">
              <a:lnSpc>
                <a:spcPct val="100000"/>
              </a:lnSpc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27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b="1" spc="40" dirty="0">
                <a:latin typeface="Arial" panose="020B0604020202020204"/>
                <a:cs typeface="Arial" panose="020B0604020202020204"/>
              </a:rPr>
              <a:t>Онлайн-документация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387985" marR="43180" indent="-122555">
              <a:lnSpc>
                <a:spcPct val="138000"/>
              </a:lnSpc>
              <a:spcBef>
                <a:spcPts val="180"/>
              </a:spcBef>
            </a:pPr>
            <a:r>
              <a:rPr sz="750" spc="179" baseline="17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87" baseline="17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650" spc="10" dirty="0">
                <a:latin typeface="Lucida Sans Unicode" panose="020B0602030504020204"/>
                <a:cs typeface="Lucida Sans Unicode" panose="020B0602030504020204"/>
              </a:rPr>
              <a:t>поддерживаемая</a:t>
            </a:r>
            <a:r>
              <a:rPr sz="6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10" dirty="0">
                <a:latin typeface="Lucida Sans Unicode" panose="020B0602030504020204"/>
                <a:cs typeface="Lucida Sans Unicode" panose="020B0602030504020204"/>
              </a:rPr>
              <a:t>разработчиком</a:t>
            </a:r>
            <a:r>
              <a:rPr sz="6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dirty="0">
                <a:latin typeface="Lucida Sans Unicode" panose="020B0602030504020204"/>
                <a:cs typeface="Lucida Sans Unicode" panose="020B0602030504020204"/>
              </a:rPr>
              <a:t>(руководство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latin typeface="Lucida Sans Unicode" panose="020B0602030504020204"/>
                <a:cs typeface="Lucida Sans Unicode" panose="020B0602030504020204"/>
              </a:rPr>
              <a:t>по</a:t>
            </a:r>
            <a:r>
              <a:rPr sz="6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latin typeface="Lucida Sans Unicode" panose="020B0602030504020204"/>
                <a:cs typeface="Lucida Sans Unicode" panose="020B0602030504020204"/>
              </a:rPr>
              <a:t>установке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-95" dirty="0">
                <a:latin typeface="Lucida Sans Unicode" panose="020B0602030504020204"/>
                <a:cs typeface="Lucida Sans Unicode" panose="020B0602030504020204"/>
              </a:rPr>
              <a:t>/</a:t>
            </a:r>
            <a:r>
              <a:rPr sz="650" spc="-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dirty="0">
                <a:latin typeface="Lucida Sans Unicode" panose="020B0602030504020204"/>
                <a:cs typeface="Lucida Sans Unicode" panose="020B0602030504020204"/>
              </a:rPr>
              <a:t>Getting</a:t>
            </a:r>
            <a:r>
              <a:rPr sz="6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dirty="0">
                <a:latin typeface="Lucida Sans Unicode" panose="020B0602030504020204"/>
                <a:cs typeface="Lucida Sans Unicode" panose="020B0602030504020204"/>
              </a:rPr>
              <a:t>started</a:t>
            </a:r>
            <a:r>
              <a:rPr sz="6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-95" dirty="0">
                <a:latin typeface="Lucida Sans Unicode" panose="020B0602030504020204"/>
                <a:cs typeface="Lucida Sans Unicode" panose="020B0602030504020204"/>
              </a:rPr>
              <a:t>/</a:t>
            </a:r>
            <a:r>
              <a:rPr sz="6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latin typeface="Lucida Sans Unicode" panose="020B0602030504020204"/>
                <a:cs typeface="Lucida Sans Unicode" panose="020B0602030504020204"/>
              </a:rPr>
              <a:t>справочные </a:t>
            </a:r>
            <a:r>
              <a:rPr sz="65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dirty="0">
                <a:latin typeface="Lucida Sans Unicode" panose="020B0602030504020204"/>
                <a:cs typeface="Lucida Sans Unicode" panose="020B0602030504020204"/>
              </a:rPr>
              <a:t>руководства,</a:t>
            </a:r>
            <a:r>
              <a:rPr sz="6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-55" dirty="0">
                <a:latin typeface="Lucida Sans Unicode" panose="020B0602030504020204"/>
                <a:cs typeface="Lucida Sans Unicode" panose="020B0602030504020204"/>
              </a:rPr>
              <a:t>…);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  <a:p>
            <a:pPr marL="387985" marR="508635" indent="-122555">
              <a:lnSpc>
                <a:spcPct val="138000"/>
              </a:lnSpc>
            </a:pPr>
            <a:r>
              <a:rPr sz="750" spc="179" baseline="17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80" baseline="17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650" spc="25" dirty="0">
                <a:latin typeface="Lucida Sans Unicode" panose="020B0602030504020204"/>
                <a:cs typeface="Lucida Sans Unicode" panose="020B0602030504020204"/>
              </a:rPr>
              <a:t>Web</a:t>
            </a:r>
            <a:r>
              <a:rPr sz="650" spc="-15" dirty="0">
                <a:latin typeface="Lucida Sans Unicode" panose="020B0602030504020204"/>
                <a:cs typeface="Lucida Sans Unicode" panose="020B0602030504020204"/>
              </a:rPr>
              <a:t>-документация,</a:t>
            </a:r>
            <a:r>
              <a:rPr sz="6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10" dirty="0">
                <a:latin typeface="Lucida Sans Unicode" panose="020B0602030504020204"/>
                <a:cs typeface="Lucida Sans Unicode" panose="020B0602030504020204"/>
              </a:rPr>
              <a:t>поддерживаемая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latin typeface="Lucida Sans Unicode" panose="020B0602030504020204"/>
                <a:cs typeface="Lucida Sans Unicode" panose="020B0602030504020204"/>
              </a:rPr>
              <a:t>пользователями</a:t>
            </a:r>
            <a:r>
              <a:rPr sz="6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-15" dirty="0">
                <a:latin typeface="Lucida Sans Unicode" panose="020B0602030504020204"/>
                <a:cs typeface="Lucida Sans Unicode" panose="020B0602030504020204"/>
              </a:rPr>
              <a:t>(wiki,</a:t>
            </a:r>
            <a:r>
              <a:rPr sz="6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-10" dirty="0">
                <a:latin typeface="Lucida Sans Unicode" panose="020B0602030504020204"/>
                <a:cs typeface="Lucida Sans Unicode" panose="020B0602030504020204"/>
              </a:rPr>
              <a:t>блоги,</a:t>
            </a:r>
            <a:r>
              <a:rPr sz="6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10" dirty="0">
                <a:latin typeface="Lucida Sans Unicode" panose="020B0602030504020204"/>
                <a:cs typeface="Lucida Sans Unicode" panose="020B0602030504020204"/>
              </a:rPr>
              <a:t>вопросы </a:t>
            </a:r>
            <a:r>
              <a:rPr sz="65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15" dirty="0">
                <a:latin typeface="Lucida Sans Unicode" panose="020B0602030504020204"/>
                <a:cs typeface="Lucida Sans Unicode" panose="020B0602030504020204"/>
              </a:rPr>
              <a:t>на</a:t>
            </a:r>
            <a:r>
              <a:rPr sz="6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u="dash" spc="-5" dirty="0">
                <a:solidFill>
                  <a:srgbClr val="B2B2FF"/>
                </a:solidFill>
                <a:uFill>
                  <a:solidFill>
                    <a:srgbClr val="B2B2FF"/>
                  </a:solidFill>
                </a:uFill>
                <a:latin typeface="Lucida Sans Unicode" panose="020B0602030504020204"/>
                <a:cs typeface="Lucida Sans Unicode" panose="020B0602030504020204"/>
                <a:hlinkClick r:id="rId1"/>
              </a:rPr>
              <a:t>stackoverflow</a:t>
            </a:r>
            <a:r>
              <a:rPr sz="650" spc="-5" dirty="0">
                <a:latin typeface="Lucida Sans Unicode" panose="020B0602030504020204"/>
                <a:cs typeface="Lucida Sans Unicode" panose="020B0602030504020204"/>
              </a:rPr>
              <a:t>,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-70" dirty="0">
                <a:latin typeface="Lucida Sans Unicode" panose="020B0602030504020204"/>
                <a:cs typeface="Lucida Sans Unicode" panose="020B0602030504020204"/>
              </a:rPr>
              <a:t>…)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0" y="3305175"/>
            <a:ext cx="4608195" cy="151130"/>
            <a:chOff x="0" y="3305175"/>
            <a:chExt cx="4608195" cy="151130"/>
          </a:xfrm>
        </p:grpSpPr>
        <p:sp>
          <p:nvSpPr>
            <p:cNvPr id="36" name="object 36"/>
            <p:cNvSpPr/>
            <p:nvPr/>
          </p:nvSpPr>
          <p:spPr>
            <a:xfrm>
              <a:off x="0" y="3305175"/>
              <a:ext cx="4608195" cy="151130"/>
            </a:xfrm>
            <a:custGeom>
              <a:avLst/>
              <a:gdLst/>
              <a:ahLst/>
              <a:cxnLst/>
              <a:rect l="l" t="t" r="r" b="b"/>
              <a:pathLst>
                <a:path w="4608195" h="151129">
                  <a:moveTo>
                    <a:pt x="4607941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4607941" y="150875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465199" y="3382390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4">
                  <a:moveTo>
                    <a:pt x="0" y="0"/>
                  </a:moveTo>
                  <a:lnTo>
                    <a:pt x="54736" y="0"/>
                  </a:lnTo>
                </a:path>
              </a:pathLst>
            </a:custGeom>
            <a:ln w="50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207128" y="3320923"/>
              <a:ext cx="364490" cy="120014"/>
            </a:xfrm>
            <a:custGeom>
              <a:avLst/>
              <a:gdLst/>
              <a:ahLst/>
              <a:cxnLst/>
              <a:rect l="l" t="t" r="r" b="b"/>
              <a:pathLst>
                <a:path w="364489" h="120014">
                  <a:moveTo>
                    <a:pt x="364363" y="0"/>
                  </a:moveTo>
                  <a:lnTo>
                    <a:pt x="0" y="0"/>
                  </a:lnTo>
                  <a:lnTo>
                    <a:pt x="0" y="119506"/>
                  </a:lnTo>
                  <a:lnTo>
                    <a:pt x="364363" y="119506"/>
                  </a:lnTo>
                  <a:lnTo>
                    <a:pt x="36436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xfrm>
            <a:off x="23749" y="3313885"/>
            <a:ext cx="2357120" cy="1047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>
                <a:sym typeface="+mn-ea"/>
              </a:rPr>
              <a:t>Программная</a:t>
            </a:r>
            <a:r>
              <a:rPr spc="-30" dirty="0">
                <a:sym typeface="+mn-ea"/>
              </a:rPr>
              <a:t> </a:t>
            </a:r>
            <a:r>
              <a:rPr spc="15" dirty="0">
                <a:sym typeface="+mn-ea"/>
              </a:rPr>
              <a:t>инженерия.</a:t>
            </a:r>
            <a:r>
              <a:rPr spc="25" dirty="0">
                <a:sym typeface="+mn-ea"/>
              </a:rPr>
              <a:t> </a:t>
            </a:r>
            <a:r>
              <a:rPr spc="10" dirty="0">
                <a:sym typeface="+mn-ea"/>
              </a:rPr>
              <a:t>Документирование</a:t>
            </a:r>
            <a:r>
              <a:rPr spc="-25" dirty="0">
                <a:sym typeface="+mn-ea"/>
              </a:rPr>
              <a:t> </a:t>
            </a:r>
            <a:r>
              <a:rPr spc="15" dirty="0">
                <a:sym typeface="+mn-ea"/>
              </a:rPr>
              <a:t>ПО</a:t>
            </a:r>
            <a:endParaRPr spc="15" dirty="0"/>
          </a:p>
        </p:txBody>
      </p:sp>
      <p:sp>
        <p:nvSpPr>
          <p:cNvPr id="40" name="object 40"/>
          <p:cNvSpPr txBox="1"/>
          <p:nvPr/>
        </p:nvSpPr>
        <p:spPr>
          <a:xfrm>
            <a:off x="4263009" y="3313885"/>
            <a:ext cx="265430" cy="12509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z="550" spc="-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</a:fld>
            <a:r>
              <a:rPr sz="550" spc="-8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-7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/</a:t>
            </a:r>
            <a:r>
              <a:rPr sz="550" spc="-8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-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26</a:t>
            </a:r>
            <a:endParaRPr sz="55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608195" cy="201295"/>
            <a:chOff x="0" y="0"/>
            <a:chExt cx="4608195" cy="20129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608195" cy="201295"/>
            </a:xfrm>
            <a:custGeom>
              <a:avLst/>
              <a:gdLst/>
              <a:ahLst/>
              <a:cxnLst/>
              <a:rect l="l" t="t" r="r" b="b"/>
              <a:pathLst>
                <a:path w="4608195" h="201295">
                  <a:moveTo>
                    <a:pt x="4607941" y="0"/>
                  </a:moveTo>
                  <a:lnTo>
                    <a:pt x="0" y="0"/>
                  </a:lnTo>
                  <a:lnTo>
                    <a:pt x="0" y="200914"/>
                  </a:lnTo>
                  <a:lnTo>
                    <a:pt x="4607941" y="200914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06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659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9265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286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6466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0060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365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0949" y="0"/>
                  </a:moveTo>
                  <a:lnTo>
                    <a:pt x="6042" y="0"/>
                  </a:lnTo>
                  <a:lnTo>
                    <a:pt x="0" y="6042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6042"/>
                  </a:lnTo>
                  <a:lnTo>
                    <a:pt x="209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365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95250" y="13017"/>
            <a:ext cx="69405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Общие</a:t>
            </a:r>
            <a:r>
              <a:rPr sz="650" spc="-3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понятия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61642" y="145981"/>
            <a:ext cx="464184" cy="32384"/>
            <a:chOff x="1961642" y="145981"/>
            <a:chExt cx="464184" cy="32384"/>
          </a:xfrm>
        </p:grpSpPr>
        <p:sp>
          <p:nvSpPr>
            <p:cNvPr id="14" name="object 14"/>
            <p:cNvSpPr/>
            <p:nvPr/>
          </p:nvSpPr>
          <p:spPr>
            <a:xfrm>
              <a:off x="19641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0002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0361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07213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1082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1441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1800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2161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2520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28815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3241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3600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39610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938908" y="13017"/>
            <a:ext cx="87947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Виды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990730" y="145991"/>
            <a:ext cx="104139" cy="32384"/>
            <a:chOff x="3990730" y="145991"/>
            <a:chExt cx="104139" cy="32384"/>
          </a:xfrm>
        </p:grpSpPr>
        <p:sp>
          <p:nvSpPr>
            <p:cNvPr id="29" name="object 29"/>
            <p:cNvSpPr/>
            <p:nvPr/>
          </p:nvSpPr>
          <p:spPr>
            <a:xfrm>
              <a:off x="399326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02932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06526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3967988" y="13017"/>
            <a:ext cx="54546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Заключение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847" y="269964"/>
            <a:ext cx="151638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2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Онлайн-документация</a:t>
            </a:r>
            <a:endParaRPr sz="10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0113" y="731507"/>
            <a:ext cx="4182110" cy="20948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750" b="1" spc="35" dirty="0">
                <a:latin typeface="Arial" panose="020B0604020202020204"/>
                <a:cs typeface="Arial" panose="020B0604020202020204"/>
              </a:rPr>
              <a:t>Преимущества: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30810">
              <a:lnSpc>
                <a:spcPct val="100000"/>
              </a:lnSpc>
              <a:spcBef>
                <a:spcPts val="67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72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доступность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для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потребителей,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актуальность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252730" marR="30480" indent="-122555">
              <a:lnSpc>
                <a:spcPct val="142000"/>
              </a:lnSpc>
              <a:spcBef>
                <a:spcPts val="300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502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гипертекстовая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связанность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45" dirty="0">
                <a:latin typeface="Lucida Sans Unicode" panose="020B0602030504020204"/>
                <a:cs typeface="Lucida Sans Unicode" panose="020B0602030504020204"/>
              </a:rPr>
              <a:t>в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пределах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и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с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другими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источниками </a:t>
            </a:r>
            <a:r>
              <a:rPr sz="75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информации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30810">
              <a:lnSpc>
                <a:spcPct val="100000"/>
              </a:lnSpc>
              <a:spcBef>
                <a:spcPts val="67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1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больший</a:t>
            </a:r>
            <a:r>
              <a:rPr sz="750" spc="-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30" dirty="0">
                <a:latin typeface="Lucida Sans Unicode" panose="020B0602030504020204"/>
                <a:cs typeface="Lucida Sans Unicode" panose="020B0602030504020204"/>
              </a:rPr>
              <a:t>объем</a:t>
            </a:r>
            <a:r>
              <a:rPr sz="750" spc="-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документов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252730" marR="389255" indent="-122555">
              <a:lnSpc>
                <a:spcPct val="142000"/>
              </a:lnSpc>
              <a:spcBef>
                <a:spcPts val="300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возможность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комментирования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документации,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обмена опытом </a:t>
            </a:r>
            <a:r>
              <a:rPr sz="75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с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д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р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угими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пользова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т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елями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П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О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700">
              <a:latin typeface="Lucida Sans Unicode" panose="020B0602030504020204"/>
              <a:cs typeface="Lucida Sans Unicode" panose="020B0602030504020204"/>
            </a:endParaRPr>
          </a:p>
          <a:p>
            <a:pPr marL="38100">
              <a:lnSpc>
                <a:spcPct val="100000"/>
              </a:lnSpc>
            </a:pPr>
            <a:r>
              <a:rPr sz="750" b="1" spc="30" dirty="0">
                <a:latin typeface="Arial" panose="020B0604020202020204"/>
                <a:cs typeface="Arial" panose="020B0604020202020204"/>
              </a:rPr>
              <a:t>Недостатки: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30810">
              <a:lnSpc>
                <a:spcPct val="100000"/>
              </a:lnSpc>
              <a:spcBef>
                <a:spcPts val="67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57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усложнение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поиска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по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нечетким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запросам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30810">
              <a:lnSpc>
                <a:spcPct val="100000"/>
              </a:lnSpc>
              <a:spcBef>
                <a:spcPts val="680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50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ухудшение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воспринимаемости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текста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30810">
              <a:lnSpc>
                <a:spcPct val="100000"/>
              </a:lnSpc>
              <a:spcBef>
                <a:spcPts val="67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57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большой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30" dirty="0">
                <a:latin typeface="Lucida Sans Unicode" panose="020B0602030504020204"/>
                <a:cs typeface="Lucida Sans Unicode" panose="020B0602030504020204"/>
              </a:rPr>
              <a:t>объем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малополезной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информации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0" y="3305175"/>
            <a:ext cx="4608195" cy="151130"/>
            <a:chOff x="0" y="3305175"/>
            <a:chExt cx="4608195" cy="151130"/>
          </a:xfrm>
        </p:grpSpPr>
        <p:sp>
          <p:nvSpPr>
            <p:cNvPr id="37" name="object 37"/>
            <p:cNvSpPr/>
            <p:nvPr/>
          </p:nvSpPr>
          <p:spPr>
            <a:xfrm>
              <a:off x="0" y="3305175"/>
              <a:ext cx="4608195" cy="151130"/>
            </a:xfrm>
            <a:custGeom>
              <a:avLst/>
              <a:gdLst/>
              <a:ahLst/>
              <a:cxnLst/>
              <a:rect l="l" t="t" r="r" b="b"/>
              <a:pathLst>
                <a:path w="4608195" h="151129">
                  <a:moveTo>
                    <a:pt x="4607941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4607941" y="150875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465199" y="3382390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4">
                  <a:moveTo>
                    <a:pt x="0" y="0"/>
                  </a:moveTo>
                  <a:lnTo>
                    <a:pt x="54736" y="0"/>
                  </a:lnTo>
                </a:path>
              </a:pathLst>
            </a:custGeom>
            <a:ln w="50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207128" y="3320923"/>
              <a:ext cx="364490" cy="120014"/>
            </a:xfrm>
            <a:custGeom>
              <a:avLst/>
              <a:gdLst/>
              <a:ahLst/>
              <a:cxnLst/>
              <a:rect l="l" t="t" r="r" b="b"/>
              <a:pathLst>
                <a:path w="364489" h="120014">
                  <a:moveTo>
                    <a:pt x="364363" y="0"/>
                  </a:moveTo>
                  <a:lnTo>
                    <a:pt x="0" y="0"/>
                  </a:lnTo>
                  <a:lnTo>
                    <a:pt x="0" y="119506"/>
                  </a:lnTo>
                  <a:lnTo>
                    <a:pt x="364363" y="119506"/>
                  </a:lnTo>
                  <a:lnTo>
                    <a:pt x="36436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xfrm>
            <a:off x="23749" y="3313885"/>
            <a:ext cx="2357120" cy="1047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>
                <a:sym typeface="+mn-ea"/>
              </a:rPr>
              <a:t>Программная</a:t>
            </a:r>
            <a:r>
              <a:rPr spc="-30" dirty="0">
                <a:sym typeface="+mn-ea"/>
              </a:rPr>
              <a:t> </a:t>
            </a:r>
            <a:r>
              <a:rPr spc="15" dirty="0">
                <a:sym typeface="+mn-ea"/>
              </a:rPr>
              <a:t>инженерия.</a:t>
            </a:r>
            <a:r>
              <a:rPr spc="25" dirty="0">
                <a:sym typeface="+mn-ea"/>
              </a:rPr>
              <a:t> </a:t>
            </a:r>
            <a:r>
              <a:rPr spc="10" dirty="0">
                <a:sym typeface="+mn-ea"/>
              </a:rPr>
              <a:t>Документирование</a:t>
            </a:r>
            <a:r>
              <a:rPr spc="-25" dirty="0">
                <a:sym typeface="+mn-ea"/>
              </a:rPr>
              <a:t> </a:t>
            </a:r>
            <a:r>
              <a:rPr spc="15" dirty="0">
                <a:sym typeface="+mn-ea"/>
              </a:rPr>
              <a:t>ПО</a:t>
            </a:r>
            <a:endParaRPr spc="15" dirty="0"/>
          </a:p>
        </p:txBody>
      </p:sp>
      <p:sp>
        <p:nvSpPr>
          <p:cNvPr id="41" name="object 41"/>
          <p:cNvSpPr txBox="1"/>
          <p:nvPr/>
        </p:nvSpPr>
        <p:spPr>
          <a:xfrm>
            <a:off x="4267580" y="3313885"/>
            <a:ext cx="243840" cy="12509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50" spc="-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10</a:t>
            </a:r>
            <a:r>
              <a:rPr sz="550" spc="-8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-7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/</a:t>
            </a:r>
            <a:r>
              <a:rPr sz="550" spc="-8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-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26</a:t>
            </a:r>
            <a:endParaRPr sz="55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608195" cy="201295"/>
            <a:chOff x="0" y="0"/>
            <a:chExt cx="4608195" cy="201295"/>
          </a:xfrm>
        </p:grpSpPr>
        <p:sp>
          <p:nvSpPr>
            <p:cNvPr id="3" name="object 3"/>
            <p:cNvSpPr/>
            <p:nvPr/>
          </p:nvSpPr>
          <p:spPr>
            <a:xfrm>
              <a:off x="19641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0949" y="0"/>
                  </a:moveTo>
                  <a:lnTo>
                    <a:pt x="6042" y="0"/>
                  </a:lnTo>
                  <a:lnTo>
                    <a:pt x="0" y="6042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6042"/>
                  </a:lnTo>
                  <a:lnTo>
                    <a:pt x="209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9641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002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0361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07213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1082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1441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1800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2161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520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28815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3241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3600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39610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99326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02932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06527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967988" y="13017"/>
            <a:ext cx="54546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Заключение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847" y="13017"/>
            <a:ext cx="2818130" cy="44195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20"/>
              </a:spcBef>
              <a:tabLst>
                <a:tab pos="1897380" algn="l"/>
              </a:tabLst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Общие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понятия</a:t>
            </a:r>
            <a:r>
              <a:rPr sz="65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Виды</a:t>
            </a:r>
            <a:r>
              <a:rPr sz="650" spc="-3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</a:pPr>
            <a:r>
              <a:rPr sz="1050" spc="-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Документирование</a:t>
            </a:r>
            <a:r>
              <a:rPr sz="1050" spc="-6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1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процессов</a:t>
            </a:r>
            <a:r>
              <a:rPr sz="1050" spc="-5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1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разработки</a:t>
            </a:r>
            <a:endParaRPr sz="10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314" y="844410"/>
            <a:ext cx="4335780" cy="1778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15"/>
              </a:spcBef>
            </a:pPr>
            <a:r>
              <a:rPr sz="750" b="1" spc="25" dirty="0">
                <a:latin typeface="Arial" panose="020B0604020202020204"/>
                <a:cs typeface="Arial" panose="020B0604020202020204"/>
              </a:rPr>
              <a:t>Виды</a:t>
            </a:r>
            <a:r>
              <a:rPr sz="75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50" dirty="0">
                <a:latin typeface="Arial" panose="020B0604020202020204"/>
                <a:cs typeface="Arial" panose="020B0604020202020204"/>
              </a:rPr>
              <a:t>документации: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303530" marR="114300" indent="-122555">
              <a:lnSpc>
                <a:spcPct val="142000"/>
              </a:lnSpc>
              <a:spcBef>
                <a:spcPts val="29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планы,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оценки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затрат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и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расписания: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составляются менеджерами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для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управления </a:t>
            </a:r>
            <a:r>
              <a:rPr sz="750" spc="-229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процессом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разработки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700">
              <a:latin typeface="Lucida Sans Unicode" panose="020B0602030504020204"/>
              <a:cs typeface="Lucida Sans Unicode" panose="020B0602030504020204"/>
            </a:endParaRPr>
          </a:p>
          <a:p>
            <a:pPr marL="181610">
              <a:lnSpc>
                <a:spcPct val="100000"/>
              </a:lnSpc>
              <a:spcBef>
                <a:spcPts val="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72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отчеты: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использование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ресурсов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на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различных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5" dirty="0">
                <a:latin typeface="Lucida Sans Unicode" panose="020B0602030504020204"/>
                <a:cs typeface="Lucida Sans Unicode" panose="020B0602030504020204"/>
              </a:rPr>
              <a:t>этапах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303530" marR="133985" indent="-122555">
              <a:lnSpc>
                <a:spcPct val="142000"/>
              </a:lnSpc>
              <a:spcBef>
                <a:spcPts val="70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65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стандарты: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ограничения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на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процесс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разработки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(специфичные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для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организации </a:t>
            </a:r>
            <a:r>
              <a:rPr sz="750" spc="-2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ил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и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национальны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е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10" dirty="0">
                <a:latin typeface="Lucida Sans Unicode" panose="020B0602030504020204"/>
                <a:cs typeface="Lucida Sans Unicode" panose="020B0602030504020204"/>
              </a:rPr>
              <a:t>/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международные)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303530" marR="55880" indent="-122555">
              <a:lnSpc>
                <a:spcPct val="142000"/>
              </a:lnSpc>
              <a:spcBef>
                <a:spcPts val="710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50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рабочие</a:t>
            </a: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документы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(working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paper):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особенности</a:t>
            </a: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архитектуры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системы,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стратегии </a:t>
            </a:r>
            <a:r>
              <a:rPr sz="750" spc="-2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имплементации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700">
              <a:latin typeface="Lucida Sans Unicode" panose="020B0602030504020204"/>
              <a:cs typeface="Lucida Sans Unicode" panose="020B0602030504020204"/>
            </a:endParaRPr>
          </a:p>
          <a:p>
            <a:pPr marL="181610">
              <a:lnSpc>
                <a:spcPct val="100000"/>
              </a:lnSpc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50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общение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между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разработчиками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и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менеджерами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3305175"/>
            <a:ext cx="4608195" cy="151130"/>
            <a:chOff x="0" y="3305175"/>
            <a:chExt cx="4608195" cy="151130"/>
          </a:xfrm>
        </p:grpSpPr>
        <p:sp>
          <p:nvSpPr>
            <p:cNvPr id="24" name="object 24"/>
            <p:cNvSpPr/>
            <p:nvPr/>
          </p:nvSpPr>
          <p:spPr>
            <a:xfrm>
              <a:off x="0" y="3305175"/>
              <a:ext cx="4608195" cy="151130"/>
            </a:xfrm>
            <a:custGeom>
              <a:avLst/>
              <a:gdLst/>
              <a:ahLst/>
              <a:cxnLst/>
              <a:rect l="l" t="t" r="r" b="b"/>
              <a:pathLst>
                <a:path w="4608195" h="151129">
                  <a:moveTo>
                    <a:pt x="4607941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4607941" y="150875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465199" y="3382390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4">
                  <a:moveTo>
                    <a:pt x="0" y="0"/>
                  </a:moveTo>
                  <a:lnTo>
                    <a:pt x="54736" y="0"/>
                  </a:lnTo>
                </a:path>
              </a:pathLst>
            </a:custGeom>
            <a:ln w="50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207128" y="3320923"/>
              <a:ext cx="364490" cy="120014"/>
            </a:xfrm>
            <a:custGeom>
              <a:avLst/>
              <a:gdLst/>
              <a:ahLst/>
              <a:cxnLst/>
              <a:rect l="l" t="t" r="r" b="b"/>
              <a:pathLst>
                <a:path w="364489" h="120014">
                  <a:moveTo>
                    <a:pt x="364363" y="0"/>
                  </a:moveTo>
                  <a:lnTo>
                    <a:pt x="0" y="0"/>
                  </a:lnTo>
                  <a:lnTo>
                    <a:pt x="0" y="119506"/>
                  </a:lnTo>
                  <a:lnTo>
                    <a:pt x="364363" y="119506"/>
                  </a:lnTo>
                  <a:lnTo>
                    <a:pt x="36436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xfrm>
            <a:off x="23749" y="3313885"/>
            <a:ext cx="2357120" cy="1047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>
                <a:sym typeface="+mn-ea"/>
              </a:rPr>
              <a:t>Программная</a:t>
            </a:r>
            <a:r>
              <a:rPr spc="-30" dirty="0">
                <a:sym typeface="+mn-ea"/>
              </a:rPr>
              <a:t> </a:t>
            </a:r>
            <a:r>
              <a:rPr spc="15" dirty="0">
                <a:sym typeface="+mn-ea"/>
              </a:rPr>
              <a:t>инженерия.</a:t>
            </a:r>
            <a:r>
              <a:rPr spc="25" dirty="0">
                <a:sym typeface="+mn-ea"/>
              </a:rPr>
              <a:t> </a:t>
            </a:r>
            <a:r>
              <a:rPr spc="10" dirty="0">
                <a:sym typeface="+mn-ea"/>
              </a:rPr>
              <a:t>Документирование</a:t>
            </a:r>
            <a:r>
              <a:rPr spc="-25" dirty="0">
                <a:sym typeface="+mn-ea"/>
              </a:rPr>
              <a:t> </a:t>
            </a:r>
            <a:r>
              <a:rPr spc="15" dirty="0">
                <a:sym typeface="+mn-ea"/>
              </a:rPr>
              <a:t>ПО</a:t>
            </a:r>
            <a:endParaRPr spc="15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-20" dirty="0"/>
              <a:t>1</a:t>
            </a:r>
            <a:r>
              <a:rPr spc="-20" dirty="0"/>
              <a:t>1</a:t>
            </a:r>
            <a:r>
              <a:rPr spc="-80" dirty="0"/>
              <a:t> </a:t>
            </a:r>
            <a:r>
              <a:rPr spc="-75" dirty="0"/>
              <a:t>/</a:t>
            </a:r>
            <a:r>
              <a:rPr spc="-80" dirty="0"/>
              <a:t> </a:t>
            </a:r>
            <a:r>
              <a:rPr spc="-20" dirty="0"/>
              <a:t>26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608195" cy="201295"/>
            <a:chOff x="0" y="0"/>
            <a:chExt cx="4608195" cy="201295"/>
          </a:xfrm>
        </p:grpSpPr>
        <p:sp>
          <p:nvSpPr>
            <p:cNvPr id="3" name="object 3"/>
            <p:cNvSpPr/>
            <p:nvPr/>
          </p:nvSpPr>
          <p:spPr>
            <a:xfrm>
              <a:off x="19641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0002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0949" y="0"/>
                  </a:moveTo>
                  <a:lnTo>
                    <a:pt x="6042" y="0"/>
                  </a:lnTo>
                  <a:lnTo>
                    <a:pt x="0" y="6042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6042"/>
                  </a:lnTo>
                  <a:lnTo>
                    <a:pt x="209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002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0361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07213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1082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1441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1800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2161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520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28815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3241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3600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39610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99326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02932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06527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967988" y="13017"/>
            <a:ext cx="54546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Заключение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847" y="13017"/>
            <a:ext cx="3009900" cy="44195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20"/>
              </a:spcBef>
              <a:tabLst>
                <a:tab pos="1897380" algn="l"/>
              </a:tabLst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Общие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понятия</a:t>
            </a:r>
            <a:r>
              <a:rPr sz="65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Виды</a:t>
            </a:r>
            <a:r>
              <a:rPr sz="650" spc="-3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</a:pPr>
            <a:r>
              <a:rPr sz="1050" spc="3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Объем</a:t>
            </a:r>
            <a:r>
              <a:rPr sz="1050" spc="-6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2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документаци</a:t>
            </a:r>
            <a:r>
              <a:rPr sz="1050" spc="-1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и</a:t>
            </a:r>
            <a:r>
              <a:rPr sz="1050" spc="-6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н</a:t>
            </a:r>
            <a:r>
              <a:rPr sz="1050" spc="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а</a:t>
            </a:r>
            <a:r>
              <a:rPr sz="1050" spc="-6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2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процесс</a:t>
            </a:r>
            <a:r>
              <a:rPr sz="1050" spc="-6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1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разрабо</a:t>
            </a:r>
            <a:r>
              <a:rPr sz="1050" spc="-1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тки</a:t>
            </a:r>
            <a:endParaRPr sz="10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7413" y="905517"/>
            <a:ext cx="4116704" cy="159385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725"/>
              </a:spcBef>
            </a:pPr>
            <a:endParaRPr sz="950">
              <a:latin typeface="Lucida Sans Unicode" panose="020B0602030504020204"/>
              <a:cs typeface="Lucida Sans Unicode" panose="020B0602030504020204"/>
            </a:endParaRPr>
          </a:p>
          <a:p>
            <a:pPr marL="50800" marR="17780">
              <a:lnSpc>
                <a:spcPct val="142000"/>
              </a:lnSpc>
              <a:spcBef>
                <a:spcPts val="135"/>
              </a:spcBef>
            </a:pPr>
            <a:r>
              <a:rPr sz="750" spc="25" dirty="0">
                <a:latin typeface="Lucida Sans Unicode" panose="020B0602030504020204"/>
                <a:cs typeface="Lucida Sans Unicode" panose="020B0602030504020204"/>
              </a:rPr>
              <a:t>Большая часть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документации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на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процесс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разработки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может </a:t>
            </a:r>
            <a:r>
              <a:rPr sz="750" spc="25" dirty="0">
                <a:latin typeface="Lucida Sans Unicode" panose="020B0602030504020204"/>
                <a:cs typeface="Lucida Sans Unicode" panose="020B0602030504020204"/>
              </a:rPr>
              <a:t>быть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заменена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неформальными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дискуссиями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между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разработчиками,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менеджерами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и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заказчиком.</a:t>
            </a:r>
            <a:endParaRPr sz="750" spc="10" dirty="0">
              <a:latin typeface="Lucida Sans Unicode" panose="020B0602030504020204"/>
              <a:cs typeface="Lucida Sans Unicode" panose="020B0602030504020204"/>
            </a:endParaRPr>
          </a:p>
          <a:p>
            <a:pPr marL="50800" marR="17780">
              <a:lnSpc>
                <a:spcPct val="142000"/>
              </a:lnSpc>
              <a:spcBef>
                <a:spcPts val="135"/>
              </a:spcBef>
            </a:pP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700">
              <a:latin typeface="Lucida Sans Unicode" panose="020B0602030504020204"/>
              <a:cs typeface="Lucida Sans Unicode" panose="020B0602030504020204"/>
            </a:endParaRPr>
          </a:p>
          <a:p>
            <a:pPr marL="50800">
              <a:lnSpc>
                <a:spcPct val="100000"/>
              </a:lnSpc>
            </a:pPr>
            <a:r>
              <a:rPr sz="750" b="1" spc="30" dirty="0">
                <a:latin typeface="Arial" panose="020B0604020202020204"/>
                <a:cs typeface="Arial" panose="020B0604020202020204"/>
              </a:rPr>
              <a:t>Необходимая</a:t>
            </a:r>
            <a:r>
              <a:rPr sz="75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50" dirty="0">
                <a:latin typeface="Arial" panose="020B0604020202020204"/>
                <a:cs typeface="Arial" panose="020B0604020202020204"/>
              </a:rPr>
              <a:t>документация</a:t>
            </a:r>
            <a:r>
              <a:rPr sz="75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45" dirty="0">
                <a:latin typeface="Arial" panose="020B0604020202020204"/>
                <a:cs typeface="Arial" panose="020B0604020202020204"/>
              </a:rPr>
              <a:t>на</a:t>
            </a:r>
            <a:r>
              <a:rPr sz="75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20" dirty="0">
                <a:latin typeface="Arial" panose="020B0604020202020204"/>
                <a:cs typeface="Arial" panose="020B0604020202020204"/>
              </a:rPr>
              <a:t>процесс</a:t>
            </a:r>
            <a:r>
              <a:rPr sz="75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35" dirty="0">
                <a:latin typeface="Arial" panose="020B0604020202020204"/>
                <a:cs typeface="Arial" panose="020B0604020202020204"/>
              </a:rPr>
              <a:t>разработки: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43510">
              <a:lnSpc>
                <a:spcPct val="100000"/>
              </a:lnSpc>
              <a:spcBef>
                <a:spcPts val="67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явн</a:t>
            </a:r>
            <a:r>
              <a:rPr sz="750" spc="30" dirty="0">
                <a:latin typeface="Lucida Sans Unicode" panose="020B0602030504020204"/>
                <a:cs typeface="Lucida Sans Unicode" panose="020B0602030504020204"/>
              </a:rPr>
              <a:t>о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определенная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до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г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овором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с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заказчи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к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ом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43510">
              <a:lnSpc>
                <a:spcPct val="100000"/>
              </a:lnSpc>
              <a:spcBef>
                <a:spcPts val="680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57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необходимая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для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сертификации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системы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43510">
              <a:lnSpc>
                <a:spcPct val="100000"/>
              </a:lnSpc>
              <a:spcBef>
                <a:spcPts val="675"/>
              </a:spcBef>
            </a:pPr>
            <a:endParaRPr sz="7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3305175"/>
            <a:ext cx="4608195" cy="151130"/>
            <a:chOff x="0" y="3305175"/>
            <a:chExt cx="4608195" cy="151130"/>
          </a:xfrm>
        </p:grpSpPr>
        <p:sp>
          <p:nvSpPr>
            <p:cNvPr id="24" name="object 24"/>
            <p:cNvSpPr/>
            <p:nvPr/>
          </p:nvSpPr>
          <p:spPr>
            <a:xfrm>
              <a:off x="0" y="3305175"/>
              <a:ext cx="4608195" cy="151130"/>
            </a:xfrm>
            <a:custGeom>
              <a:avLst/>
              <a:gdLst/>
              <a:ahLst/>
              <a:cxnLst/>
              <a:rect l="l" t="t" r="r" b="b"/>
              <a:pathLst>
                <a:path w="4608195" h="151129">
                  <a:moveTo>
                    <a:pt x="4607941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4607941" y="150875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465199" y="3382390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4">
                  <a:moveTo>
                    <a:pt x="0" y="0"/>
                  </a:moveTo>
                  <a:lnTo>
                    <a:pt x="54736" y="0"/>
                  </a:lnTo>
                </a:path>
              </a:pathLst>
            </a:custGeom>
            <a:ln w="50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207128" y="3320923"/>
              <a:ext cx="364490" cy="120014"/>
            </a:xfrm>
            <a:custGeom>
              <a:avLst/>
              <a:gdLst/>
              <a:ahLst/>
              <a:cxnLst/>
              <a:rect l="l" t="t" r="r" b="b"/>
              <a:pathLst>
                <a:path w="364489" h="120014">
                  <a:moveTo>
                    <a:pt x="364363" y="0"/>
                  </a:moveTo>
                  <a:lnTo>
                    <a:pt x="0" y="0"/>
                  </a:lnTo>
                  <a:lnTo>
                    <a:pt x="0" y="119506"/>
                  </a:lnTo>
                  <a:lnTo>
                    <a:pt x="364363" y="119506"/>
                  </a:lnTo>
                  <a:lnTo>
                    <a:pt x="36436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xfrm>
            <a:off x="23749" y="3313885"/>
            <a:ext cx="2357120" cy="1047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>
                <a:sym typeface="+mn-ea"/>
              </a:rPr>
              <a:t>Программная</a:t>
            </a:r>
            <a:r>
              <a:rPr spc="-30" dirty="0">
                <a:sym typeface="+mn-ea"/>
              </a:rPr>
              <a:t> </a:t>
            </a:r>
            <a:r>
              <a:rPr spc="15" dirty="0">
                <a:sym typeface="+mn-ea"/>
              </a:rPr>
              <a:t>инженерия.</a:t>
            </a:r>
            <a:r>
              <a:rPr spc="25" dirty="0">
                <a:sym typeface="+mn-ea"/>
              </a:rPr>
              <a:t> </a:t>
            </a:r>
            <a:r>
              <a:rPr spc="10" dirty="0">
                <a:sym typeface="+mn-ea"/>
              </a:rPr>
              <a:t>Документирование</a:t>
            </a:r>
            <a:r>
              <a:rPr spc="-25" dirty="0">
                <a:sym typeface="+mn-ea"/>
              </a:rPr>
              <a:t> </a:t>
            </a:r>
            <a:r>
              <a:rPr spc="15" dirty="0">
                <a:sym typeface="+mn-ea"/>
              </a:rPr>
              <a:t>ПО</a:t>
            </a:r>
            <a:endParaRPr spc="15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-20" dirty="0"/>
              <a:t>1</a:t>
            </a:r>
            <a:r>
              <a:rPr spc="-20" dirty="0"/>
              <a:t>2</a:t>
            </a:r>
            <a:r>
              <a:rPr spc="-80" dirty="0"/>
              <a:t> </a:t>
            </a:r>
            <a:r>
              <a:rPr spc="-75" dirty="0"/>
              <a:t>/</a:t>
            </a:r>
            <a:r>
              <a:rPr spc="-80" dirty="0"/>
              <a:t> </a:t>
            </a:r>
            <a:r>
              <a:rPr spc="-20" dirty="0"/>
              <a:t>26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608195" cy="201295"/>
            <a:chOff x="0" y="0"/>
            <a:chExt cx="4608195" cy="201295"/>
          </a:xfrm>
        </p:grpSpPr>
        <p:sp>
          <p:nvSpPr>
            <p:cNvPr id="3" name="object 3"/>
            <p:cNvSpPr/>
            <p:nvPr/>
          </p:nvSpPr>
          <p:spPr>
            <a:xfrm>
              <a:off x="19641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0002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361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0949" y="0"/>
                  </a:moveTo>
                  <a:lnTo>
                    <a:pt x="6042" y="0"/>
                  </a:lnTo>
                  <a:lnTo>
                    <a:pt x="0" y="6042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6042"/>
                  </a:lnTo>
                  <a:lnTo>
                    <a:pt x="209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0361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07213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1082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1441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1800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2161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520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28815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3241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3600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39610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99326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02932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06527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967988" y="13017"/>
            <a:ext cx="54546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Заключение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847" y="13017"/>
            <a:ext cx="2764155" cy="44195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20"/>
              </a:spcBef>
              <a:tabLst>
                <a:tab pos="1897380" algn="l"/>
              </a:tabLst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Общие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понятия</a:t>
            </a:r>
            <a:r>
              <a:rPr sz="65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Виды</a:t>
            </a:r>
            <a:r>
              <a:rPr sz="650" spc="-3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</a:pPr>
            <a:r>
              <a:rPr sz="1050" spc="1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Пользова</a:t>
            </a:r>
            <a:r>
              <a:rPr sz="1050" spc="-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т</a:t>
            </a:r>
            <a:r>
              <a:rPr sz="1050" spc="1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ельская</a:t>
            </a:r>
            <a:r>
              <a:rPr sz="1050" spc="-6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1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документация</a:t>
            </a:r>
            <a:endParaRPr sz="10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7413" y="931748"/>
            <a:ext cx="4323080" cy="1667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sz="950" spc="-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Определение</a:t>
            </a:r>
            <a:endParaRPr sz="950">
              <a:latin typeface="Lucida Sans Unicode" panose="020B0602030504020204"/>
              <a:cs typeface="Lucida Sans Unicode" panose="020B0602030504020204"/>
            </a:endParaRPr>
          </a:p>
          <a:p>
            <a:pPr marL="50800">
              <a:lnSpc>
                <a:spcPct val="100000"/>
              </a:lnSpc>
              <a:spcBef>
                <a:spcPts val="565"/>
              </a:spcBef>
            </a:pPr>
            <a:r>
              <a:rPr sz="750" b="1" spc="25" dirty="0">
                <a:latin typeface="Arial" panose="020B0604020202020204"/>
                <a:cs typeface="Arial" panose="020B0604020202020204"/>
              </a:rPr>
              <a:t>Пользовательская</a:t>
            </a:r>
            <a:r>
              <a:rPr sz="75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50" dirty="0">
                <a:latin typeface="Arial" panose="020B0604020202020204"/>
                <a:cs typeface="Arial" panose="020B0604020202020204"/>
              </a:rPr>
              <a:t>документация</a:t>
            </a:r>
            <a:r>
              <a:rPr sz="75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15" dirty="0">
                <a:latin typeface="Lucida Sans Unicode" panose="020B0602030504020204"/>
                <a:cs typeface="Lucida Sans Unicode" panose="020B0602030504020204"/>
              </a:rPr>
              <a:t>(</a:t>
            </a:r>
            <a:r>
              <a:rPr sz="750" i="1" spc="-5" dirty="0">
                <a:latin typeface="Arial" panose="020B0604020202020204"/>
                <a:cs typeface="Arial" panose="020B0604020202020204"/>
              </a:rPr>
              <a:t>user</a:t>
            </a:r>
            <a:r>
              <a:rPr sz="750" i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750" i="1" spc="10" dirty="0">
                <a:latin typeface="Arial" panose="020B0604020202020204"/>
                <a:cs typeface="Arial" panose="020B0604020202020204"/>
              </a:rPr>
              <a:t>documentation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)  </a:t>
            </a:r>
            <a:r>
              <a:rPr lang="en-US" sz="750" spc="10" dirty="0">
                <a:latin typeface="Lucida Sans Unicode" panose="020B0602030504020204"/>
                <a:cs typeface="Lucida Sans Unicode" panose="020B0602030504020204"/>
              </a:rPr>
              <a:t>-</a:t>
            </a:r>
            <a:r>
              <a:rPr sz="750" spc="2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документы,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50165">
              <a:lnSpc>
                <a:spcPct val="100000"/>
              </a:lnSpc>
              <a:spcBef>
                <a:spcPts val="380"/>
              </a:spcBef>
            </a:pP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описывающие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использование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программной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системы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конечными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пользователями.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00">
              <a:latin typeface="Lucida Sans Unicode" panose="020B0602030504020204"/>
              <a:cs typeface="Lucida Sans Unicode" panose="020B0602030504020204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750" b="1" spc="50" dirty="0">
                <a:latin typeface="Arial" panose="020B0604020202020204"/>
                <a:cs typeface="Arial" panose="020B0604020202020204"/>
              </a:rPr>
              <a:t>Организация</a:t>
            </a:r>
            <a:r>
              <a:rPr sz="75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30" dirty="0">
                <a:latin typeface="Arial" panose="020B0604020202020204"/>
                <a:cs typeface="Arial" panose="020B0604020202020204"/>
              </a:rPr>
              <a:t>пользовательской</a:t>
            </a:r>
            <a:r>
              <a:rPr sz="75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50" dirty="0">
                <a:latin typeface="Arial" panose="020B0604020202020204"/>
                <a:cs typeface="Arial" panose="020B0604020202020204"/>
              </a:rPr>
              <a:t>документации: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265430" marR="43180" indent="-122555">
              <a:lnSpc>
                <a:spcPct val="142000"/>
              </a:lnSpc>
              <a:spcBef>
                <a:spcPts val="29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72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25" dirty="0">
                <a:latin typeface="Lucida Sans Unicode" panose="020B0602030504020204"/>
                <a:cs typeface="Lucida Sans Unicode" panose="020B0602030504020204"/>
              </a:rPr>
              <a:t>учебные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пособия</a:t>
            </a:r>
            <a:r>
              <a:rPr sz="750" spc="25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lang="en-US" sz="750" spc="254" dirty="0">
                <a:latin typeface="Lucida Sans Unicode" panose="020B0602030504020204"/>
                <a:cs typeface="Lucida Sans Unicode" panose="020B0602030504020204"/>
              </a:rPr>
              <a:t>-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описание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шагов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для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решения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определенных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задач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с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помощью </a:t>
            </a:r>
            <a:r>
              <a:rPr sz="75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программной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системы</a:t>
            </a:r>
            <a:endParaRPr sz="750" dirty="0">
              <a:latin typeface="Lucida Sans Unicode" panose="020B0602030504020204"/>
              <a:cs typeface="Lucida Sans Unicode" panose="020B0602030504020204"/>
            </a:endParaRPr>
          </a:p>
          <a:p>
            <a:pPr marL="265430" marR="43180" indent="-122555">
              <a:lnSpc>
                <a:spcPct val="142000"/>
              </a:lnSpc>
              <a:spcBef>
                <a:spcPts val="29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72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темы</a:t>
            </a:r>
            <a:r>
              <a:rPr sz="750" spc="2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lang="en-US" sz="750" spc="235" dirty="0">
                <a:latin typeface="Lucida Sans Unicode" panose="020B0602030504020204"/>
                <a:cs typeface="Lucida Sans Unicode" panose="020B0602030504020204"/>
              </a:rPr>
              <a:t>-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объединение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логически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связанных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документов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45" dirty="0">
                <a:latin typeface="Lucida Sans Unicode" panose="020B0602030504020204"/>
                <a:cs typeface="Lucida Sans Unicode" panose="020B0602030504020204"/>
              </a:rPr>
              <a:t>в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главы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10" dirty="0">
                <a:latin typeface="Lucida Sans Unicode" panose="020B0602030504020204"/>
                <a:cs typeface="Lucida Sans Unicode" panose="020B0602030504020204"/>
              </a:rPr>
              <a:t>/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разделы, </a:t>
            </a:r>
            <a:r>
              <a:rPr sz="75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описывающие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определенный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аспект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ПО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43510">
              <a:lnSpc>
                <a:spcPct val="100000"/>
              </a:lnSpc>
              <a:spcBef>
                <a:spcPts val="67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72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справочники  </a:t>
            </a:r>
            <a:r>
              <a:rPr lang="en-US" sz="750" spc="15" dirty="0">
                <a:latin typeface="Lucida Sans Unicode" panose="020B0602030504020204"/>
                <a:cs typeface="Lucida Sans Unicode" panose="020B0602030504020204"/>
              </a:rPr>
              <a:t>-</a:t>
            </a:r>
            <a:r>
              <a:rPr sz="750" spc="2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5" dirty="0">
                <a:latin typeface="Lucida Sans Unicode" panose="020B0602030504020204"/>
                <a:cs typeface="Lucida Sans Unicode" panose="020B0602030504020204"/>
              </a:rPr>
              <a:t>перечень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выполняемых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системой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функций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0" y="3305175"/>
            <a:ext cx="4608195" cy="151130"/>
            <a:chOff x="0" y="3305175"/>
            <a:chExt cx="4608195" cy="151130"/>
          </a:xfrm>
        </p:grpSpPr>
        <p:sp>
          <p:nvSpPr>
            <p:cNvPr id="28" name="object 28"/>
            <p:cNvSpPr/>
            <p:nvPr/>
          </p:nvSpPr>
          <p:spPr>
            <a:xfrm>
              <a:off x="0" y="3305175"/>
              <a:ext cx="4608195" cy="151130"/>
            </a:xfrm>
            <a:custGeom>
              <a:avLst/>
              <a:gdLst/>
              <a:ahLst/>
              <a:cxnLst/>
              <a:rect l="l" t="t" r="r" b="b"/>
              <a:pathLst>
                <a:path w="4608195" h="151129">
                  <a:moveTo>
                    <a:pt x="4607941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4607941" y="150875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465199" y="3382390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4">
                  <a:moveTo>
                    <a:pt x="0" y="0"/>
                  </a:moveTo>
                  <a:lnTo>
                    <a:pt x="54736" y="0"/>
                  </a:lnTo>
                </a:path>
              </a:pathLst>
            </a:custGeom>
            <a:ln w="50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207128" y="3320923"/>
              <a:ext cx="364490" cy="120014"/>
            </a:xfrm>
            <a:custGeom>
              <a:avLst/>
              <a:gdLst/>
              <a:ahLst/>
              <a:cxnLst/>
              <a:rect l="l" t="t" r="r" b="b"/>
              <a:pathLst>
                <a:path w="364489" h="120014">
                  <a:moveTo>
                    <a:pt x="364363" y="0"/>
                  </a:moveTo>
                  <a:lnTo>
                    <a:pt x="0" y="0"/>
                  </a:lnTo>
                  <a:lnTo>
                    <a:pt x="0" y="119506"/>
                  </a:lnTo>
                  <a:lnTo>
                    <a:pt x="364363" y="119506"/>
                  </a:lnTo>
                  <a:lnTo>
                    <a:pt x="36436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xfrm>
            <a:off x="23749" y="3313885"/>
            <a:ext cx="2357120" cy="1047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>
                <a:sym typeface="+mn-ea"/>
              </a:rPr>
              <a:t>Программная</a:t>
            </a:r>
            <a:r>
              <a:rPr spc="-30" dirty="0">
                <a:sym typeface="+mn-ea"/>
              </a:rPr>
              <a:t> </a:t>
            </a:r>
            <a:r>
              <a:rPr spc="15" dirty="0">
                <a:sym typeface="+mn-ea"/>
              </a:rPr>
              <a:t>инженерия.</a:t>
            </a:r>
            <a:r>
              <a:rPr spc="25" dirty="0">
                <a:sym typeface="+mn-ea"/>
              </a:rPr>
              <a:t> </a:t>
            </a:r>
            <a:r>
              <a:rPr spc="10" dirty="0">
                <a:sym typeface="+mn-ea"/>
              </a:rPr>
              <a:t>Документирование</a:t>
            </a:r>
            <a:r>
              <a:rPr spc="-25" dirty="0">
                <a:sym typeface="+mn-ea"/>
              </a:rPr>
              <a:t> </a:t>
            </a:r>
            <a:r>
              <a:rPr spc="15" dirty="0">
                <a:sym typeface="+mn-ea"/>
              </a:rPr>
              <a:t>ПО</a:t>
            </a:r>
            <a:endParaRPr spc="15" dirty="0"/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-20" dirty="0"/>
              <a:t>1</a:t>
            </a:r>
            <a:r>
              <a:rPr spc="-20" dirty="0"/>
              <a:t>3</a:t>
            </a:r>
            <a:r>
              <a:rPr spc="-80" dirty="0"/>
              <a:t> </a:t>
            </a:r>
            <a:r>
              <a:rPr spc="-75" dirty="0"/>
              <a:t>/</a:t>
            </a:r>
            <a:r>
              <a:rPr spc="-80" dirty="0"/>
              <a:t> </a:t>
            </a:r>
            <a:r>
              <a:rPr spc="-20" dirty="0"/>
              <a:t>26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608195" cy="201295"/>
            <a:chOff x="0" y="0"/>
            <a:chExt cx="4608195" cy="201295"/>
          </a:xfrm>
        </p:grpSpPr>
        <p:sp>
          <p:nvSpPr>
            <p:cNvPr id="3" name="object 3"/>
            <p:cNvSpPr/>
            <p:nvPr/>
          </p:nvSpPr>
          <p:spPr>
            <a:xfrm>
              <a:off x="19641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0002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361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07213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0949" y="0"/>
                  </a:moveTo>
                  <a:lnTo>
                    <a:pt x="6042" y="0"/>
                  </a:lnTo>
                  <a:lnTo>
                    <a:pt x="0" y="6042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6042"/>
                  </a:lnTo>
                  <a:lnTo>
                    <a:pt x="209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07213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1082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1441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1800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2161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520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28815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3241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3600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39610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99326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02932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06527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967988" y="13017"/>
            <a:ext cx="54546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Заключение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847" y="13017"/>
            <a:ext cx="2764155" cy="44195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20"/>
              </a:spcBef>
              <a:tabLst>
                <a:tab pos="1897380" algn="l"/>
              </a:tabLst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Общие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понятия</a:t>
            </a:r>
            <a:r>
              <a:rPr sz="65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Виды</a:t>
            </a:r>
            <a:r>
              <a:rPr sz="650" spc="-3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</a:pPr>
            <a:r>
              <a:rPr sz="1050" spc="1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Виды</a:t>
            </a:r>
            <a:r>
              <a:rPr sz="1050" spc="-6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пользовательской</a:t>
            </a:r>
            <a:r>
              <a:rPr sz="1050" spc="-6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2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1050">
              <a:latin typeface="Lucida Sans Unicode" panose="020B0602030504020204"/>
              <a:cs typeface="Lucida Sans Unicode" panose="020B0602030504020204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331228" y="974356"/>
          <a:ext cx="3948429" cy="1533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7755"/>
                <a:gridCol w="1426209"/>
                <a:gridCol w="1426210"/>
              </a:tblGrid>
              <a:tr h="1417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650" spc="10" dirty="0">
                          <a:latin typeface="Lucida Sans Unicode" panose="020B0602030504020204"/>
                          <a:cs typeface="Lucida Sans Unicode" panose="020B0602030504020204"/>
                        </a:rPr>
                        <a:t>Вид</a:t>
                      </a:r>
                      <a:endParaRPr sz="650">
                        <a:latin typeface="Lucida Sans Unicode" panose="020B0602030504020204"/>
                        <a:cs typeface="Lucida Sans Unicode" panose="020B060203050402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688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650" spc="5" dirty="0">
                          <a:latin typeface="Lucida Sans Unicode" panose="020B0602030504020204"/>
                          <a:cs typeface="Lucida Sans Unicode" panose="020B0602030504020204"/>
                        </a:rPr>
                        <a:t>Потребители</a:t>
                      </a:r>
                      <a:endParaRPr sz="650">
                        <a:latin typeface="Lucida Sans Unicode" panose="020B0602030504020204"/>
                        <a:cs typeface="Lucida Sans Unicode" panose="020B060203050402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14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Содержание</a:t>
                      </a:r>
                      <a:endParaRPr sz="650">
                        <a:latin typeface="Lucida Sans Unicode" panose="020B0602030504020204"/>
                        <a:cs typeface="Lucida Sans Unicode" panose="020B060203050402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8384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650" spc="15" dirty="0">
                          <a:latin typeface="Lucida Sans Unicode" panose="020B0602030504020204"/>
                          <a:cs typeface="Lucida Sans Unicode" panose="020B0602030504020204"/>
                        </a:rPr>
                        <a:t>Функциональное</a:t>
                      </a:r>
                      <a:endParaRPr sz="650">
                        <a:latin typeface="Lucida Sans Unicode" panose="020B0602030504020204"/>
                        <a:cs typeface="Lucida Sans Unicode" panose="020B0602030504020204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описание</a:t>
                      </a:r>
                      <a:r>
                        <a:rPr sz="650" spc="-35" dirty="0">
                          <a:latin typeface="Lucida Sans Unicode" panose="020B0602030504020204"/>
                          <a:cs typeface="Lucida Sans Unicode" panose="020B0602030504020204"/>
                        </a:rPr>
                        <a:t> </a:t>
                      </a: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сис</a:t>
                      </a:r>
                      <a:r>
                        <a:rPr sz="650" spc="-5" dirty="0">
                          <a:latin typeface="Lucida Sans Unicode" panose="020B0602030504020204"/>
                          <a:cs typeface="Lucida Sans Unicode" panose="020B0602030504020204"/>
                        </a:rPr>
                        <a:t>т</a:t>
                      </a: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емы</a:t>
                      </a:r>
                      <a:endParaRPr sz="650">
                        <a:latin typeface="Lucida Sans Unicode" panose="020B0602030504020204"/>
                        <a:cs typeface="Lucida Sans Unicode" panose="020B060203050402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650" spc="-5" dirty="0">
                          <a:latin typeface="Lucida Sans Unicode" panose="020B0602030504020204"/>
                          <a:cs typeface="Lucida Sans Unicode" panose="020B0602030504020204"/>
                        </a:rPr>
                        <a:t>менед</a:t>
                      </a:r>
                      <a:r>
                        <a:rPr sz="650" spc="-10" dirty="0">
                          <a:latin typeface="Lucida Sans Unicode" panose="020B0602030504020204"/>
                          <a:cs typeface="Lucida Sans Unicode" panose="020B0602030504020204"/>
                        </a:rPr>
                        <a:t>ж</a:t>
                      </a: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еры,</a:t>
                      </a:r>
                      <a:r>
                        <a:rPr sz="650" spc="-35" dirty="0">
                          <a:latin typeface="Lucida Sans Unicode" panose="020B0602030504020204"/>
                          <a:cs typeface="Lucida Sans Unicode" panose="020B0602030504020204"/>
                        </a:rPr>
                        <a:t> </a:t>
                      </a:r>
                      <a:r>
                        <a:rPr sz="650" spc="-5" dirty="0">
                          <a:latin typeface="Lucida Sans Unicode" panose="020B0602030504020204"/>
                          <a:cs typeface="Lucida Sans Unicode" panose="020B0602030504020204"/>
                        </a:rPr>
                        <a:t>заказчик</a:t>
                      </a:r>
                      <a:endParaRPr sz="650">
                        <a:latin typeface="Lucida Sans Unicode" panose="020B0602030504020204"/>
                        <a:cs typeface="Lucida Sans Unicode" panose="020B060203050402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650" spc="5" dirty="0">
                          <a:latin typeface="Lucida Sans Unicode" panose="020B0602030504020204"/>
                          <a:cs typeface="Lucida Sans Unicode" panose="020B0602030504020204"/>
                        </a:rPr>
                        <a:t>обзор</a:t>
                      </a:r>
                      <a:r>
                        <a:rPr sz="650" spc="-50" dirty="0">
                          <a:latin typeface="Lucida Sans Unicode" panose="020B0602030504020204"/>
                          <a:cs typeface="Lucida Sans Unicode" panose="020B0602030504020204"/>
                        </a:rPr>
                        <a:t> </a:t>
                      </a:r>
                      <a:r>
                        <a:rPr sz="650" spc="5" dirty="0">
                          <a:latin typeface="Lucida Sans Unicode" panose="020B0602030504020204"/>
                          <a:cs typeface="Lucida Sans Unicode" panose="020B0602030504020204"/>
                        </a:rPr>
                        <a:t>системы,</a:t>
                      </a:r>
                      <a:r>
                        <a:rPr sz="650" spc="-45" dirty="0">
                          <a:latin typeface="Lucida Sans Unicode" panose="020B0602030504020204"/>
                          <a:cs typeface="Lucida Sans Unicode" panose="020B0602030504020204"/>
                        </a:rPr>
                        <a:t> </a:t>
                      </a:r>
                      <a:r>
                        <a:rPr sz="650" spc="10" dirty="0">
                          <a:latin typeface="Lucida Sans Unicode" panose="020B0602030504020204"/>
                          <a:cs typeface="Lucida Sans Unicode" panose="020B0602030504020204"/>
                        </a:rPr>
                        <a:t>описание</a:t>
                      </a:r>
                      <a:endParaRPr sz="650">
                        <a:latin typeface="Lucida Sans Unicode" panose="020B0602030504020204"/>
                        <a:cs typeface="Lucida Sans Unicode" panose="020B0602030504020204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650" spc="10" dirty="0">
                          <a:latin typeface="Lucida Sans Unicode" panose="020B0602030504020204"/>
                          <a:cs typeface="Lucida Sans Unicode" panose="020B0602030504020204"/>
                        </a:rPr>
                        <a:t>отличительных</a:t>
                      </a:r>
                      <a:r>
                        <a:rPr sz="650" spc="-40" dirty="0">
                          <a:latin typeface="Lucida Sans Unicode" panose="020B0602030504020204"/>
                          <a:cs typeface="Lucida Sans Unicode" panose="020B0602030504020204"/>
                        </a:rPr>
                        <a:t> </a:t>
                      </a:r>
                      <a:r>
                        <a:rPr sz="650" spc="5" dirty="0">
                          <a:latin typeface="Lucida Sans Unicode" panose="020B0602030504020204"/>
                          <a:cs typeface="Lucida Sans Unicode" panose="020B0602030504020204"/>
                        </a:rPr>
                        <a:t>особенностей</a:t>
                      </a:r>
                      <a:endParaRPr sz="650">
                        <a:latin typeface="Lucida Sans Unicode" panose="020B0602030504020204"/>
                        <a:cs typeface="Lucida Sans Unicode" panose="020B060203050402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8256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650" spc="5" dirty="0">
                          <a:latin typeface="Lucida Sans Unicode" panose="020B0602030504020204"/>
                          <a:cs typeface="Lucida Sans Unicode" panose="020B0602030504020204"/>
                        </a:rPr>
                        <a:t>Руководство</a:t>
                      </a:r>
                      <a:endParaRPr sz="650">
                        <a:latin typeface="Lucida Sans Unicode" panose="020B0602030504020204"/>
                        <a:cs typeface="Lucida Sans Unicode" panose="020B0602030504020204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по</a:t>
                      </a:r>
                      <a:r>
                        <a:rPr sz="650" spc="-35" dirty="0">
                          <a:latin typeface="Lucida Sans Unicode" panose="020B0602030504020204"/>
                          <a:cs typeface="Lucida Sans Unicode" panose="020B0602030504020204"/>
                        </a:rPr>
                        <a:t> </a:t>
                      </a: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установ</a:t>
                      </a:r>
                      <a:r>
                        <a:rPr sz="650" spc="-10" dirty="0">
                          <a:latin typeface="Lucida Sans Unicode" panose="020B0602030504020204"/>
                          <a:cs typeface="Lucida Sans Unicode" panose="020B0602030504020204"/>
                        </a:rPr>
                        <a:t>к</a:t>
                      </a: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е</a:t>
                      </a:r>
                      <a:endParaRPr sz="650">
                        <a:latin typeface="Lucida Sans Unicode" panose="020B0602030504020204"/>
                        <a:cs typeface="Lucida Sans Unicode" panose="020B060203050402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650" spc="10" dirty="0">
                          <a:latin typeface="Lucida Sans Unicode" panose="020B0602030504020204"/>
                          <a:cs typeface="Lucida Sans Unicode" panose="020B0602030504020204"/>
                        </a:rPr>
                        <a:t>системные</a:t>
                      </a:r>
                      <a:r>
                        <a:rPr sz="650" spc="-45" dirty="0">
                          <a:latin typeface="Lucida Sans Unicode" panose="020B0602030504020204"/>
                          <a:cs typeface="Lucida Sans Unicode" panose="020B0602030504020204"/>
                        </a:rPr>
                        <a:t> </a:t>
                      </a:r>
                      <a:r>
                        <a:rPr sz="650" spc="5" dirty="0">
                          <a:latin typeface="Lucida Sans Unicode" panose="020B0602030504020204"/>
                          <a:cs typeface="Lucida Sans Unicode" panose="020B0602030504020204"/>
                        </a:rPr>
                        <a:t>администраторы</a:t>
                      </a:r>
                      <a:endParaRPr sz="650">
                        <a:latin typeface="Lucida Sans Unicode" panose="020B0602030504020204"/>
                        <a:cs typeface="Lucida Sans Unicode" panose="020B060203050402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описание</a:t>
                      </a:r>
                      <a:r>
                        <a:rPr sz="650" spc="-35" dirty="0">
                          <a:latin typeface="Lucida Sans Unicode" panose="020B0602030504020204"/>
                          <a:cs typeface="Lucida Sans Unicode" panose="020B0602030504020204"/>
                        </a:rPr>
                        <a:t> </a:t>
                      </a:r>
                      <a:r>
                        <a:rPr sz="650" spc="-5" dirty="0">
                          <a:latin typeface="Lucida Sans Unicode" panose="020B0602030504020204"/>
                          <a:cs typeface="Lucida Sans Unicode" panose="020B0602030504020204"/>
                        </a:rPr>
                        <a:t>э</a:t>
                      </a: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тапов</a:t>
                      </a:r>
                      <a:r>
                        <a:rPr sz="650" spc="-35" dirty="0">
                          <a:latin typeface="Lucida Sans Unicode" panose="020B0602030504020204"/>
                          <a:cs typeface="Lucida Sans Unicode" panose="020B0602030504020204"/>
                        </a:rPr>
                        <a:t> </a:t>
                      </a: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установки</a:t>
                      </a:r>
                      <a:endParaRPr sz="650">
                        <a:latin typeface="Lucida Sans Unicode" panose="020B0602030504020204"/>
                        <a:cs typeface="Lucida Sans Unicode" panose="020B0602030504020204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650" spc="10" dirty="0">
                          <a:latin typeface="Lucida Sans Unicode" panose="020B0602030504020204"/>
                          <a:cs typeface="Lucida Sans Unicode" panose="020B0602030504020204"/>
                        </a:rPr>
                        <a:t>системы</a:t>
                      </a:r>
                      <a:endParaRPr sz="650">
                        <a:latin typeface="Lucida Sans Unicode" panose="020B0602030504020204"/>
                        <a:cs typeface="Lucida Sans Unicode" panose="020B060203050402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5036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Введение</a:t>
                      </a:r>
                      <a:r>
                        <a:rPr sz="650" spc="-35" dirty="0">
                          <a:latin typeface="Lucida Sans Unicode" panose="020B0602030504020204"/>
                          <a:cs typeface="Lucida Sans Unicode" panose="020B0602030504020204"/>
                        </a:rPr>
                        <a:t> </a:t>
                      </a: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(</a:t>
                      </a:r>
                      <a:r>
                        <a:rPr sz="650" i="1" spc="15" dirty="0">
                          <a:latin typeface="Arial" panose="020B0604020202020204"/>
                          <a:cs typeface="Arial" panose="020B0604020202020204"/>
                        </a:rPr>
                        <a:t>getting</a:t>
                      </a:r>
                      <a:endParaRPr sz="650" i="1" spc="15" dirty="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650" i="1" spc="10" dirty="0">
                          <a:latin typeface="Arial" panose="020B0604020202020204"/>
                          <a:cs typeface="Arial" panose="020B0604020202020204"/>
                        </a:rPr>
                        <a:t>started</a:t>
                      </a:r>
                      <a:r>
                        <a:rPr sz="650" spc="10" dirty="0">
                          <a:latin typeface="Lucida Sans Unicode" panose="020B0602030504020204"/>
                          <a:cs typeface="Lucida Sans Unicode" panose="020B0602030504020204"/>
                        </a:rPr>
                        <a:t>)</a:t>
                      </a:r>
                      <a:endParaRPr sz="650">
                        <a:latin typeface="Lucida Sans Unicode" panose="020B0602030504020204"/>
                        <a:cs typeface="Lucida Sans Unicode" panose="020B060203050402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650" spc="15" dirty="0">
                          <a:latin typeface="Lucida Sans Unicode" panose="020B0602030504020204"/>
                          <a:cs typeface="Lucida Sans Unicode" panose="020B0602030504020204"/>
                        </a:rPr>
                        <a:t>пользователи</a:t>
                      </a:r>
                      <a:endParaRPr sz="650">
                        <a:latin typeface="Lucida Sans Unicode" panose="020B0602030504020204"/>
                        <a:cs typeface="Lucida Sans Unicode" panose="020B060203050402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крат</a:t>
                      </a:r>
                      <a:r>
                        <a:rPr sz="650" spc="-10" dirty="0">
                          <a:latin typeface="Lucida Sans Unicode" panose="020B0602030504020204"/>
                          <a:cs typeface="Lucida Sans Unicode" panose="020B0602030504020204"/>
                        </a:rPr>
                        <a:t>к</a:t>
                      </a: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ое</a:t>
                      </a:r>
                      <a:r>
                        <a:rPr sz="650" spc="-35" dirty="0">
                          <a:latin typeface="Lucida Sans Unicode" panose="020B0602030504020204"/>
                          <a:cs typeface="Lucida Sans Unicode" panose="020B0602030504020204"/>
                        </a:rPr>
                        <a:t> </a:t>
                      </a:r>
                      <a:r>
                        <a:rPr sz="650" spc="-5" dirty="0">
                          <a:latin typeface="Lucida Sans Unicode" panose="020B0602030504020204"/>
                          <a:cs typeface="Lucida Sans Unicode" panose="020B0602030504020204"/>
                        </a:rPr>
                        <a:t>р</a:t>
                      </a: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у</a:t>
                      </a:r>
                      <a:r>
                        <a:rPr sz="650" spc="-10" dirty="0">
                          <a:latin typeface="Lucida Sans Unicode" panose="020B0602030504020204"/>
                          <a:cs typeface="Lucida Sans Unicode" panose="020B0602030504020204"/>
                        </a:rPr>
                        <a:t>к</a:t>
                      </a: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оводство</a:t>
                      </a:r>
                      <a:endParaRPr sz="650">
                        <a:latin typeface="Lucida Sans Unicode" panose="020B0602030504020204"/>
                        <a:cs typeface="Lucida Sans Unicode" panose="020B0602030504020204"/>
                      </a:endParaRPr>
                    </a:p>
                    <a:p>
                      <a:pPr marL="78105" marR="174625">
                        <a:lnSpc>
                          <a:spcPct val="138000"/>
                        </a:lnSpc>
                      </a:pP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для</a:t>
                      </a:r>
                      <a:r>
                        <a:rPr sz="650" spc="-35" dirty="0">
                          <a:latin typeface="Lucida Sans Unicode" panose="020B0602030504020204"/>
                          <a:cs typeface="Lucida Sans Unicode" panose="020B0602030504020204"/>
                        </a:rPr>
                        <a:t> </a:t>
                      </a:r>
                      <a:r>
                        <a:rPr sz="650" spc="-5" dirty="0">
                          <a:latin typeface="Lucida Sans Unicode" panose="020B0602030504020204"/>
                          <a:cs typeface="Lucida Sans Unicode" panose="020B0602030504020204"/>
                        </a:rPr>
                        <a:t>начальног</a:t>
                      </a: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о</a:t>
                      </a:r>
                      <a:r>
                        <a:rPr sz="650" spc="-35" dirty="0">
                          <a:latin typeface="Lucida Sans Unicode" panose="020B0602030504020204"/>
                          <a:cs typeface="Lucida Sans Unicode" panose="020B0602030504020204"/>
                        </a:rPr>
                        <a:t> </a:t>
                      </a:r>
                      <a:r>
                        <a:rPr sz="650" spc="-5" dirty="0">
                          <a:latin typeface="Lucida Sans Unicode" panose="020B0602030504020204"/>
                          <a:cs typeface="Lucida Sans Unicode" panose="020B0602030504020204"/>
                        </a:rPr>
                        <a:t>зна</a:t>
                      </a:r>
                      <a:r>
                        <a:rPr sz="650" spc="-10" dirty="0">
                          <a:latin typeface="Lucida Sans Unicode" panose="020B0602030504020204"/>
                          <a:cs typeface="Lucida Sans Unicode" panose="020B0602030504020204"/>
                        </a:rPr>
                        <a:t>к</a:t>
                      </a: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омства  </a:t>
                      </a: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с</a:t>
                      </a:r>
                      <a:r>
                        <a:rPr sz="650" spc="-35" dirty="0">
                          <a:latin typeface="Lucida Sans Unicode" panose="020B0602030504020204"/>
                          <a:cs typeface="Lucida Sans Unicode" panose="020B0602030504020204"/>
                        </a:rPr>
                        <a:t> </a:t>
                      </a: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сис</a:t>
                      </a:r>
                      <a:r>
                        <a:rPr sz="650" spc="-5" dirty="0">
                          <a:latin typeface="Lucida Sans Unicode" panose="020B0602030504020204"/>
                          <a:cs typeface="Lucida Sans Unicode" panose="020B0602030504020204"/>
                        </a:rPr>
                        <a:t>т</a:t>
                      </a: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емой</a:t>
                      </a:r>
                      <a:endParaRPr sz="650">
                        <a:latin typeface="Lucida Sans Unicode" panose="020B0602030504020204"/>
                        <a:cs typeface="Lucida Sans Unicode" panose="020B060203050402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503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650" spc="15" dirty="0">
                          <a:latin typeface="Lucida Sans Unicode" panose="020B0602030504020204"/>
                          <a:cs typeface="Lucida Sans Unicode" panose="020B0602030504020204"/>
                        </a:rPr>
                        <a:t>Справочное</a:t>
                      </a:r>
                      <a:r>
                        <a:rPr lang="en-US" sz="650" spc="15" dirty="0">
                          <a:latin typeface="Lucida Sans Unicode" panose="020B0602030504020204"/>
                          <a:cs typeface="Lucida Sans Unicode" panose="020B0602030504020204"/>
                        </a:rPr>
                        <a:t> </a:t>
                      </a:r>
                      <a:r>
                        <a:rPr sz="650" spc="-5" dirty="0">
                          <a:latin typeface="Lucida Sans Unicode" panose="020B0602030504020204"/>
                          <a:cs typeface="Lucida Sans Unicode" panose="020B0602030504020204"/>
                        </a:rPr>
                        <a:t>р</a:t>
                      </a: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у</a:t>
                      </a:r>
                      <a:r>
                        <a:rPr sz="650" spc="-10" dirty="0">
                          <a:latin typeface="Lucida Sans Unicode" panose="020B0602030504020204"/>
                          <a:cs typeface="Lucida Sans Unicode" panose="020B0602030504020204"/>
                        </a:rPr>
                        <a:t>к</a:t>
                      </a: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оводство</a:t>
                      </a:r>
                      <a:r>
                        <a:rPr sz="650" spc="-35" dirty="0">
                          <a:latin typeface="Lucida Sans Unicode" panose="020B0602030504020204"/>
                          <a:cs typeface="Lucida Sans Unicode" panose="020B0602030504020204"/>
                        </a:rPr>
                        <a:t> </a:t>
                      </a: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(</a:t>
                      </a:r>
                      <a:r>
                        <a:rPr sz="650" i="1" spc="5" dirty="0">
                          <a:latin typeface="Arial" panose="020B0604020202020204"/>
                          <a:cs typeface="Arial" panose="020B0604020202020204"/>
                        </a:rPr>
                        <a:t>reference</a:t>
                      </a:r>
                      <a:r>
                        <a:rPr sz="650" i="1" spc="-4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650" i="1" spc="20" dirty="0">
                          <a:latin typeface="Arial" panose="020B0604020202020204"/>
                          <a:cs typeface="Arial" panose="020B0604020202020204"/>
                        </a:rPr>
                        <a:t>manual</a:t>
                      </a:r>
                      <a:r>
                        <a:rPr sz="650" spc="20" dirty="0">
                          <a:latin typeface="Lucida Sans Unicode" panose="020B0602030504020204"/>
                          <a:cs typeface="Lucida Sans Unicode" panose="020B0602030504020204"/>
                        </a:rPr>
                        <a:t>)</a:t>
                      </a:r>
                      <a:endParaRPr sz="650">
                        <a:latin typeface="Lucida Sans Unicode" panose="020B0602030504020204"/>
                        <a:cs typeface="Lucida Sans Unicode" panose="020B060203050402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опытные</a:t>
                      </a:r>
                      <a:r>
                        <a:rPr sz="650" spc="-35" dirty="0">
                          <a:latin typeface="Lucida Sans Unicode" panose="020B0602030504020204"/>
                          <a:cs typeface="Lucida Sans Unicode" panose="020B0602030504020204"/>
                        </a:rPr>
                        <a:t> </a:t>
                      </a: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пользова</a:t>
                      </a:r>
                      <a:r>
                        <a:rPr sz="650" spc="-5" dirty="0">
                          <a:latin typeface="Lucida Sans Unicode" panose="020B0602030504020204"/>
                          <a:cs typeface="Lucida Sans Unicode" panose="020B0602030504020204"/>
                        </a:rPr>
                        <a:t>т</a:t>
                      </a: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ели</a:t>
                      </a:r>
                      <a:endParaRPr sz="650">
                        <a:latin typeface="Lucida Sans Unicode" panose="020B0602030504020204"/>
                        <a:cs typeface="Lucida Sans Unicode" panose="020B060203050402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детальное</a:t>
                      </a:r>
                      <a:r>
                        <a:rPr sz="650" spc="-35" dirty="0">
                          <a:latin typeface="Lucida Sans Unicode" panose="020B0602030504020204"/>
                          <a:cs typeface="Lucida Sans Unicode" panose="020B0602030504020204"/>
                        </a:rPr>
                        <a:t> </a:t>
                      </a: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описание</a:t>
                      </a:r>
                      <a:endParaRPr sz="650">
                        <a:latin typeface="Lucida Sans Unicode" panose="020B0602030504020204"/>
                        <a:cs typeface="Lucida Sans Unicode" panose="020B0602030504020204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650" spc="-5" dirty="0">
                          <a:latin typeface="Lucida Sans Unicode" panose="020B0602030504020204"/>
                          <a:cs typeface="Lucida Sans Unicode" panose="020B0602030504020204"/>
                        </a:rPr>
                        <a:t>ф</a:t>
                      </a: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ункционал</a:t>
                      </a:r>
                      <a:r>
                        <a:rPr lang="ru-RU" sz="650" dirty="0">
                          <a:latin typeface="Lucida Sans Unicode" panose="020B0602030504020204"/>
                          <a:cs typeface="Lucida Sans Unicode" panose="020B0602030504020204"/>
                        </a:rPr>
                        <a:t>ьности</a:t>
                      </a:r>
                      <a:r>
                        <a:rPr sz="650" spc="-35" dirty="0">
                          <a:latin typeface="Lucida Sans Unicode" panose="020B0602030504020204"/>
                          <a:cs typeface="Lucida Sans Unicode" panose="020B0602030504020204"/>
                        </a:rPr>
                        <a:t> </a:t>
                      </a:r>
                      <a:r>
                        <a:rPr sz="650" dirty="0">
                          <a:latin typeface="Lucida Sans Unicode" panose="020B0602030504020204"/>
                          <a:cs typeface="Lucida Sans Unicode" panose="020B0602030504020204"/>
                        </a:rPr>
                        <a:t>ПО</a:t>
                      </a:r>
                      <a:endParaRPr sz="650">
                        <a:latin typeface="Lucida Sans Unicode" panose="020B0602030504020204"/>
                        <a:cs typeface="Lucida Sans Unicode" panose="020B060203050402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23" name="object 23"/>
          <p:cNvGrpSpPr/>
          <p:nvPr/>
        </p:nvGrpSpPr>
        <p:grpSpPr>
          <a:xfrm>
            <a:off x="0" y="3305175"/>
            <a:ext cx="4608195" cy="151130"/>
            <a:chOff x="0" y="3305175"/>
            <a:chExt cx="4608195" cy="151130"/>
          </a:xfrm>
        </p:grpSpPr>
        <p:sp>
          <p:nvSpPr>
            <p:cNvPr id="24" name="object 24"/>
            <p:cNvSpPr/>
            <p:nvPr/>
          </p:nvSpPr>
          <p:spPr>
            <a:xfrm>
              <a:off x="0" y="3305175"/>
              <a:ext cx="4608195" cy="151130"/>
            </a:xfrm>
            <a:custGeom>
              <a:avLst/>
              <a:gdLst/>
              <a:ahLst/>
              <a:cxnLst/>
              <a:rect l="l" t="t" r="r" b="b"/>
              <a:pathLst>
                <a:path w="4608195" h="151129">
                  <a:moveTo>
                    <a:pt x="4607941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4607941" y="150875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465199" y="3382390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4">
                  <a:moveTo>
                    <a:pt x="0" y="0"/>
                  </a:moveTo>
                  <a:lnTo>
                    <a:pt x="54736" y="0"/>
                  </a:lnTo>
                </a:path>
              </a:pathLst>
            </a:custGeom>
            <a:ln w="50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207128" y="3320923"/>
              <a:ext cx="364490" cy="120014"/>
            </a:xfrm>
            <a:custGeom>
              <a:avLst/>
              <a:gdLst/>
              <a:ahLst/>
              <a:cxnLst/>
              <a:rect l="l" t="t" r="r" b="b"/>
              <a:pathLst>
                <a:path w="364489" h="120014">
                  <a:moveTo>
                    <a:pt x="364363" y="0"/>
                  </a:moveTo>
                  <a:lnTo>
                    <a:pt x="0" y="0"/>
                  </a:lnTo>
                  <a:lnTo>
                    <a:pt x="0" y="119506"/>
                  </a:lnTo>
                  <a:lnTo>
                    <a:pt x="364363" y="119506"/>
                  </a:lnTo>
                  <a:lnTo>
                    <a:pt x="36436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xfrm>
            <a:off x="23749" y="3313885"/>
            <a:ext cx="2357120" cy="1047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>
                <a:sym typeface="+mn-ea"/>
              </a:rPr>
              <a:t>Программная</a:t>
            </a:r>
            <a:r>
              <a:rPr spc="-30" dirty="0">
                <a:sym typeface="+mn-ea"/>
              </a:rPr>
              <a:t> </a:t>
            </a:r>
            <a:r>
              <a:rPr spc="15" dirty="0">
                <a:sym typeface="+mn-ea"/>
              </a:rPr>
              <a:t>инженерия.</a:t>
            </a:r>
            <a:r>
              <a:rPr spc="25" dirty="0">
                <a:sym typeface="+mn-ea"/>
              </a:rPr>
              <a:t> </a:t>
            </a:r>
            <a:r>
              <a:rPr spc="10" dirty="0">
                <a:sym typeface="+mn-ea"/>
              </a:rPr>
              <a:t>Документирование</a:t>
            </a:r>
            <a:r>
              <a:rPr spc="-25" dirty="0">
                <a:sym typeface="+mn-ea"/>
              </a:rPr>
              <a:t> </a:t>
            </a:r>
            <a:r>
              <a:rPr spc="15" dirty="0">
                <a:sym typeface="+mn-ea"/>
              </a:rPr>
              <a:t>ПО</a:t>
            </a:r>
            <a:endParaRPr spc="15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-20" dirty="0"/>
              <a:t>1</a:t>
            </a:r>
            <a:r>
              <a:rPr spc="-20" dirty="0"/>
              <a:t>4</a:t>
            </a:r>
            <a:r>
              <a:rPr spc="-80" dirty="0"/>
              <a:t> </a:t>
            </a:r>
            <a:r>
              <a:rPr spc="-75" dirty="0"/>
              <a:t>/</a:t>
            </a:r>
            <a:r>
              <a:rPr spc="-80" dirty="0"/>
              <a:t> </a:t>
            </a:r>
            <a:r>
              <a:rPr spc="-20" dirty="0"/>
              <a:t>26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50" y="13017"/>
            <a:ext cx="69405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Общие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понятия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61642" y="145981"/>
            <a:ext cx="464184" cy="32384"/>
            <a:chOff x="1961642" y="145981"/>
            <a:chExt cx="464184" cy="32384"/>
          </a:xfrm>
        </p:grpSpPr>
        <p:sp>
          <p:nvSpPr>
            <p:cNvPr id="4" name="object 4"/>
            <p:cNvSpPr/>
            <p:nvPr/>
          </p:nvSpPr>
          <p:spPr>
            <a:xfrm>
              <a:off x="19641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002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0361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07213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1082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0949" y="0"/>
                  </a:moveTo>
                  <a:lnTo>
                    <a:pt x="6042" y="0"/>
                  </a:lnTo>
                  <a:lnTo>
                    <a:pt x="0" y="6042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6042"/>
                  </a:lnTo>
                  <a:lnTo>
                    <a:pt x="209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1082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1441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1800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161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2520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28815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3241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3600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39610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938908" y="13017"/>
            <a:ext cx="87947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Виды</a:t>
            </a:r>
            <a:r>
              <a:rPr sz="650" spc="-3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90730" y="145991"/>
            <a:ext cx="104139" cy="32384"/>
            <a:chOff x="3990730" y="145991"/>
            <a:chExt cx="104139" cy="32384"/>
          </a:xfrm>
        </p:grpSpPr>
        <p:sp>
          <p:nvSpPr>
            <p:cNvPr id="20" name="object 20"/>
            <p:cNvSpPr/>
            <p:nvPr/>
          </p:nvSpPr>
          <p:spPr>
            <a:xfrm>
              <a:off x="399326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02932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06526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3967988" y="13017"/>
            <a:ext cx="54546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Заключение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847" y="269964"/>
            <a:ext cx="1701164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3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Сис</a:t>
            </a:r>
            <a:r>
              <a:rPr sz="1050" spc="-3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т</a:t>
            </a:r>
            <a:r>
              <a:rPr sz="1050" spc="1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емная</a:t>
            </a:r>
            <a:r>
              <a:rPr sz="1050" spc="-6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1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документация</a:t>
            </a:r>
            <a:endParaRPr sz="10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5260" y="693420"/>
            <a:ext cx="4177665" cy="5334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spc="-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Определение</a:t>
            </a:r>
            <a:endParaRPr sz="950">
              <a:latin typeface="Lucida Sans Unicode" panose="020B0602030504020204"/>
              <a:cs typeface="Lucida Sans Unicode" panose="020B0602030504020204"/>
            </a:endParaRPr>
          </a:p>
          <a:p>
            <a:pPr marL="12700" marR="5080">
              <a:lnSpc>
                <a:spcPct val="142000"/>
              </a:lnSpc>
              <a:spcBef>
                <a:spcPts val="185"/>
              </a:spcBef>
            </a:pPr>
            <a:r>
              <a:rPr sz="750" b="1" spc="30" dirty="0">
                <a:latin typeface="Arial" panose="020B0604020202020204"/>
                <a:cs typeface="Arial" panose="020B0604020202020204"/>
              </a:rPr>
              <a:t>Системная</a:t>
            </a:r>
            <a:r>
              <a:rPr sz="75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50" dirty="0">
                <a:latin typeface="Arial" panose="020B0604020202020204"/>
                <a:cs typeface="Arial" panose="020B0604020202020204"/>
              </a:rPr>
              <a:t>документация</a:t>
            </a:r>
            <a:r>
              <a:rPr sz="75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15" dirty="0">
                <a:latin typeface="Lucida Sans Unicode" panose="020B0602030504020204"/>
                <a:cs typeface="Lucida Sans Unicode" panose="020B0602030504020204"/>
              </a:rPr>
              <a:t>(</a:t>
            </a:r>
            <a:r>
              <a:rPr sz="750" i="1" spc="-15" dirty="0">
                <a:latin typeface="Arial" panose="020B0604020202020204"/>
                <a:cs typeface="Arial" panose="020B0604020202020204"/>
              </a:rPr>
              <a:t>system </a:t>
            </a:r>
            <a:r>
              <a:rPr sz="750" i="1" spc="10" dirty="0">
                <a:latin typeface="Arial" panose="020B0604020202020204"/>
                <a:cs typeface="Arial" panose="020B0604020202020204"/>
              </a:rPr>
              <a:t>documentation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)</a:t>
            </a:r>
            <a:r>
              <a:rPr lang="ru-RU" sz="750" spc="10" dirty="0">
                <a:latin typeface="Lucida Sans Unicode" panose="020B0602030504020204"/>
                <a:cs typeface="Lucida Sans Unicode" panose="020B0602030504020204"/>
              </a:rPr>
              <a:t> - </a:t>
            </a:r>
            <a:r>
              <a:rPr sz="750" dirty="0">
                <a:latin typeface="Lucida Sans Unicode" panose="020B0602030504020204"/>
                <a:cs typeface="Lucida Sans Unicode" panose="020B0602030504020204"/>
                <a:sym typeface="+mn-ea"/>
              </a:rPr>
              <a:t>документы,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  <a:sym typeface="+mn-ea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  <a:sym typeface="+mn-ea"/>
              </a:rPr>
              <a:t>описывающие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2700" marR="5080">
              <a:lnSpc>
                <a:spcPct val="142000"/>
              </a:lnSpc>
              <a:spcBef>
                <a:spcPts val="185"/>
              </a:spcBef>
            </a:pP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2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структуру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программной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системы.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9860" y="1323340"/>
            <a:ext cx="4227195" cy="16687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750" b="1" spc="25" dirty="0">
                <a:latin typeface="Arial" panose="020B0604020202020204"/>
                <a:cs typeface="Arial" panose="020B0604020202020204"/>
              </a:rPr>
              <a:t>Виды</a:t>
            </a:r>
            <a:r>
              <a:rPr sz="75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40" dirty="0">
                <a:latin typeface="Arial" panose="020B0604020202020204"/>
                <a:cs typeface="Arial" panose="020B0604020202020204"/>
              </a:rPr>
              <a:t>системной</a:t>
            </a:r>
            <a:r>
              <a:rPr sz="75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50" dirty="0">
                <a:latin typeface="Arial" panose="020B0604020202020204"/>
                <a:cs typeface="Arial" panose="020B0604020202020204"/>
              </a:rPr>
              <a:t>документации: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30810">
              <a:lnSpc>
                <a:spcPct val="100000"/>
              </a:lnSpc>
              <a:spcBef>
                <a:spcPts val="67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34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документ</a:t>
            </a:r>
            <a:r>
              <a:rPr sz="750" spc="-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спецификации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требований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30810">
              <a:lnSpc>
                <a:spcPct val="100000"/>
              </a:lnSpc>
              <a:spcBef>
                <a:spcPts val="67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42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описание</a:t>
            </a:r>
            <a:r>
              <a:rPr sz="750" spc="-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общей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архитектуры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системы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252730" marR="635000" indent="-122555">
              <a:lnSpc>
                <a:spcPct val="142000"/>
              </a:lnSpc>
              <a:spcBef>
                <a:spcPts val="300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87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описание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отельных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компонентов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(архитектура,</a:t>
            </a:r>
            <a:r>
              <a:rPr lang="ru-RU" sz="750" spc="-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предоставляемая </a:t>
            </a:r>
            <a:r>
              <a:rPr sz="75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функциональность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и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интерфейсы)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30810">
              <a:lnSpc>
                <a:spcPct val="100000"/>
              </a:lnSpc>
              <a:spcBef>
                <a:spcPts val="680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 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ис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х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одный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к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од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и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к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омментарии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45" dirty="0">
                <a:latin typeface="Lucida Sans Unicode" panose="020B0602030504020204"/>
                <a:cs typeface="Lucida Sans Unicode" panose="020B0602030504020204"/>
              </a:rPr>
              <a:t>в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нем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30810">
              <a:lnSpc>
                <a:spcPct val="100000"/>
              </a:lnSpc>
              <a:spcBef>
                <a:spcPts val="67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72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документы,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касающиеся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валидации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системы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252730" marR="30480" indent="-122555">
              <a:lnSpc>
                <a:spcPct val="142000"/>
              </a:lnSpc>
              <a:spcBef>
                <a:spcPts val="300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50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руководство</a:t>
            </a: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по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сопровождению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системы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(известные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проблемы,</a:t>
            </a: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направления </a:t>
            </a:r>
            <a:r>
              <a:rPr sz="75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эволюции,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внешние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зависимости</a:t>
            </a:r>
            <a:r>
              <a:rPr sz="750" spc="-65" dirty="0">
                <a:latin typeface="Lucida Sans Unicode" panose="020B0602030504020204"/>
                <a:cs typeface="Lucida Sans Unicode" panose="020B0602030504020204"/>
              </a:rPr>
              <a:t>)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0" y="3305175"/>
            <a:ext cx="4608195" cy="151130"/>
            <a:chOff x="0" y="3305175"/>
            <a:chExt cx="4608195" cy="151130"/>
          </a:xfrm>
        </p:grpSpPr>
        <p:sp>
          <p:nvSpPr>
            <p:cNvPr id="30" name="object 30"/>
            <p:cNvSpPr/>
            <p:nvPr/>
          </p:nvSpPr>
          <p:spPr>
            <a:xfrm>
              <a:off x="0" y="3305175"/>
              <a:ext cx="4608195" cy="151130"/>
            </a:xfrm>
            <a:custGeom>
              <a:avLst/>
              <a:gdLst/>
              <a:ahLst/>
              <a:cxnLst/>
              <a:rect l="l" t="t" r="r" b="b"/>
              <a:pathLst>
                <a:path w="4608195" h="151129">
                  <a:moveTo>
                    <a:pt x="4607941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4607941" y="150875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465199" y="3382390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4">
                  <a:moveTo>
                    <a:pt x="0" y="0"/>
                  </a:moveTo>
                  <a:lnTo>
                    <a:pt x="54736" y="0"/>
                  </a:lnTo>
                </a:path>
              </a:pathLst>
            </a:custGeom>
            <a:ln w="50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207128" y="3320923"/>
              <a:ext cx="364490" cy="120014"/>
            </a:xfrm>
            <a:custGeom>
              <a:avLst/>
              <a:gdLst/>
              <a:ahLst/>
              <a:cxnLst/>
              <a:rect l="l" t="t" r="r" b="b"/>
              <a:pathLst>
                <a:path w="364489" h="120014">
                  <a:moveTo>
                    <a:pt x="364363" y="0"/>
                  </a:moveTo>
                  <a:lnTo>
                    <a:pt x="0" y="0"/>
                  </a:lnTo>
                  <a:lnTo>
                    <a:pt x="0" y="119506"/>
                  </a:lnTo>
                  <a:lnTo>
                    <a:pt x="364363" y="119506"/>
                  </a:lnTo>
                  <a:lnTo>
                    <a:pt x="36436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xfrm>
            <a:off x="23749" y="3313885"/>
            <a:ext cx="2357120" cy="1047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>
                <a:sym typeface="+mn-ea"/>
              </a:rPr>
              <a:t>Программная</a:t>
            </a:r>
            <a:r>
              <a:rPr spc="-30" dirty="0">
                <a:sym typeface="+mn-ea"/>
              </a:rPr>
              <a:t> </a:t>
            </a:r>
            <a:r>
              <a:rPr spc="15" dirty="0">
                <a:sym typeface="+mn-ea"/>
              </a:rPr>
              <a:t>инженерия.</a:t>
            </a:r>
            <a:r>
              <a:rPr spc="25" dirty="0">
                <a:sym typeface="+mn-ea"/>
              </a:rPr>
              <a:t> </a:t>
            </a:r>
            <a:r>
              <a:rPr spc="10" dirty="0">
                <a:sym typeface="+mn-ea"/>
              </a:rPr>
              <a:t>Документирование</a:t>
            </a:r>
            <a:r>
              <a:rPr spc="-25" dirty="0">
                <a:sym typeface="+mn-ea"/>
              </a:rPr>
              <a:t> </a:t>
            </a:r>
            <a:r>
              <a:rPr spc="15" dirty="0">
                <a:sym typeface="+mn-ea"/>
              </a:rPr>
              <a:t>ПО</a:t>
            </a:r>
            <a:endParaRPr spc="15" dirty="0"/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-20" dirty="0"/>
              <a:t>1</a:t>
            </a:r>
            <a:r>
              <a:rPr spc="-20" dirty="0"/>
              <a:t>5</a:t>
            </a:r>
            <a:r>
              <a:rPr spc="-80" dirty="0"/>
              <a:t> </a:t>
            </a:r>
            <a:r>
              <a:rPr spc="-75" dirty="0"/>
              <a:t>/</a:t>
            </a:r>
            <a:r>
              <a:rPr spc="-80" dirty="0"/>
              <a:t> </a:t>
            </a:r>
            <a:r>
              <a:rPr spc="-20" dirty="0"/>
              <a:t>26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50" y="13017"/>
            <a:ext cx="69405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Общие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понятия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61642" y="145981"/>
            <a:ext cx="464184" cy="32384"/>
            <a:chOff x="1961642" y="145981"/>
            <a:chExt cx="464184" cy="32384"/>
          </a:xfrm>
        </p:grpSpPr>
        <p:sp>
          <p:nvSpPr>
            <p:cNvPr id="4" name="object 4"/>
            <p:cNvSpPr/>
            <p:nvPr/>
          </p:nvSpPr>
          <p:spPr>
            <a:xfrm>
              <a:off x="19641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002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0361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07213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1082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1441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0949" y="0"/>
                  </a:moveTo>
                  <a:lnTo>
                    <a:pt x="6042" y="0"/>
                  </a:lnTo>
                  <a:lnTo>
                    <a:pt x="0" y="6042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6042"/>
                  </a:lnTo>
                  <a:lnTo>
                    <a:pt x="209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1441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1800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161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2520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28815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3241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3600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39610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938908" y="13017"/>
            <a:ext cx="87947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Виды</a:t>
            </a:r>
            <a:r>
              <a:rPr sz="650" spc="-3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90730" y="145991"/>
            <a:ext cx="104139" cy="32384"/>
            <a:chOff x="3990730" y="145991"/>
            <a:chExt cx="104139" cy="32384"/>
          </a:xfrm>
        </p:grpSpPr>
        <p:sp>
          <p:nvSpPr>
            <p:cNvPr id="20" name="object 20"/>
            <p:cNvSpPr/>
            <p:nvPr/>
          </p:nvSpPr>
          <p:spPr>
            <a:xfrm>
              <a:off x="399326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02932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06526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3967988" y="13017"/>
            <a:ext cx="54546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Заключение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847" y="269964"/>
            <a:ext cx="170815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3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Г</a:t>
            </a:r>
            <a:r>
              <a:rPr sz="105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енерация</a:t>
            </a:r>
            <a:r>
              <a:rPr sz="1050" spc="-6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2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10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937401" y="662005"/>
            <a:ext cx="826135" cy="316230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710"/>
              </a:spcBef>
            </a:pP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Ис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х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одный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к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од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06365" y="1177227"/>
            <a:ext cx="826135" cy="316230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675"/>
              </a:spcBef>
            </a:pP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Комментарии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768437" y="1177227"/>
            <a:ext cx="826135" cy="316230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675"/>
              </a:spcBef>
            </a:pP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Структура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06365" y="1692449"/>
            <a:ext cx="826135" cy="316230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66675" marR="59055" indent="97155">
              <a:lnSpc>
                <a:spcPct val="105000"/>
              </a:lnSpc>
              <a:spcBef>
                <a:spcPts val="155"/>
              </a:spcBef>
            </a:pPr>
            <a:r>
              <a:rPr sz="750" dirty="0">
                <a:latin typeface="Lucida Sans Unicode" panose="020B0602030504020204"/>
                <a:cs typeface="Lucida Sans Unicode" panose="020B0602030504020204"/>
              </a:rPr>
              <a:t>Генератор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77136" y="2304844"/>
            <a:ext cx="1084580" cy="316230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207010" marR="24765" indent="-175260">
              <a:lnSpc>
                <a:spcPct val="105000"/>
              </a:lnSpc>
              <a:spcBef>
                <a:spcPts val="195"/>
              </a:spcBef>
            </a:pP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HTML-страницы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,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PD</a:t>
            </a:r>
            <a:r>
              <a:rPr sz="750" spc="-15" dirty="0">
                <a:latin typeface="Lucida Sans Unicode" panose="020B0602030504020204"/>
                <a:cs typeface="Lucida Sans Unicode" panose="020B0602030504020204"/>
              </a:rPr>
              <a:t>F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,  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UML-с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х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емы,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45" dirty="0">
                <a:latin typeface="Lucida Sans Unicode" panose="020B0602030504020204"/>
                <a:cs typeface="Lucida Sans Unicode" panose="020B0602030504020204"/>
              </a:rPr>
              <a:t>…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757283" y="1692449"/>
            <a:ext cx="848360" cy="316230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53975" marR="24130" indent="-22225">
              <a:lnSpc>
                <a:spcPct val="105000"/>
              </a:lnSpc>
              <a:spcBef>
                <a:spcPts val="170"/>
              </a:spcBef>
            </a:pPr>
            <a:r>
              <a:rPr sz="750" dirty="0">
                <a:latin typeface="Lucida Sans Unicode" panose="020B0602030504020204"/>
                <a:cs typeface="Lucida Sans Unicode" panose="020B0602030504020204"/>
              </a:rPr>
              <a:t>Синта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к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сический 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анализа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т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ор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IDE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768437" y="2304844"/>
            <a:ext cx="826135" cy="316230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214630" marR="107315" indent="-99695">
              <a:lnSpc>
                <a:spcPct val="105000"/>
              </a:lnSpc>
              <a:spcBef>
                <a:spcPts val="175"/>
              </a:spcBef>
            </a:pP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Конт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е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к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стная 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помощь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778063" y="977818"/>
            <a:ext cx="316230" cy="197485"/>
            <a:chOff x="1778063" y="977818"/>
            <a:chExt cx="316230" cy="197485"/>
          </a:xfrm>
        </p:grpSpPr>
        <p:sp>
          <p:nvSpPr>
            <p:cNvPr id="33" name="object 33"/>
            <p:cNvSpPr/>
            <p:nvPr/>
          </p:nvSpPr>
          <p:spPr>
            <a:xfrm>
              <a:off x="1816948" y="980349"/>
              <a:ext cx="274955" cy="170815"/>
            </a:xfrm>
            <a:custGeom>
              <a:avLst/>
              <a:gdLst/>
              <a:ahLst/>
              <a:cxnLst/>
              <a:rect l="l" t="t" r="r" b="b"/>
              <a:pathLst>
                <a:path w="274955" h="170815">
                  <a:moveTo>
                    <a:pt x="274653" y="0"/>
                  </a:moveTo>
                  <a:lnTo>
                    <a:pt x="0" y="170244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778063" y="1131713"/>
              <a:ext cx="53340" cy="43180"/>
            </a:xfrm>
            <a:custGeom>
              <a:avLst/>
              <a:gdLst/>
              <a:ahLst/>
              <a:cxnLst/>
              <a:rect l="l" t="t" r="r" b="b"/>
              <a:pathLst>
                <a:path w="53339" h="43180">
                  <a:moveTo>
                    <a:pt x="53248" y="32404"/>
                  </a:moveTo>
                  <a:lnTo>
                    <a:pt x="33162" y="0"/>
                  </a:lnTo>
                  <a:lnTo>
                    <a:pt x="25922" y="11987"/>
                  </a:lnTo>
                  <a:lnTo>
                    <a:pt x="17296" y="23851"/>
                  </a:lnTo>
                  <a:lnTo>
                    <a:pt x="8313" y="34535"/>
                  </a:lnTo>
                  <a:lnTo>
                    <a:pt x="0" y="42982"/>
                  </a:lnTo>
                  <a:lnTo>
                    <a:pt x="11263" y="39294"/>
                  </a:lnTo>
                  <a:lnTo>
                    <a:pt x="24828" y="36002"/>
                  </a:lnTo>
                  <a:lnTo>
                    <a:pt x="39291" y="33556"/>
                  </a:lnTo>
                  <a:lnTo>
                    <a:pt x="53248" y="324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/>
          <p:cNvGrpSpPr/>
          <p:nvPr/>
        </p:nvGrpSpPr>
        <p:grpSpPr>
          <a:xfrm>
            <a:off x="2606644" y="977818"/>
            <a:ext cx="316230" cy="197485"/>
            <a:chOff x="2606644" y="977818"/>
            <a:chExt cx="316230" cy="197485"/>
          </a:xfrm>
        </p:grpSpPr>
        <p:sp>
          <p:nvSpPr>
            <p:cNvPr id="36" name="object 36"/>
            <p:cNvSpPr/>
            <p:nvPr/>
          </p:nvSpPr>
          <p:spPr>
            <a:xfrm>
              <a:off x="2609175" y="980349"/>
              <a:ext cx="274955" cy="170815"/>
            </a:xfrm>
            <a:custGeom>
              <a:avLst/>
              <a:gdLst/>
              <a:ahLst/>
              <a:cxnLst/>
              <a:rect l="l" t="t" r="r" b="b"/>
              <a:pathLst>
                <a:path w="274955" h="170815">
                  <a:moveTo>
                    <a:pt x="0" y="0"/>
                  </a:moveTo>
                  <a:lnTo>
                    <a:pt x="274653" y="170244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869465" y="1131713"/>
              <a:ext cx="53340" cy="43180"/>
            </a:xfrm>
            <a:custGeom>
              <a:avLst/>
              <a:gdLst/>
              <a:ahLst/>
              <a:cxnLst/>
              <a:rect l="l" t="t" r="r" b="b"/>
              <a:pathLst>
                <a:path w="53339" h="43180">
                  <a:moveTo>
                    <a:pt x="20085" y="0"/>
                  </a:moveTo>
                  <a:lnTo>
                    <a:pt x="0" y="32404"/>
                  </a:lnTo>
                  <a:lnTo>
                    <a:pt x="13956" y="33556"/>
                  </a:lnTo>
                  <a:lnTo>
                    <a:pt x="28419" y="36002"/>
                  </a:lnTo>
                  <a:lnTo>
                    <a:pt x="41984" y="39294"/>
                  </a:lnTo>
                  <a:lnTo>
                    <a:pt x="53248" y="42982"/>
                  </a:lnTo>
                  <a:lnTo>
                    <a:pt x="44934" y="34535"/>
                  </a:lnTo>
                  <a:lnTo>
                    <a:pt x="35951" y="23851"/>
                  </a:lnTo>
                  <a:lnTo>
                    <a:pt x="27326" y="11987"/>
                  </a:lnTo>
                  <a:lnTo>
                    <a:pt x="200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/>
          <p:cNvGrpSpPr/>
          <p:nvPr/>
        </p:nvGrpSpPr>
        <p:grpSpPr>
          <a:xfrm>
            <a:off x="1500374" y="1495571"/>
            <a:ext cx="38100" cy="194945"/>
            <a:chOff x="1500374" y="1495571"/>
            <a:chExt cx="38100" cy="194945"/>
          </a:xfrm>
        </p:grpSpPr>
        <p:sp>
          <p:nvSpPr>
            <p:cNvPr id="39" name="object 39"/>
            <p:cNvSpPr/>
            <p:nvPr/>
          </p:nvSpPr>
          <p:spPr>
            <a:xfrm>
              <a:off x="1519353" y="1495571"/>
              <a:ext cx="0" cy="149225"/>
            </a:xfrm>
            <a:custGeom>
              <a:avLst/>
              <a:gdLst/>
              <a:ahLst/>
              <a:cxnLst/>
              <a:rect l="l" t="t" r="r" b="b"/>
              <a:pathLst>
                <a:path h="149225">
                  <a:moveTo>
                    <a:pt x="0" y="0"/>
                  </a:moveTo>
                  <a:lnTo>
                    <a:pt x="0" y="148797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500374" y="1639308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37957" y="0"/>
                  </a:moveTo>
                  <a:lnTo>
                    <a:pt x="0" y="0"/>
                  </a:lnTo>
                  <a:lnTo>
                    <a:pt x="6345" y="12415"/>
                  </a:lnTo>
                  <a:lnTo>
                    <a:pt x="11861" y="25937"/>
                  </a:lnTo>
                  <a:lnTo>
                    <a:pt x="16191" y="39143"/>
                  </a:lnTo>
                  <a:lnTo>
                    <a:pt x="18978" y="50609"/>
                  </a:lnTo>
                  <a:lnTo>
                    <a:pt x="21766" y="39143"/>
                  </a:lnTo>
                  <a:lnTo>
                    <a:pt x="26095" y="25937"/>
                  </a:lnTo>
                  <a:lnTo>
                    <a:pt x="31611" y="12415"/>
                  </a:lnTo>
                  <a:lnTo>
                    <a:pt x="379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" name="object 41"/>
          <p:cNvGrpSpPr/>
          <p:nvPr/>
        </p:nvGrpSpPr>
        <p:grpSpPr>
          <a:xfrm>
            <a:off x="1932340" y="1461444"/>
            <a:ext cx="836294" cy="263525"/>
            <a:chOff x="1932340" y="1461444"/>
            <a:chExt cx="836294" cy="263525"/>
          </a:xfrm>
        </p:grpSpPr>
        <p:sp>
          <p:nvSpPr>
            <p:cNvPr id="42" name="object 42"/>
            <p:cNvSpPr/>
            <p:nvPr/>
          </p:nvSpPr>
          <p:spPr>
            <a:xfrm>
              <a:off x="1978377" y="1463975"/>
              <a:ext cx="788035" cy="244475"/>
            </a:xfrm>
            <a:custGeom>
              <a:avLst/>
              <a:gdLst/>
              <a:ahLst/>
              <a:cxnLst/>
              <a:rect l="l" t="t" r="r" b="b"/>
              <a:pathLst>
                <a:path w="788035" h="244475">
                  <a:moveTo>
                    <a:pt x="787529" y="0"/>
                  </a:moveTo>
                  <a:lnTo>
                    <a:pt x="0" y="244315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934871" y="1688663"/>
              <a:ext cx="53975" cy="36830"/>
            </a:xfrm>
            <a:custGeom>
              <a:avLst/>
              <a:gdLst/>
              <a:ahLst/>
              <a:cxnLst/>
              <a:rect l="l" t="t" r="r" b="b"/>
              <a:pathLst>
                <a:path w="53975" h="36830">
                  <a:moveTo>
                    <a:pt x="53963" y="36254"/>
                  </a:moveTo>
                  <a:lnTo>
                    <a:pt x="42716" y="0"/>
                  </a:lnTo>
                  <a:lnTo>
                    <a:pt x="32738" y="9740"/>
                  </a:lnTo>
                  <a:lnTo>
                    <a:pt x="21456" y="19015"/>
                  </a:lnTo>
                  <a:lnTo>
                    <a:pt x="10126" y="27064"/>
                  </a:lnTo>
                  <a:lnTo>
                    <a:pt x="0" y="33124"/>
                  </a:lnTo>
                  <a:lnTo>
                    <a:pt x="11778" y="32389"/>
                  </a:lnTo>
                  <a:lnTo>
                    <a:pt x="25674" y="32611"/>
                  </a:lnTo>
                  <a:lnTo>
                    <a:pt x="40225" y="33872"/>
                  </a:lnTo>
                  <a:lnTo>
                    <a:pt x="53963" y="362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934871" y="1463981"/>
              <a:ext cx="776605" cy="241300"/>
            </a:xfrm>
            <a:custGeom>
              <a:avLst/>
              <a:gdLst/>
              <a:ahLst/>
              <a:cxnLst/>
              <a:rect l="l" t="t" r="r" b="b"/>
              <a:pathLst>
                <a:path w="776605" h="241300">
                  <a:moveTo>
                    <a:pt x="0" y="0"/>
                  </a:moveTo>
                  <a:lnTo>
                    <a:pt x="776375" y="240857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700788" y="1685212"/>
              <a:ext cx="53975" cy="36830"/>
            </a:xfrm>
            <a:custGeom>
              <a:avLst/>
              <a:gdLst/>
              <a:ahLst/>
              <a:cxnLst/>
              <a:rect l="l" t="t" r="r" b="b"/>
              <a:pathLst>
                <a:path w="53975" h="36830">
                  <a:moveTo>
                    <a:pt x="11247" y="0"/>
                  </a:moveTo>
                  <a:lnTo>
                    <a:pt x="0" y="36254"/>
                  </a:lnTo>
                  <a:lnTo>
                    <a:pt x="13738" y="33872"/>
                  </a:lnTo>
                  <a:lnTo>
                    <a:pt x="28288" y="32610"/>
                  </a:lnTo>
                  <a:lnTo>
                    <a:pt x="42185" y="32388"/>
                  </a:lnTo>
                  <a:lnTo>
                    <a:pt x="53963" y="33123"/>
                  </a:lnTo>
                  <a:lnTo>
                    <a:pt x="43837" y="27063"/>
                  </a:lnTo>
                  <a:lnTo>
                    <a:pt x="32506" y="19015"/>
                  </a:lnTo>
                  <a:lnTo>
                    <a:pt x="21225" y="9740"/>
                  </a:lnTo>
                  <a:lnTo>
                    <a:pt x="112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" name="object 46"/>
          <p:cNvGrpSpPr/>
          <p:nvPr/>
        </p:nvGrpSpPr>
        <p:grpSpPr>
          <a:xfrm>
            <a:off x="3162446" y="1495571"/>
            <a:ext cx="38100" cy="194945"/>
            <a:chOff x="3162446" y="1495571"/>
            <a:chExt cx="38100" cy="194945"/>
          </a:xfrm>
        </p:grpSpPr>
        <p:sp>
          <p:nvSpPr>
            <p:cNvPr id="47" name="object 47"/>
            <p:cNvSpPr/>
            <p:nvPr/>
          </p:nvSpPr>
          <p:spPr>
            <a:xfrm>
              <a:off x="3181424" y="1495571"/>
              <a:ext cx="0" cy="149225"/>
            </a:xfrm>
            <a:custGeom>
              <a:avLst/>
              <a:gdLst/>
              <a:ahLst/>
              <a:cxnLst/>
              <a:rect l="l" t="t" r="r" b="b"/>
              <a:pathLst>
                <a:path h="149225">
                  <a:moveTo>
                    <a:pt x="0" y="0"/>
                  </a:moveTo>
                  <a:lnTo>
                    <a:pt x="0" y="148797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162446" y="1639308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37957" y="0"/>
                  </a:moveTo>
                  <a:lnTo>
                    <a:pt x="0" y="0"/>
                  </a:lnTo>
                  <a:lnTo>
                    <a:pt x="6345" y="12415"/>
                  </a:lnTo>
                  <a:lnTo>
                    <a:pt x="11861" y="25937"/>
                  </a:lnTo>
                  <a:lnTo>
                    <a:pt x="16191" y="39143"/>
                  </a:lnTo>
                  <a:lnTo>
                    <a:pt x="18978" y="50609"/>
                  </a:lnTo>
                  <a:lnTo>
                    <a:pt x="21766" y="39143"/>
                  </a:lnTo>
                  <a:lnTo>
                    <a:pt x="26095" y="25937"/>
                  </a:lnTo>
                  <a:lnTo>
                    <a:pt x="31611" y="12415"/>
                  </a:lnTo>
                  <a:lnTo>
                    <a:pt x="379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9" name="object 49"/>
          <p:cNvGrpSpPr/>
          <p:nvPr/>
        </p:nvGrpSpPr>
        <p:grpSpPr>
          <a:xfrm>
            <a:off x="1500374" y="2010793"/>
            <a:ext cx="38100" cy="292100"/>
            <a:chOff x="1500374" y="2010793"/>
            <a:chExt cx="38100" cy="292100"/>
          </a:xfrm>
        </p:grpSpPr>
        <p:sp>
          <p:nvSpPr>
            <p:cNvPr id="50" name="object 50"/>
            <p:cNvSpPr/>
            <p:nvPr/>
          </p:nvSpPr>
          <p:spPr>
            <a:xfrm>
              <a:off x="1519353" y="2010793"/>
              <a:ext cx="0" cy="246379"/>
            </a:xfrm>
            <a:custGeom>
              <a:avLst/>
              <a:gdLst/>
              <a:ahLst/>
              <a:cxnLst/>
              <a:rect l="l" t="t" r="r" b="b"/>
              <a:pathLst>
                <a:path h="246380">
                  <a:moveTo>
                    <a:pt x="0" y="0"/>
                  </a:moveTo>
                  <a:lnTo>
                    <a:pt x="0" y="245971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500374" y="2251704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37957" y="0"/>
                  </a:moveTo>
                  <a:lnTo>
                    <a:pt x="0" y="0"/>
                  </a:lnTo>
                  <a:lnTo>
                    <a:pt x="6345" y="12415"/>
                  </a:lnTo>
                  <a:lnTo>
                    <a:pt x="11861" y="25937"/>
                  </a:lnTo>
                  <a:lnTo>
                    <a:pt x="16191" y="39143"/>
                  </a:lnTo>
                  <a:lnTo>
                    <a:pt x="18978" y="50609"/>
                  </a:lnTo>
                  <a:lnTo>
                    <a:pt x="21766" y="39143"/>
                  </a:lnTo>
                  <a:lnTo>
                    <a:pt x="26095" y="25937"/>
                  </a:lnTo>
                  <a:lnTo>
                    <a:pt x="31611" y="12415"/>
                  </a:lnTo>
                  <a:lnTo>
                    <a:pt x="379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2" name="object 52"/>
          <p:cNvGrpSpPr/>
          <p:nvPr/>
        </p:nvGrpSpPr>
        <p:grpSpPr>
          <a:xfrm>
            <a:off x="3162446" y="2010793"/>
            <a:ext cx="38100" cy="292100"/>
            <a:chOff x="3162446" y="2010793"/>
            <a:chExt cx="38100" cy="292100"/>
          </a:xfrm>
        </p:grpSpPr>
        <p:sp>
          <p:nvSpPr>
            <p:cNvPr id="53" name="object 53"/>
            <p:cNvSpPr/>
            <p:nvPr/>
          </p:nvSpPr>
          <p:spPr>
            <a:xfrm>
              <a:off x="3181424" y="2010793"/>
              <a:ext cx="0" cy="246379"/>
            </a:xfrm>
            <a:custGeom>
              <a:avLst/>
              <a:gdLst/>
              <a:ahLst/>
              <a:cxnLst/>
              <a:rect l="l" t="t" r="r" b="b"/>
              <a:pathLst>
                <a:path h="246380">
                  <a:moveTo>
                    <a:pt x="0" y="0"/>
                  </a:moveTo>
                  <a:lnTo>
                    <a:pt x="0" y="245971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162446" y="2251704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37957" y="0"/>
                  </a:moveTo>
                  <a:lnTo>
                    <a:pt x="0" y="0"/>
                  </a:lnTo>
                  <a:lnTo>
                    <a:pt x="6345" y="12415"/>
                  </a:lnTo>
                  <a:lnTo>
                    <a:pt x="11861" y="25937"/>
                  </a:lnTo>
                  <a:lnTo>
                    <a:pt x="16191" y="39143"/>
                  </a:lnTo>
                  <a:lnTo>
                    <a:pt x="18978" y="50609"/>
                  </a:lnTo>
                  <a:lnTo>
                    <a:pt x="21766" y="39143"/>
                  </a:lnTo>
                  <a:lnTo>
                    <a:pt x="26095" y="25937"/>
                  </a:lnTo>
                  <a:lnTo>
                    <a:pt x="31611" y="12415"/>
                  </a:lnTo>
                  <a:lnTo>
                    <a:pt x="379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1353819" y="2788424"/>
            <a:ext cx="1900555" cy="113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50" spc="1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Генерация</a:t>
            </a:r>
            <a:r>
              <a:rPr sz="550" spc="-3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r>
              <a:rPr sz="550" spc="-3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1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на</a:t>
            </a:r>
            <a:r>
              <a:rPr sz="550" spc="-2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1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основе</a:t>
            </a:r>
            <a:r>
              <a:rPr sz="550" spc="-3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-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исходного</a:t>
            </a:r>
            <a:r>
              <a:rPr sz="550" spc="-3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-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кода</a:t>
            </a:r>
            <a:endParaRPr sz="5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0" y="3305175"/>
            <a:ext cx="4608195" cy="151130"/>
            <a:chOff x="0" y="3305175"/>
            <a:chExt cx="4608195" cy="151130"/>
          </a:xfrm>
        </p:grpSpPr>
        <p:sp>
          <p:nvSpPr>
            <p:cNvPr id="57" name="object 57"/>
            <p:cNvSpPr/>
            <p:nvPr/>
          </p:nvSpPr>
          <p:spPr>
            <a:xfrm>
              <a:off x="0" y="3305175"/>
              <a:ext cx="4608195" cy="151130"/>
            </a:xfrm>
            <a:custGeom>
              <a:avLst/>
              <a:gdLst/>
              <a:ahLst/>
              <a:cxnLst/>
              <a:rect l="l" t="t" r="r" b="b"/>
              <a:pathLst>
                <a:path w="4608195" h="151129">
                  <a:moveTo>
                    <a:pt x="4607941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4607941" y="150875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465199" y="3382390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4">
                  <a:moveTo>
                    <a:pt x="0" y="0"/>
                  </a:moveTo>
                  <a:lnTo>
                    <a:pt x="54736" y="0"/>
                  </a:lnTo>
                </a:path>
              </a:pathLst>
            </a:custGeom>
            <a:ln w="50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4207128" y="3320923"/>
              <a:ext cx="364490" cy="120014"/>
            </a:xfrm>
            <a:custGeom>
              <a:avLst/>
              <a:gdLst/>
              <a:ahLst/>
              <a:cxnLst/>
              <a:rect l="l" t="t" r="r" b="b"/>
              <a:pathLst>
                <a:path w="364489" h="120014">
                  <a:moveTo>
                    <a:pt x="364363" y="0"/>
                  </a:moveTo>
                  <a:lnTo>
                    <a:pt x="0" y="0"/>
                  </a:lnTo>
                  <a:lnTo>
                    <a:pt x="0" y="119506"/>
                  </a:lnTo>
                  <a:lnTo>
                    <a:pt x="364363" y="119506"/>
                  </a:lnTo>
                  <a:lnTo>
                    <a:pt x="36436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>
            <a:spLocks noGrp="1"/>
          </p:cNvSpPr>
          <p:nvPr>
            <p:ph type="ftr" sz="quarter" idx="5"/>
          </p:nvPr>
        </p:nvSpPr>
        <p:spPr>
          <a:xfrm>
            <a:off x="23749" y="3313885"/>
            <a:ext cx="2357120" cy="1047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>
                <a:sym typeface="+mn-ea"/>
              </a:rPr>
              <a:t>Программная</a:t>
            </a:r>
            <a:r>
              <a:rPr spc="-30" dirty="0">
                <a:sym typeface="+mn-ea"/>
              </a:rPr>
              <a:t> </a:t>
            </a:r>
            <a:r>
              <a:rPr spc="15" dirty="0">
                <a:sym typeface="+mn-ea"/>
              </a:rPr>
              <a:t>инженерия.</a:t>
            </a:r>
            <a:r>
              <a:rPr spc="25" dirty="0">
                <a:sym typeface="+mn-ea"/>
              </a:rPr>
              <a:t> </a:t>
            </a:r>
            <a:r>
              <a:rPr spc="10" dirty="0">
                <a:sym typeface="+mn-ea"/>
              </a:rPr>
              <a:t>Документирование</a:t>
            </a:r>
            <a:r>
              <a:rPr spc="-25" dirty="0">
                <a:sym typeface="+mn-ea"/>
              </a:rPr>
              <a:t> </a:t>
            </a:r>
            <a:r>
              <a:rPr spc="15" dirty="0">
                <a:sym typeface="+mn-ea"/>
              </a:rPr>
              <a:t>ПО</a:t>
            </a:r>
            <a:endParaRPr spc="15" dirty="0"/>
          </a:p>
        </p:txBody>
      </p:sp>
      <p:sp>
        <p:nvSpPr>
          <p:cNvPr id="61" name="object 6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-20" dirty="0"/>
              <a:t>1</a:t>
            </a:r>
            <a:r>
              <a:rPr spc="-20" dirty="0"/>
              <a:t>6</a:t>
            </a:r>
            <a:r>
              <a:rPr spc="-80" dirty="0"/>
              <a:t> </a:t>
            </a:r>
            <a:r>
              <a:rPr spc="-75" dirty="0"/>
              <a:t>/</a:t>
            </a:r>
            <a:r>
              <a:rPr spc="-80" dirty="0"/>
              <a:t> </a:t>
            </a:r>
            <a:r>
              <a:rPr spc="-20" dirty="0"/>
              <a:t>26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50" y="13017"/>
            <a:ext cx="69405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Общие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понятия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61642" y="145981"/>
            <a:ext cx="464184" cy="32384"/>
            <a:chOff x="1961642" y="145981"/>
            <a:chExt cx="464184" cy="32384"/>
          </a:xfrm>
        </p:grpSpPr>
        <p:sp>
          <p:nvSpPr>
            <p:cNvPr id="4" name="object 4"/>
            <p:cNvSpPr/>
            <p:nvPr/>
          </p:nvSpPr>
          <p:spPr>
            <a:xfrm>
              <a:off x="19641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002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0361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07213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1082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1441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1800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0949" y="0"/>
                  </a:moveTo>
                  <a:lnTo>
                    <a:pt x="6042" y="0"/>
                  </a:lnTo>
                  <a:lnTo>
                    <a:pt x="0" y="6042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6042"/>
                  </a:lnTo>
                  <a:lnTo>
                    <a:pt x="209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1800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161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2520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28815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3241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3600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39610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938908" y="13017"/>
            <a:ext cx="87947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Виды</a:t>
            </a:r>
            <a:r>
              <a:rPr sz="650" spc="-3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90730" y="145991"/>
            <a:ext cx="104139" cy="32384"/>
            <a:chOff x="3990730" y="145991"/>
            <a:chExt cx="104139" cy="32384"/>
          </a:xfrm>
        </p:grpSpPr>
        <p:sp>
          <p:nvSpPr>
            <p:cNvPr id="20" name="object 20"/>
            <p:cNvSpPr/>
            <p:nvPr/>
          </p:nvSpPr>
          <p:spPr>
            <a:xfrm>
              <a:off x="399326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02932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06526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3967988" y="13017"/>
            <a:ext cx="54546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Заключение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847" y="269964"/>
            <a:ext cx="170815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3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Г</a:t>
            </a:r>
            <a:r>
              <a:rPr sz="105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енерация</a:t>
            </a:r>
            <a:r>
              <a:rPr sz="1050" spc="-6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2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10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7413" y="857250"/>
            <a:ext cx="3604895" cy="1765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750" b="1" spc="20" dirty="0">
                <a:latin typeface="Arial" panose="020B0604020202020204"/>
                <a:cs typeface="Arial" panose="020B0604020202020204"/>
              </a:rPr>
              <a:t>Этапы</a:t>
            </a:r>
            <a:r>
              <a:rPr sz="75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50" dirty="0">
                <a:latin typeface="Arial" panose="020B0604020202020204"/>
                <a:cs typeface="Arial" panose="020B0604020202020204"/>
              </a:rPr>
              <a:t>генерации</a:t>
            </a:r>
            <a:r>
              <a:rPr sz="75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55" dirty="0">
                <a:latin typeface="Arial" panose="020B0604020202020204"/>
                <a:cs typeface="Arial" panose="020B0604020202020204"/>
              </a:rPr>
              <a:t>документации</a:t>
            </a:r>
            <a:r>
              <a:rPr sz="750" b="1" spc="-5" dirty="0">
                <a:latin typeface="Arial" panose="020B0604020202020204"/>
                <a:cs typeface="Arial" panose="020B0604020202020204"/>
              </a:rPr>
              <a:t>: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265430" indent="-135890">
              <a:lnSpc>
                <a:spcPct val="100000"/>
              </a:lnSpc>
              <a:spcBef>
                <a:spcPts val="670"/>
              </a:spcBef>
              <a:buClr>
                <a:srgbClr val="3333B2"/>
              </a:buClr>
              <a:buAutoNum type="arabicPeriod"/>
              <a:tabLst>
                <a:tab pos="266065" algn="l"/>
              </a:tabLst>
            </a:pPr>
            <a:r>
              <a:rPr sz="750" dirty="0">
                <a:latin typeface="Lucida Sans Unicode" panose="020B0602030504020204"/>
                <a:cs typeface="Lucida Sans Unicode" panose="020B0602030504020204"/>
              </a:rPr>
              <a:t>определение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используемых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представлений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для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5" dirty="0">
                <a:latin typeface="Lucida Sans Unicode" panose="020B0602030504020204"/>
                <a:cs typeface="Lucida Sans Unicode" panose="020B0602030504020204"/>
              </a:rPr>
              <a:t>исходных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файлов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265430" indent="-135890">
              <a:lnSpc>
                <a:spcPct val="100000"/>
              </a:lnSpc>
              <a:spcBef>
                <a:spcPts val="675"/>
              </a:spcBef>
              <a:buClr>
                <a:srgbClr val="3333B2"/>
              </a:buClr>
              <a:buAutoNum type="arabicPeriod"/>
              <a:tabLst>
                <a:tab pos="266065" algn="l"/>
              </a:tabLst>
            </a:pPr>
            <a:r>
              <a:rPr sz="750" dirty="0">
                <a:latin typeface="Lucida Sans Unicode" panose="020B0602030504020204"/>
                <a:cs typeface="Lucida Sans Unicode" panose="020B0602030504020204"/>
              </a:rPr>
              <a:t>создание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синтаксического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дерева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для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5" dirty="0">
                <a:latin typeface="Lucida Sans Unicode" panose="020B0602030504020204"/>
                <a:cs typeface="Lucida Sans Unicode" panose="020B0602030504020204"/>
              </a:rPr>
              <a:t>исходных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файлов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265430" indent="-135890">
              <a:lnSpc>
                <a:spcPct val="100000"/>
              </a:lnSpc>
              <a:spcBef>
                <a:spcPts val="675"/>
              </a:spcBef>
              <a:buClr>
                <a:srgbClr val="3333B2"/>
              </a:buClr>
              <a:buAutoNum type="arabicPeriod"/>
              <a:tabLst>
                <a:tab pos="266065" algn="l"/>
              </a:tabLst>
            </a:pPr>
            <a:r>
              <a:rPr sz="750" dirty="0">
                <a:latin typeface="Lucida Sans Unicode" panose="020B0602030504020204"/>
                <a:cs typeface="Lucida Sans Unicode" panose="020B0602030504020204"/>
              </a:rPr>
              <a:t>создание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моделей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для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элементов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программы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(классов,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методов,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...)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265430" indent="-135890">
              <a:lnSpc>
                <a:spcPct val="100000"/>
              </a:lnSpc>
              <a:spcBef>
                <a:spcPts val="675"/>
              </a:spcBef>
              <a:buClr>
                <a:srgbClr val="3333B2"/>
              </a:buClr>
              <a:buAutoNum type="arabicPeriod"/>
              <a:tabLst>
                <a:tab pos="266065" algn="l"/>
              </a:tabLst>
            </a:pP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генерация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представления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на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основе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моделей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(напр.,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HTML-страниц)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700">
              <a:latin typeface="Lucida Sans Unicode" panose="020B0602030504020204"/>
              <a:cs typeface="Lucida Sans Unicode" panose="020B0602030504020204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750" b="1" spc="35" dirty="0">
                <a:latin typeface="Arial" panose="020B0604020202020204"/>
                <a:cs typeface="Arial" panose="020B0604020202020204"/>
              </a:rPr>
              <a:t>Примеры</a:t>
            </a:r>
            <a:r>
              <a:rPr sz="75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30" dirty="0">
                <a:latin typeface="Arial" panose="020B0604020202020204"/>
                <a:cs typeface="Arial" panose="020B0604020202020204"/>
              </a:rPr>
              <a:t>генераторов</a:t>
            </a:r>
            <a:r>
              <a:rPr sz="75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50" dirty="0">
                <a:latin typeface="Arial" panose="020B0604020202020204"/>
                <a:cs typeface="Arial" panose="020B0604020202020204"/>
              </a:rPr>
              <a:t>документации: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43510">
              <a:lnSpc>
                <a:spcPct val="100000"/>
              </a:lnSpc>
              <a:spcBef>
                <a:spcPts val="67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50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Javadoc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(основной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для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Java)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43510">
              <a:lnSpc>
                <a:spcPct val="100000"/>
              </a:lnSpc>
              <a:spcBef>
                <a:spcPts val="67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42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Sphinx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(основной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для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Python)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43510">
              <a:lnSpc>
                <a:spcPct val="100000"/>
              </a:lnSpc>
              <a:spcBef>
                <a:spcPts val="680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  </a:t>
            </a:r>
            <a:r>
              <a:rPr sz="750" b="1" spc="-5" dirty="0">
                <a:latin typeface="Lucida Sans Unicode" panose="020B0602030504020204"/>
                <a:cs typeface="Lucida Sans Unicode" panose="020B0602030504020204"/>
              </a:rPr>
              <a:t>D</a:t>
            </a:r>
            <a:r>
              <a:rPr sz="750" b="1" spc="-15" dirty="0">
                <a:latin typeface="Lucida Sans Unicode" panose="020B0602030504020204"/>
                <a:cs typeface="Lucida Sans Unicode" panose="020B0602030504020204"/>
              </a:rPr>
              <a:t>o</a:t>
            </a:r>
            <a:r>
              <a:rPr sz="750" b="1" spc="-10" dirty="0">
                <a:latin typeface="Lucida Sans Unicode" panose="020B0602030504020204"/>
                <a:cs typeface="Lucida Sans Unicode" panose="020B0602030504020204"/>
              </a:rPr>
              <a:t>xygen</a:t>
            </a:r>
            <a:r>
              <a:rPr sz="750" b="1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b="1" spc="5" dirty="0">
                <a:latin typeface="Lucida Sans Unicode" panose="020B0602030504020204"/>
                <a:cs typeface="Lucida Sans Unicode" panose="020B0602030504020204"/>
              </a:rPr>
              <a:t>(основной</a:t>
            </a:r>
            <a:r>
              <a:rPr sz="750" b="1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b="1" spc="-5" dirty="0">
                <a:latin typeface="Lucida Sans Unicode" panose="020B0602030504020204"/>
                <a:cs typeface="Lucida Sans Unicode" panose="020B0602030504020204"/>
              </a:rPr>
              <a:t>для</a:t>
            </a:r>
            <a:r>
              <a:rPr sz="750" b="1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b="1" spc="-40" dirty="0">
                <a:latin typeface="Lucida Sans Unicode" panose="020B0602030504020204"/>
                <a:cs typeface="Lucida Sans Unicode" panose="020B0602030504020204"/>
              </a:rPr>
              <a:t>С </a:t>
            </a:r>
            <a:r>
              <a:rPr sz="750" b="1" spc="-110" dirty="0">
                <a:latin typeface="Lucida Sans Unicode" panose="020B0602030504020204"/>
                <a:cs typeface="Lucida Sans Unicode" panose="020B0602030504020204"/>
              </a:rPr>
              <a:t>/</a:t>
            </a:r>
            <a:r>
              <a:rPr sz="750" b="1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b="1" spc="-80" dirty="0">
                <a:latin typeface="Lucida Sans Unicode" panose="020B0602030504020204"/>
                <a:cs typeface="Lucida Sans Unicode" panose="020B0602030504020204"/>
              </a:rPr>
              <a:t>С++)</a:t>
            </a:r>
            <a:endParaRPr sz="750" b="1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3305175"/>
            <a:ext cx="4608195" cy="151130"/>
            <a:chOff x="0" y="3305175"/>
            <a:chExt cx="4608195" cy="151130"/>
          </a:xfrm>
        </p:grpSpPr>
        <p:sp>
          <p:nvSpPr>
            <p:cNvPr id="27" name="object 27"/>
            <p:cNvSpPr/>
            <p:nvPr/>
          </p:nvSpPr>
          <p:spPr>
            <a:xfrm>
              <a:off x="0" y="3305175"/>
              <a:ext cx="4608195" cy="151130"/>
            </a:xfrm>
            <a:custGeom>
              <a:avLst/>
              <a:gdLst/>
              <a:ahLst/>
              <a:cxnLst/>
              <a:rect l="l" t="t" r="r" b="b"/>
              <a:pathLst>
                <a:path w="4608195" h="151129">
                  <a:moveTo>
                    <a:pt x="4607941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4607941" y="150875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465199" y="3382390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4">
                  <a:moveTo>
                    <a:pt x="0" y="0"/>
                  </a:moveTo>
                  <a:lnTo>
                    <a:pt x="54736" y="0"/>
                  </a:lnTo>
                </a:path>
              </a:pathLst>
            </a:custGeom>
            <a:ln w="50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207128" y="3320923"/>
              <a:ext cx="364490" cy="120014"/>
            </a:xfrm>
            <a:custGeom>
              <a:avLst/>
              <a:gdLst/>
              <a:ahLst/>
              <a:cxnLst/>
              <a:rect l="l" t="t" r="r" b="b"/>
              <a:pathLst>
                <a:path w="364489" h="120014">
                  <a:moveTo>
                    <a:pt x="364363" y="0"/>
                  </a:moveTo>
                  <a:lnTo>
                    <a:pt x="0" y="0"/>
                  </a:lnTo>
                  <a:lnTo>
                    <a:pt x="0" y="119506"/>
                  </a:lnTo>
                  <a:lnTo>
                    <a:pt x="364363" y="119506"/>
                  </a:lnTo>
                  <a:lnTo>
                    <a:pt x="36436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xfrm>
            <a:off x="23749" y="3313885"/>
            <a:ext cx="2357120" cy="1047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>
                <a:sym typeface="+mn-ea"/>
              </a:rPr>
              <a:t>Программная</a:t>
            </a:r>
            <a:r>
              <a:rPr spc="-30" dirty="0">
                <a:sym typeface="+mn-ea"/>
              </a:rPr>
              <a:t> </a:t>
            </a:r>
            <a:r>
              <a:rPr spc="15" dirty="0">
                <a:sym typeface="+mn-ea"/>
              </a:rPr>
              <a:t>инженерия.</a:t>
            </a:r>
            <a:r>
              <a:rPr spc="25" dirty="0">
                <a:sym typeface="+mn-ea"/>
              </a:rPr>
              <a:t> </a:t>
            </a:r>
            <a:r>
              <a:rPr spc="10" dirty="0">
                <a:sym typeface="+mn-ea"/>
              </a:rPr>
              <a:t>Документирование</a:t>
            </a:r>
            <a:r>
              <a:rPr spc="-25" dirty="0">
                <a:sym typeface="+mn-ea"/>
              </a:rPr>
              <a:t> </a:t>
            </a:r>
            <a:r>
              <a:rPr spc="15" dirty="0">
                <a:sym typeface="+mn-ea"/>
              </a:rPr>
              <a:t>ПО</a:t>
            </a:r>
            <a:endParaRPr spc="15" dirty="0"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-20" dirty="0"/>
              <a:t>1</a:t>
            </a:r>
            <a:r>
              <a:rPr spc="-20" dirty="0"/>
              <a:t>7</a:t>
            </a:r>
            <a:r>
              <a:rPr spc="-80" dirty="0"/>
              <a:t> </a:t>
            </a:r>
            <a:r>
              <a:rPr spc="-75" dirty="0"/>
              <a:t>/</a:t>
            </a:r>
            <a:r>
              <a:rPr spc="-80" dirty="0"/>
              <a:t> </a:t>
            </a:r>
            <a:r>
              <a:rPr spc="-20" dirty="0"/>
              <a:t>26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608195" cy="201295"/>
            <a:chOff x="0" y="0"/>
            <a:chExt cx="4608195" cy="201295"/>
          </a:xfrm>
        </p:grpSpPr>
        <p:sp>
          <p:nvSpPr>
            <p:cNvPr id="3" name="object 3"/>
            <p:cNvSpPr/>
            <p:nvPr/>
          </p:nvSpPr>
          <p:spPr>
            <a:xfrm>
              <a:off x="19641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0002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361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07213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1082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1441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1800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2161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0949" y="0"/>
                  </a:moveTo>
                  <a:lnTo>
                    <a:pt x="6042" y="0"/>
                  </a:lnTo>
                  <a:lnTo>
                    <a:pt x="0" y="6042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6042"/>
                  </a:lnTo>
                  <a:lnTo>
                    <a:pt x="209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2161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520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28815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3241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3600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39610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99326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02932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06527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967988" y="13017"/>
            <a:ext cx="54546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Заключение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847" y="13017"/>
            <a:ext cx="2764155" cy="400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20"/>
              </a:spcBef>
              <a:tabLst>
                <a:tab pos="1897380" algn="l"/>
              </a:tabLst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Общие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понятия</a:t>
            </a:r>
            <a:r>
              <a:rPr sz="65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Виды</a:t>
            </a:r>
            <a:r>
              <a:rPr sz="650" spc="-3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Пример</a:t>
            </a:r>
            <a:r>
              <a:rPr sz="1050" spc="-6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2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r>
              <a:rPr sz="1050" spc="-1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:</a:t>
            </a:r>
            <a:r>
              <a:rPr sz="1050" spc="-6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lang="en-US" sz="1050" spc="-6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Doxygen</a:t>
            </a:r>
            <a:endParaRPr lang="en-US" sz="1050" spc="-60" dirty="0">
              <a:solidFill>
                <a:srgbClr val="3333B2"/>
              </a:solidFill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40308" y="1589913"/>
            <a:ext cx="64135" cy="0"/>
          </a:xfrm>
          <a:custGeom>
            <a:avLst/>
            <a:gdLst/>
            <a:ahLst/>
            <a:cxnLst/>
            <a:rect l="l" t="t" r="r" b="b"/>
            <a:pathLst>
              <a:path w="64134">
                <a:moveTo>
                  <a:pt x="0" y="0"/>
                </a:moveTo>
                <a:lnTo>
                  <a:pt x="6375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90219" y="1726565"/>
            <a:ext cx="64135" cy="0"/>
          </a:xfrm>
          <a:custGeom>
            <a:avLst/>
            <a:gdLst/>
            <a:ahLst/>
            <a:cxnLst/>
            <a:rect l="l" t="t" r="r" b="b"/>
            <a:pathLst>
              <a:path w="64134">
                <a:moveTo>
                  <a:pt x="0" y="0"/>
                </a:moveTo>
                <a:lnTo>
                  <a:pt x="6375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90219" y="1863217"/>
            <a:ext cx="64135" cy="0"/>
          </a:xfrm>
          <a:custGeom>
            <a:avLst/>
            <a:gdLst/>
            <a:ahLst/>
            <a:cxnLst/>
            <a:rect l="l" t="t" r="r" b="b"/>
            <a:pathLst>
              <a:path w="64134">
                <a:moveTo>
                  <a:pt x="0" y="0"/>
                </a:moveTo>
                <a:lnTo>
                  <a:pt x="6375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40308" y="1999742"/>
            <a:ext cx="64135" cy="0"/>
          </a:xfrm>
          <a:custGeom>
            <a:avLst/>
            <a:gdLst/>
            <a:ahLst/>
            <a:cxnLst/>
            <a:rect l="l" t="t" r="r" b="b"/>
            <a:pathLst>
              <a:path w="64134">
                <a:moveTo>
                  <a:pt x="0" y="0"/>
                </a:moveTo>
                <a:lnTo>
                  <a:pt x="6375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17550" y="908687"/>
            <a:ext cx="4006850" cy="1615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5420" marR="55880" indent="-122555">
              <a:lnSpc>
                <a:spcPct val="142000"/>
              </a:lnSpc>
              <a:spcBef>
                <a:spcPts val="9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Для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составления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документации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используются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комментарии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к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классам</a:t>
            </a:r>
            <a:r>
              <a:rPr lang="ru-RU" sz="750" spc="-5" dirty="0">
                <a:latin typeface="Lucida Sans Unicode" panose="020B0602030504020204"/>
                <a:cs typeface="Lucida Sans Unicode" panose="020B0602030504020204"/>
              </a:rPr>
              <a:t> и структурам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, </a:t>
            </a:r>
            <a:r>
              <a:rPr lang="ru-RU" sz="750" spc="-5" dirty="0">
                <a:latin typeface="Lucida Sans Unicode" panose="020B0602030504020204"/>
                <a:cs typeface="Lucida Sans Unicode" panose="020B0602030504020204"/>
              </a:rPr>
              <a:t>их публичным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полям</a:t>
            </a:r>
            <a:r>
              <a:rPr lang="ru-RU" sz="750" spc="5" dirty="0">
                <a:latin typeface="Lucida Sans Unicode" panose="020B0602030504020204"/>
                <a:cs typeface="Lucida Sans Unicode" panose="020B0602030504020204"/>
              </a:rPr>
              <a:t> и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методам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вида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lang="en-US" sz="750" spc="-40" dirty="0">
                <a:latin typeface="Lucida Sans Unicode" panose="020B0602030504020204"/>
                <a:cs typeface="Lucida Sans Unicode" panose="020B0602030504020204"/>
              </a:rPr>
              <a:t>/// (</a:t>
            </a:r>
            <a:r>
              <a:rPr lang="ru-RU" sz="750" spc="-40" dirty="0">
                <a:latin typeface="Lucida Sans Unicode" panose="020B0602030504020204"/>
                <a:cs typeface="Lucida Sans Unicode" panose="020B0602030504020204"/>
              </a:rPr>
              <a:t>в </a:t>
            </a:r>
            <a:r>
              <a:rPr lang="en-US" sz="750" spc="-40" dirty="0">
                <a:latin typeface="Lucida Sans Unicode" panose="020B0602030504020204"/>
                <a:cs typeface="Lucida Sans Unicode" panose="020B0602030504020204"/>
              </a:rPr>
              <a:t>JavaDoc /** ... */)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63500">
              <a:lnSpc>
                <a:spcPct val="100000"/>
              </a:lnSpc>
              <a:spcBef>
                <a:spcPts val="88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65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Для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секционирования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комментариев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применяются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lang="en-US" sz="750" spc="-40" dirty="0">
                <a:latin typeface="Lucida Sans Unicode" panose="020B0602030504020204"/>
                <a:cs typeface="Lucida Sans Unicode" panose="020B0602030504020204"/>
              </a:rPr>
              <a:t>XML-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теги: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278130">
              <a:lnSpc>
                <a:spcPct val="100000"/>
              </a:lnSpc>
              <a:spcBef>
                <a:spcPts val="475"/>
              </a:spcBef>
            </a:pPr>
            <a:r>
              <a:rPr sz="750" spc="179" baseline="17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57" baseline="17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param</a:t>
            </a:r>
            <a:r>
              <a:rPr sz="650" spc="45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dirty="0">
                <a:latin typeface="Lucida Sans Unicode" panose="020B0602030504020204"/>
                <a:cs typeface="Lucida Sans Unicode" panose="020B0602030504020204"/>
              </a:rPr>
              <a:t>для</a:t>
            </a:r>
            <a:r>
              <a:rPr sz="6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15" dirty="0">
                <a:latin typeface="Lucida Sans Unicode" panose="020B0602030504020204"/>
                <a:cs typeface="Lucida Sans Unicode" panose="020B0602030504020204"/>
              </a:rPr>
              <a:t>описания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10" dirty="0">
                <a:latin typeface="Lucida Sans Unicode" panose="020B0602030504020204"/>
                <a:cs typeface="Lucida Sans Unicode" panose="020B0602030504020204"/>
              </a:rPr>
              <a:t>параметров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dirty="0">
                <a:latin typeface="Lucida Sans Unicode" panose="020B0602030504020204"/>
                <a:cs typeface="Lucida Sans Unicode" panose="020B0602030504020204"/>
              </a:rPr>
              <a:t>методов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  <a:p>
            <a:pPr marL="278130">
              <a:lnSpc>
                <a:spcPct val="100000"/>
              </a:lnSpc>
              <a:spcBef>
                <a:spcPts val="295"/>
              </a:spcBef>
            </a:pPr>
            <a:r>
              <a:rPr sz="750" spc="179" baseline="17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57" baseline="17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return</a:t>
            </a:r>
            <a:r>
              <a:rPr sz="650" spc="45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dirty="0">
                <a:latin typeface="Lucida Sans Unicode" panose="020B0602030504020204"/>
                <a:cs typeface="Lucida Sans Unicode" panose="020B0602030504020204"/>
              </a:rPr>
              <a:t>для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15" dirty="0">
                <a:latin typeface="Lucida Sans Unicode" panose="020B0602030504020204"/>
                <a:cs typeface="Lucida Sans Unicode" panose="020B0602030504020204"/>
              </a:rPr>
              <a:t>описания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10" dirty="0">
                <a:latin typeface="Lucida Sans Unicode" panose="020B0602030504020204"/>
                <a:cs typeface="Lucida Sans Unicode" panose="020B0602030504020204"/>
              </a:rPr>
              <a:t>возвращаемого</a:t>
            </a:r>
            <a:r>
              <a:rPr sz="6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latin typeface="Lucida Sans Unicode" panose="020B0602030504020204"/>
                <a:cs typeface="Lucida Sans Unicode" panose="020B0602030504020204"/>
              </a:rPr>
              <a:t>значения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-5" dirty="0">
                <a:latin typeface="Lucida Sans Unicode" panose="020B0602030504020204"/>
                <a:cs typeface="Lucida Sans Unicode" panose="020B0602030504020204"/>
              </a:rPr>
              <a:t>метода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  <a:p>
            <a:pPr marL="278130">
              <a:lnSpc>
                <a:spcPct val="100000"/>
              </a:lnSpc>
              <a:spcBef>
                <a:spcPts val="295"/>
              </a:spcBef>
            </a:pPr>
            <a:r>
              <a:rPr sz="750" spc="179" baseline="17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65" baseline="17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throws</a:t>
            </a:r>
            <a:r>
              <a:rPr sz="650" spc="459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dirty="0">
                <a:latin typeface="Lucida Sans Unicode" panose="020B0602030504020204"/>
                <a:cs typeface="Lucida Sans Unicode" panose="020B0602030504020204"/>
              </a:rPr>
              <a:t>для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10" dirty="0">
                <a:latin typeface="Lucida Sans Unicode" panose="020B0602030504020204"/>
                <a:cs typeface="Lucida Sans Unicode" panose="020B0602030504020204"/>
              </a:rPr>
              <a:t>условий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latin typeface="Lucida Sans Unicode" panose="020B0602030504020204"/>
                <a:cs typeface="Lucida Sans Unicode" panose="020B0602030504020204"/>
              </a:rPr>
              <a:t>порождения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15" dirty="0">
                <a:latin typeface="Lucida Sans Unicode" panose="020B0602030504020204"/>
                <a:cs typeface="Lucida Sans Unicode" panose="020B0602030504020204"/>
              </a:rPr>
              <a:t>исключений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  <a:p>
            <a:pPr marL="278130">
              <a:lnSpc>
                <a:spcPct val="100000"/>
              </a:lnSpc>
              <a:spcBef>
                <a:spcPts val="300"/>
              </a:spcBef>
            </a:pPr>
            <a:r>
              <a:rPr sz="750" spc="179" baseline="17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72" baseline="17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since</a:t>
            </a:r>
            <a:r>
              <a:rPr sz="650" spc="48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dirty="0">
                <a:latin typeface="Lucida Sans Unicode" panose="020B0602030504020204"/>
                <a:cs typeface="Lucida Sans Unicode" panose="020B0602030504020204"/>
              </a:rPr>
              <a:t>для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10" dirty="0">
                <a:latin typeface="Lucida Sans Unicode" panose="020B0602030504020204"/>
                <a:cs typeface="Lucida Sans Unicode" panose="020B0602030504020204"/>
              </a:rPr>
              <a:t>установления</a:t>
            </a:r>
            <a:r>
              <a:rPr sz="6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10" dirty="0">
                <a:latin typeface="Lucida Sans Unicode" panose="020B0602030504020204"/>
                <a:cs typeface="Lucida Sans Unicode" panose="020B0602030504020204"/>
              </a:rPr>
              <a:t>версии</a:t>
            </a:r>
            <a:r>
              <a:rPr sz="6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-5" dirty="0">
                <a:latin typeface="Lucida Sans Unicode" panose="020B0602030504020204"/>
                <a:cs typeface="Lucida Sans Unicode" panose="020B0602030504020204"/>
              </a:rPr>
              <a:t>ПО,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40" dirty="0">
                <a:latin typeface="Lucida Sans Unicode" panose="020B0602030504020204"/>
                <a:cs typeface="Lucida Sans Unicode" panose="020B0602030504020204"/>
              </a:rPr>
              <a:t>в</a:t>
            </a:r>
            <a:r>
              <a:rPr sz="6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dirty="0">
                <a:latin typeface="Lucida Sans Unicode" panose="020B0602030504020204"/>
                <a:cs typeface="Lucida Sans Unicode" panose="020B0602030504020204"/>
              </a:rPr>
              <a:t>которой</a:t>
            </a:r>
            <a:r>
              <a:rPr sz="6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latin typeface="Lucida Sans Unicode" panose="020B0602030504020204"/>
                <a:cs typeface="Lucida Sans Unicode" panose="020B0602030504020204"/>
              </a:rPr>
              <a:t>появился</a:t>
            </a:r>
            <a:r>
              <a:rPr sz="6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dirty="0">
                <a:latin typeface="Lucida Sans Unicode" panose="020B0602030504020204"/>
                <a:cs typeface="Lucida Sans Unicode" panose="020B0602030504020204"/>
              </a:rPr>
              <a:t>класс</a:t>
            </a:r>
            <a:r>
              <a:rPr sz="6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-95" dirty="0">
                <a:latin typeface="Lucida Sans Unicode" panose="020B0602030504020204"/>
                <a:cs typeface="Lucida Sans Unicode" panose="020B0602030504020204"/>
              </a:rPr>
              <a:t>/</a:t>
            </a:r>
            <a:r>
              <a:rPr sz="6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-10" dirty="0">
                <a:latin typeface="Lucida Sans Unicode" panose="020B0602030504020204"/>
                <a:cs typeface="Lucida Sans Unicode" panose="020B0602030504020204"/>
              </a:rPr>
              <a:t>метод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800">
              <a:latin typeface="Lucida Sans Unicode" panose="020B0602030504020204"/>
              <a:cs typeface="Lucida Sans Unicode" panose="020B0602030504020204"/>
            </a:endParaRPr>
          </a:p>
          <a:p>
            <a:pPr marL="63500">
              <a:lnSpc>
                <a:spcPct val="100000"/>
              </a:lnSpc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34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Для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маркировки</a:t>
            </a:r>
            <a:r>
              <a:rPr sz="750" spc="-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lang="ru-RU" sz="750" spc="-50" dirty="0">
                <a:latin typeface="Lucida Sans Unicode" panose="020B0602030504020204"/>
                <a:cs typeface="Lucida Sans Unicode" panose="020B0602030504020204"/>
              </a:rPr>
              <a:t>могут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применят</a:t>
            </a:r>
            <a:r>
              <a:rPr lang="ru-RU" sz="750" spc="15" dirty="0">
                <a:latin typeface="Lucida Sans Unicode" panose="020B0602030504020204"/>
                <a:cs typeface="Lucida Sans Unicode" panose="020B0602030504020204"/>
              </a:rPr>
              <a:t>ь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ся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HTML-теги</a:t>
            </a:r>
            <a:r>
              <a:rPr lang="en-US" sz="750" spc="-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lang="ru-RU" altLang="en-US" sz="750" spc="-25" dirty="0">
                <a:latin typeface="Lucida Sans Unicode" panose="020B0602030504020204"/>
                <a:cs typeface="Lucida Sans Unicode" panose="020B0602030504020204"/>
              </a:rPr>
              <a:t>(в системе </a:t>
            </a:r>
            <a:r>
              <a:rPr lang="en-US" altLang="en-US" sz="750" spc="-25" dirty="0">
                <a:latin typeface="Lucida Sans Unicode" panose="020B0602030504020204"/>
                <a:cs typeface="Lucida Sans Unicode" panose="020B0602030504020204"/>
              </a:rPr>
              <a:t>JavaDoc)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700">
              <a:latin typeface="Lucida Sans Unicode" panose="020B0602030504020204"/>
              <a:cs typeface="Lucida Sans Unicode" panose="020B0602030504020204"/>
            </a:endParaRPr>
          </a:p>
          <a:p>
            <a:pPr marL="63500">
              <a:lnSpc>
                <a:spcPct val="100000"/>
              </a:lnSpc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465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Теги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Courier New" panose="02070309020205020404"/>
                <a:cs typeface="Courier New" panose="02070309020205020404"/>
              </a:rPr>
              <a:t>link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,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Courier New" panose="02070309020205020404"/>
                <a:cs typeface="Courier New" panose="02070309020205020404"/>
              </a:rPr>
              <a:t>see</a:t>
            </a:r>
            <a:r>
              <a:rPr sz="750" spc="-254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позволяют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ссылаться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на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5" dirty="0">
                <a:latin typeface="Lucida Sans Unicode" panose="020B0602030504020204"/>
                <a:cs typeface="Lucida Sans Unicode" panose="020B0602030504020204"/>
              </a:rPr>
              <a:t>другие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элементы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0" y="3305175"/>
            <a:ext cx="4608195" cy="151130"/>
            <a:chOff x="0" y="3305175"/>
            <a:chExt cx="4608195" cy="151130"/>
          </a:xfrm>
        </p:grpSpPr>
        <p:sp>
          <p:nvSpPr>
            <p:cNvPr id="28" name="object 28"/>
            <p:cNvSpPr/>
            <p:nvPr/>
          </p:nvSpPr>
          <p:spPr>
            <a:xfrm>
              <a:off x="0" y="3305175"/>
              <a:ext cx="4608195" cy="151130"/>
            </a:xfrm>
            <a:custGeom>
              <a:avLst/>
              <a:gdLst/>
              <a:ahLst/>
              <a:cxnLst/>
              <a:rect l="l" t="t" r="r" b="b"/>
              <a:pathLst>
                <a:path w="4608195" h="151129">
                  <a:moveTo>
                    <a:pt x="4607941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4607941" y="150875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465199" y="3382390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4">
                  <a:moveTo>
                    <a:pt x="0" y="0"/>
                  </a:moveTo>
                  <a:lnTo>
                    <a:pt x="54736" y="0"/>
                  </a:lnTo>
                </a:path>
              </a:pathLst>
            </a:custGeom>
            <a:ln w="50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207128" y="3320923"/>
              <a:ext cx="364490" cy="120014"/>
            </a:xfrm>
            <a:custGeom>
              <a:avLst/>
              <a:gdLst/>
              <a:ahLst/>
              <a:cxnLst/>
              <a:rect l="l" t="t" r="r" b="b"/>
              <a:pathLst>
                <a:path w="364489" h="120014">
                  <a:moveTo>
                    <a:pt x="364363" y="0"/>
                  </a:moveTo>
                  <a:lnTo>
                    <a:pt x="0" y="0"/>
                  </a:lnTo>
                  <a:lnTo>
                    <a:pt x="0" y="119506"/>
                  </a:lnTo>
                  <a:lnTo>
                    <a:pt x="364363" y="119506"/>
                  </a:lnTo>
                  <a:lnTo>
                    <a:pt x="36436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xfrm>
            <a:off x="23749" y="3313885"/>
            <a:ext cx="2357120" cy="1047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>
                <a:sym typeface="+mn-ea"/>
              </a:rPr>
              <a:t>Программная</a:t>
            </a:r>
            <a:r>
              <a:rPr spc="-30" dirty="0">
                <a:sym typeface="+mn-ea"/>
              </a:rPr>
              <a:t> </a:t>
            </a:r>
            <a:r>
              <a:rPr spc="15" dirty="0">
                <a:sym typeface="+mn-ea"/>
              </a:rPr>
              <a:t>инженерия.</a:t>
            </a:r>
            <a:r>
              <a:rPr spc="25" dirty="0">
                <a:sym typeface="+mn-ea"/>
              </a:rPr>
              <a:t> </a:t>
            </a:r>
            <a:r>
              <a:rPr spc="10" dirty="0">
                <a:sym typeface="+mn-ea"/>
              </a:rPr>
              <a:t>Документирование</a:t>
            </a:r>
            <a:r>
              <a:rPr spc="-25" dirty="0">
                <a:sym typeface="+mn-ea"/>
              </a:rPr>
              <a:t> </a:t>
            </a:r>
            <a:r>
              <a:rPr spc="15" dirty="0">
                <a:sym typeface="+mn-ea"/>
              </a:rPr>
              <a:t>ПО</a:t>
            </a:r>
            <a:endParaRPr spc="15" dirty="0"/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-20" dirty="0"/>
              <a:t>1</a:t>
            </a:r>
            <a:r>
              <a:rPr spc="-20" dirty="0"/>
              <a:t>8</a:t>
            </a:r>
            <a:r>
              <a:rPr spc="-80" dirty="0"/>
              <a:t> </a:t>
            </a:r>
            <a:r>
              <a:rPr spc="-75" dirty="0"/>
              <a:t>/</a:t>
            </a:r>
            <a:r>
              <a:rPr spc="-80" dirty="0"/>
              <a:t> </a:t>
            </a:r>
            <a:r>
              <a:rPr spc="-20" dirty="0"/>
              <a:t>26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608195" cy="201295"/>
            <a:chOff x="0" y="0"/>
            <a:chExt cx="4608195" cy="201295"/>
          </a:xfrm>
        </p:grpSpPr>
        <p:sp>
          <p:nvSpPr>
            <p:cNvPr id="3" name="object 3"/>
            <p:cNvSpPr/>
            <p:nvPr/>
          </p:nvSpPr>
          <p:spPr>
            <a:xfrm>
              <a:off x="19641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0002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361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07213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1082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1441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1800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2161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2520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0949" y="0"/>
                  </a:moveTo>
                  <a:lnTo>
                    <a:pt x="6042" y="0"/>
                  </a:lnTo>
                  <a:lnTo>
                    <a:pt x="0" y="6042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6042"/>
                  </a:lnTo>
                  <a:lnTo>
                    <a:pt x="209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520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28815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3241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3600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39610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99326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02932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06527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967988" y="13017"/>
            <a:ext cx="54546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Заключение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847" y="13017"/>
            <a:ext cx="2764155" cy="44195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20"/>
              </a:spcBef>
              <a:tabLst>
                <a:tab pos="1897380" algn="l"/>
              </a:tabLst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Общие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понятия</a:t>
            </a:r>
            <a:r>
              <a:rPr sz="65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Виды</a:t>
            </a:r>
            <a:r>
              <a:rPr sz="650" spc="-3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Пример</a:t>
            </a:r>
            <a:r>
              <a:rPr sz="1050" spc="-6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2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r>
              <a:rPr sz="1050" spc="-1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:</a:t>
            </a:r>
            <a:r>
              <a:rPr sz="1050" spc="-6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1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Javadoc</a:t>
            </a:r>
            <a:endParaRPr sz="10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3736" y="602119"/>
            <a:ext cx="3969385" cy="242951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315"/>
              </a:spcBef>
            </a:pPr>
            <a:r>
              <a:rPr sz="550" spc="-2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1</a:t>
            </a:r>
            <a:r>
              <a:rPr sz="550" spc="15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550" spc="15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/**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272415" indent="-219075">
              <a:lnSpc>
                <a:spcPct val="100000"/>
              </a:lnSpc>
              <a:spcBef>
                <a:spcPts val="215"/>
              </a:spcBef>
              <a:buSzPct val="85000"/>
              <a:buFont typeface="Lucida Sans Unicode" panose="020B0602030504020204"/>
              <a:buAutoNum type="arabicPlain" startAt="2"/>
              <a:tabLst>
                <a:tab pos="272415" algn="l"/>
                <a:tab pos="273050" algn="l"/>
              </a:tabLst>
            </a:pPr>
            <a:r>
              <a:rPr sz="65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*</a:t>
            </a:r>
            <a:r>
              <a:rPr sz="650" spc="1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Вычисляет</a:t>
            </a:r>
            <a:r>
              <a:rPr sz="650" spc="1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отношение</a:t>
            </a:r>
            <a:r>
              <a:rPr sz="650" spc="1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двух</a:t>
            </a:r>
            <a:r>
              <a:rPr sz="650" spc="1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действительных</a:t>
            </a:r>
            <a:r>
              <a:rPr sz="650" spc="1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чисел.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272415" indent="-219075">
              <a:lnSpc>
                <a:spcPct val="100000"/>
              </a:lnSpc>
              <a:spcBef>
                <a:spcPts val="215"/>
              </a:spcBef>
              <a:buSzPct val="85000"/>
              <a:buFont typeface="Lucida Sans Unicode" panose="020B0602030504020204"/>
              <a:buAutoNum type="arabicPlain" startAt="2"/>
              <a:tabLst>
                <a:tab pos="272415" algn="l"/>
                <a:tab pos="273050" algn="l"/>
              </a:tabLst>
            </a:pPr>
            <a:r>
              <a:rPr sz="65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*</a:t>
            </a:r>
            <a:r>
              <a:rPr sz="650" spc="1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В</a:t>
            </a:r>
            <a:r>
              <a:rPr sz="650" spc="1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отличие</a:t>
            </a:r>
            <a:r>
              <a:rPr sz="650" spc="1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от</a:t>
            </a:r>
            <a:r>
              <a:rPr sz="650" spc="1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операции</a:t>
            </a:r>
            <a:r>
              <a:rPr sz="650" spc="1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деления</a:t>
            </a:r>
            <a:r>
              <a:rPr sz="650" spc="1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&lt;code&gt;/&lt;/code&gt;,</a:t>
            </a:r>
            <a:r>
              <a:rPr sz="650" spc="1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если</a:t>
            </a:r>
            <a:r>
              <a:rPr sz="650" spc="1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знаменатель</a:t>
            </a:r>
            <a:r>
              <a:rPr sz="650" spc="1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отношения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272415" indent="-219075">
              <a:lnSpc>
                <a:spcPct val="100000"/>
              </a:lnSpc>
              <a:spcBef>
                <a:spcPts val="220"/>
              </a:spcBef>
              <a:buSzPct val="85000"/>
              <a:buFont typeface="Lucida Sans Unicode" panose="020B0602030504020204"/>
              <a:buAutoNum type="arabicPlain" startAt="2"/>
              <a:tabLst>
                <a:tab pos="272415" algn="l"/>
                <a:tab pos="273050" algn="l"/>
              </a:tabLst>
            </a:pPr>
            <a:r>
              <a:rPr sz="65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*</a:t>
            </a:r>
            <a:r>
              <a:rPr sz="650" spc="1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равен</a:t>
            </a:r>
            <a:r>
              <a:rPr sz="650" spc="1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нулю,</a:t>
            </a:r>
            <a:r>
              <a:rPr sz="650" spc="1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возбуждается</a:t>
            </a:r>
            <a:r>
              <a:rPr sz="650" spc="1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исключительная</a:t>
            </a:r>
            <a:r>
              <a:rPr sz="650" spc="1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ситуация.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53975">
              <a:lnSpc>
                <a:spcPct val="100000"/>
              </a:lnSpc>
              <a:spcBef>
                <a:spcPts val="215"/>
              </a:spcBef>
              <a:tabLst>
                <a:tab pos="272415" algn="l"/>
              </a:tabLst>
            </a:pPr>
            <a:r>
              <a:rPr sz="550" spc="-2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5	</a:t>
            </a:r>
            <a:r>
              <a:rPr sz="65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*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272415" indent="-219075">
              <a:lnSpc>
                <a:spcPct val="100000"/>
              </a:lnSpc>
              <a:spcBef>
                <a:spcPts val="215"/>
              </a:spcBef>
              <a:buSzPct val="85000"/>
              <a:buFont typeface="Lucida Sans Unicode" panose="020B0602030504020204"/>
              <a:buAutoNum type="arabicPlain" startAt="6"/>
              <a:tabLst>
                <a:tab pos="272415" algn="l"/>
                <a:tab pos="273050" algn="l"/>
              </a:tabLst>
            </a:pPr>
            <a:r>
              <a:rPr sz="65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*</a:t>
            </a:r>
            <a:r>
              <a:rPr sz="650" spc="-3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solidFill>
                  <a:srgbClr val="7F0066"/>
                </a:solidFill>
                <a:latin typeface="Courier New" panose="02070309020205020404"/>
                <a:cs typeface="Courier New" panose="02070309020205020404"/>
              </a:rPr>
              <a:t>@param</a:t>
            </a:r>
            <a:r>
              <a:rPr sz="650" spc="-25" dirty="0">
                <a:solidFill>
                  <a:srgbClr val="7F00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x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272415" indent="-219075">
              <a:lnSpc>
                <a:spcPct val="100000"/>
              </a:lnSpc>
              <a:spcBef>
                <a:spcPts val="215"/>
              </a:spcBef>
              <a:buSzPct val="85000"/>
              <a:buFont typeface="Lucida Sans Unicode" panose="020B0602030504020204"/>
              <a:buAutoNum type="arabicPlain" startAt="6"/>
              <a:tabLst>
                <a:tab pos="272415" algn="l"/>
                <a:tab pos="273050" algn="l"/>
                <a:tab pos="521970" algn="l"/>
              </a:tabLst>
            </a:pPr>
            <a:r>
              <a:rPr sz="65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*	</a:t>
            </a:r>
            <a:r>
              <a:rPr sz="650" spc="-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числитель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272415" indent="-219075">
              <a:lnSpc>
                <a:spcPct val="100000"/>
              </a:lnSpc>
              <a:spcBef>
                <a:spcPts val="220"/>
              </a:spcBef>
              <a:buSzPct val="85000"/>
              <a:buFont typeface="Lucida Sans Unicode" panose="020B0602030504020204"/>
              <a:buAutoNum type="arabicPlain" startAt="6"/>
              <a:tabLst>
                <a:tab pos="272415" algn="l"/>
                <a:tab pos="273050" algn="l"/>
              </a:tabLst>
            </a:pPr>
            <a:r>
              <a:rPr sz="65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*</a:t>
            </a:r>
            <a:r>
              <a:rPr sz="650" spc="-3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solidFill>
                  <a:srgbClr val="7F0066"/>
                </a:solidFill>
                <a:latin typeface="Courier New" panose="02070309020205020404"/>
                <a:cs typeface="Courier New" panose="02070309020205020404"/>
              </a:rPr>
              <a:t>@param</a:t>
            </a:r>
            <a:r>
              <a:rPr sz="650" spc="-25" dirty="0">
                <a:solidFill>
                  <a:srgbClr val="7F00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y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272415" indent="-219075">
              <a:lnSpc>
                <a:spcPct val="100000"/>
              </a:lnSpc>
              <a:spcBef>
                <a:spcPts val="215"/>
              </a:spcBef>
              <a:buSzPct val="85000"/>
              <a:buFont typeface="Lucida Sans Unicode" panose="020B0602030504020204"/>
              <a:buAutoNum type="arabicPlain" startAt="6"/>
              <a:tabLst>
                <a:tab pos="272415" algn="l"/>
                <a:tab pos="273050" algn="l"/>
                <a:tab pos="521970" algn="l"/>
              </a:tabLst>
            </a:pPr>
            <a:r>
              <a:rPr sz="65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*	</a:t>
            </a:r>
            <a:r>
              <a:rPr sz="650" spc="-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знаменатель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272415" indent="-260350">
              <a:lnSpc>
                <a:spcPct val="100000"/>
              </a:lnSpc>
              <a:spcBef>
                <a:spcPts val="215"/>
              </a:spcBef>
              <a:buSzPct val="85000"/>
              <a:buFont typeface="Lucida Sans Unicode" panose="020B0602030504020204"/>
              <a:buAutoNum type="arabicPlain" startAt="6"/>
              <a:tabLst>
                <a:tab pos="272415" algn="l"/>
                <a:tab pos="273050" algn="l"/>
              </a:tabLst>
            </a:pPr>
            <a:r>
              <a:rPr sz="65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*</a:t>
            </a:r>
            <a:r>
              <a:rPr sz="650" spc="-5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solidFill>
                  <a:srgbClr val="7F0066"/>
                </a:solidFill>
                <a:latin typeface="Courier New" panose="02070309020205020404"/>
                <a:cs typeface="Courier New" panose="02070309020205020404"/>
              </a:rPr>
              <a:t>@return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272415" indent="-260350">
              <a:lnSpc>
                <a:spcPct val="100000"/>
              </a:lnSpc>
              <a:spcBef>
                <a:spcPts val="215"/>
              </a:spcBef>
              <a:buSzPct val="85000"/>
              <a:buFont typeface="Lucida Sans Unicode" panose="020B0602030504020204"/>
              <a:buAutoNum type="arabicPlain" startAt="6"/>
              <a:tabLst>
                <a:tab pos="272415" algn="l"/>
                <a:tab pos="273050" algn="l"/>
                <a:tab pos="521970" algn="l"/>
              </a:tabLst>
            </a:pPr>
            <a:r>
              <a:rPr sz="65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*	</a:t>
            </a:r>
            <a:r>
              <a:rPr sz="650" spc="-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результат операции деления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  <a:tabLst>
                <a:tab pos="272415" algn="l"/>
              </a:tabLst>
            </a:pPr>
            <a:r>
              <a:rPr sz="550" spc="-2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12	</a:t>
            </a:r>
            <a:r>
              <a:rPr sz="65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*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272415" indent="-260350">
              <a:lnSpc>
                <a:spcPct val="100000"/>
              </a:lnSpc>
              <a:spcBef>
                <a:spcPts val="215"/>
              </a:spcBef>
              <a:buSzPct val="85000"/>
              <a:buFont typeface="Lucida Sans Unicode" panose="020B0602030504020204"/>
              <a:buAutoNum type="arabicPlain" startAt="13"/>
              <a:tabLst>
                <a:tab pos="272415" algn="l"/>
                <a:tab pos="273050" algn="l"/>
              </a:tabLst>
            </a:pPr>
            <a:r>
              <a:rPr sz="65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*</a:t>
            </a:r>
            <a:r>
              <a:rPr sz="650" spc="-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solidFill>
                  <a:srgbClr val="7F0066"/>
                </a:solidFill>
                <a:latin typeface="Courier New" panose="02070309020205020404"/>
                <a:cs typeface="Courier New" panose="02070309020205020404"/>
              </a:rPr>
              <a:t>@throws</a:t>
            </a:r>
            <a:r>
              <a:rPr sz="650" dirty="0">
                <a:solidFill>
                  <a:srgbClr val="7F00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ArithmeticException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272415" indent="-260350">
              <a:lnSpc>
                <a:spcPct val="100000"/>
              </a:lnSpc>
              <a:spcBef>
                <a:spcPts val="215"/>
              </a:spcBef>
              <a:buSzPct val="85000"/>
              <a:buFont typeface="Lucida Sans Unicode" panose="020B0602030504020204"/>
              <a:buAutoNum type="arabicPlain" startAt="13"/>
              <a:tabLst>
                <a:tab pos="272415" algn="l"/>
                <a:tab pos="273050" algn="l"/>
                <a:tab pos="521970" algn="l"/>
              </a:tabLst>
            </a:pPr>
            <a:r>
              <a:rPr sz="65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*	</a:t>
            </a:r>
            <a:r>
              <a:rPr sz="650" spc="-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если знаменатель</a:t>
            </a:r>
            <a:r>
              <a:rPr sz="65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равен</a:t>
            </a:r>
            <a:r>
              <a:rPr sz="650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нулю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  <a:tabLst>
                <a:tab pos="272415" algn="l"/>
              </a:tabLst>
            </a:pPr>
            <a:r>
              <a:rPr sz="550" spc="-2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15	</a:t>
            </a:r>
            <a:r>
              <a:rPr sz="650" spc="-5" dirty="0">
                <a:solidFill>
                  <a:srgbClr val="7F7F7F"/>
                </a:solidFill>
                <a:latin typeface="Courier New" panose="02070309020205020404"/>
                <a:cs typeface="Courier New" panose="02070309020205020404"/>
              </a:rPr>
              <a:t>*/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222250" indent="-210185">
              <a:lnSpc>
                <a:spcPct val="100000"/>
              </a:lnSpc>
              <a:spcBef>
                <a:spcPts val="220"/>
              </a:spcBef>
              <a:buClr>
                <a:srgbClr val="7F7F7F"/>
              </a:buClr>
              <a:buSzPct val="85000"/>
              <a:buFont typeface="Lucida Sans Unicode" panose="020B0602030504020204"/>
              <a:buAutoNum type="arabicPlain" startAt="16"/>
              <a:tabLst>
                <a:tab pos="222885" algn="l"/>
              </a:tabLst>
            </a:pPr>
            <a:r>
              <a:rPr sz="650" spc="-5" dirty="0">
                <a:solidFill>
                  <a:srgbClr val="7F0066"/>
                </a:solidFill>
                <a:latin typeface="Courier New" panose="02070309020205020404"/>
                <a:cs typeface="Courier New" panose="02070309020205020404"/>
              </a:rPr>
              <a:t>public</a:t>
            </a:r>
            <a:r>
              <a:rPr sz="650" spc="5" dirty="0">
                <a:solidFill>
                  <a:srgbClr val="7F00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solidFill>
                  <a:srgbClr val="7F0066"/>
                </a:solidFill>
                <a:latin typeface="Courier New" panose="02070309020205020404"/>
                <a:cs typeface="Courier New" panose="02070309020205020404"/>
              </a:rPr>
              <a:t>static</a:t>
            </a:r>
            <a:r>
              <a:rPr sz="650" spc="5" dirty="0">
                <a:solidFill>
                  <a:srgbClr val="7F00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solidFill>
                  <a:srgbClr val="7F0066"/>
                </a:solidFill>
                <a:latin typeface="Courier New" panose="02070309020205020404"/>
                <a:cs typeface="Courier New" panose="02070309020205020404"/>
              </a:rPr>
              <a:t>double</a:t>
            </a:r>
            <a:r>
              <a:rPr sz="650" spc="5" dirty="0">
                <a:solidFill>
                  <a:srgbClr val="7F00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div(</a:t>
            </a:r>
            <a:r>
              <a:rPr sz="650" spc="-5" dirty="0">
                <a:solidFill>
                  <a:srgbClr val="7F0066"/>
                </a:solidFill>
                <a:latin typeface="Courier New" panose="02070309020205020404"/>
                <a:cs typeface="Courier New" panose="02070309020205020404"/>
              </a:rPr>
              <a:t>double</a:t>
            </a:r>
            <a:r>
              <a:rPr sz="650" spc="5" dirty="0">
                <a:solidFill>
                  <a:srgbClr val="7F00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dirty="0">
                <a:latin typeface="Courier New" panose="02070309020205020404"/>
                <a:cs typeface="Courier New" panose="02070309020205020404"/>
              </a:rPr>
              <a:t>x,</a:t>
            </a:r>
            <a:r>
              <a:rPr sz="650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solidFill>
                  <a:srgbClr val="7F0066"/>
                </a:solidFill>
                <a:latin typeface="Courier New" panose="02070309020205020404"/>
                <a:cs typeface="Courier New" panose="02070309020205020404"/>
              </a:rPr>
              <a:t>double</a:t>
            </a:r>
            <a:r>
              <a:rPr sz="650" spc="5" dirty="0">
                <a:solidFill>
                  <a:srgbClr val="7F00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dirty="0">
                <a:latin typeface="Courier New" panose="02070309020205020404"/>
                <a:cs typeface="Courier New" panose="02070309020205020404"/>
              </a:rPr>
              <a:t>y)</a:t>
            </a:r>
            <a:r>
              <a:rPr sz="650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dirty="0">
                <a:latin typeface="Courier New" panose="02070309020205020404"/>
                <a:cs typeface="Courier New" panose="02070309020205020404"/>
              </a:rPr>
              <a:t>{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422275" indent="-410210">
              <a:lnSpc>
                <a:spcPct val="100000"/>
              </a:lnSpc>
              <a:spcBef>
                <a:spcPts val="215"/>
              </a:spcBef>
              <a:buClr>
                <a:srgbClr val="7F7F7F"/>
              </a:buClr>
              <a:buSzPct val="85000"/>
              <a:buFont typeface="Lucida Sans Unicode" panose="020B0602030504020204"/>
              <a:buAutoNum type="arabicPlain" startAt="16"/>
              <a:tabLst>
                <a:tab pos="422275" algn="l"/>
                <a:tab pos="422275" algn="l"/>
              </a:tabLst>
            </a:pPr>
            <a:r>
              <a:rPr sz="650" dirty="0">
                <a:solidFill>
                  <a:srgbClr val="7F0066"/>
                </a:solidFill>
                <a:latin typeface="Courier New" panose="02070309020205020404"/>
                <a:cs typeface="Courier New" panose="02070309020205020404"/>
              </a:rPr>
              <a:t>if</a:t>
            </a:r>
            <a:r>
              <a:rPr sz="650" spc="5" dirty="0">
                <a:solidFill>
                  <a:srgbClr val="7F00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dirty="0">
                <a:latin typeface="Courier New" panose="02070309020205020404"/>
                <a:cs typeface="Courier New" panose="02070309020205020404"/>
              </a:rPr>
              <a:t>(y</a:t>
            </a:r>
            <a:r>
              <a:rPr sz="650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dirty="0">
                <a:latin typeface="Courier New" panose="02070309020205020404"/>
                <a:cs typeface="Courier New" panose="02070309020205020404"/>
              </a:rPr>
              <a:t>==</a:t>
            </a:r>
            <a:r>
              <a:rPr sz="650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0.0)</a:t>
            </a:r>
            <a:r>
              <a:rPr sz="650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solidFill>
                  <a:srgbClr val="7F0066"/>
                </a:solidFill>
                <a:latin typeface="Courier New" panose="02070309020205020404"/>
                <a:cs typeface="Courier New" panose="02070309020205020404"/>
              </a:rPr>
              <a:t>throw</a:t>
            </a:r>
            <a:r>
              <a:rPr sz="650" spc="10" dirty="0">
                <a:solidFill>
                  <a:srgbClr val="7F00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dirty="0">
                <a:solidFill>
                  <a:srgbClr val="7F0066"/>
                </a:solidFill>
                <a:latin typeface="Courier New" panose="02070309020205020404"/>
                <a:cs typeface="Courier New" panose="02070309020205020404"/>
              </a:rPr>
              <a:t>new</a:t>
            </a:r>
            <a:r>
              <a:rPr sz="650" spc="5" dirty="0">
                <a:solidFill>
                  <a:srgbClr val="7F00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ArithmeticException("Division</a:t>
            </a:r>
            <a:r>
              <a:rPr sz="650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dirty="0">
                <a:latin typeface="Courier New" panose="02070309020205020404"/>
                <a:cs typeface="Courier New" panose="02070309020205020404"/>
              </a:rPr>
              <a:t>by</a:t>
            </a:r>
            <a:r>
              <a:rPr sz="650" spc="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zero");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422275" indent="-410210">
              <a:lnSpc>
                <a:spcPct val="100000"/>
              </a:lnSpc>
              <a:spcBef>
                <a:spcPts val="215"/>
              </a:spcBef>
              <a:buClr>
                <a:srgbClr val="7F7F7F"/>
              </a:buClr>
              <a:buSzPct val="85000"/>
              <a:buFont typeface="Lucida Sans Unicode" panose="020B0602030504020204"/>
              <a:buAutoNum type="arabicPlain" startAt="16"/>
              <a:tabLst>
                <a:tab pos="422275" algn="l"/>
                <a:tab pos="422275" algn="l"/>
              </a:tabLst>
            </a:pPr>
            <a:r>
              <a:rPr sz="650" spc="-5" dirty="0">
                <a:solidFill>
                  <a:srgbClr val="7F0066"/>
                </a:solidFill>
                <a:latin typeface="Courier New" panose="02070309020205020404"/>
                <a:cs typeface="Courier New" panose="02070309020205020404"/>
              </a:rPr>
              <a:t>return</a:t>
            </a:r>
            <a:r>
              <a:rPr sz="650" spc="-20" dirty="0">
                <a:solidFill>
                  <a:srgbClr val="7F00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dirty="0">
                <a:latin typeface="Courier New" panose="02070309020205020404"/>
                <a:cs typeface="Courier New" panose="02070309020205020404"/>
              </a:rPr>
              <a:t>x</a:t>
            </a:r>
            <a:r>
              <a:rPr sz="650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dirty="0">
                <a:latin typeface="Courier New" panose="02070309020205020404"/>
                <a:cs typeface="Courier New" panose="02070309020205020404"/>
              </a:rPr>
              <a:t>/</a:t>
            </a:r>
            <a:r>
              <a:rPr sz="65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y;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550" spc="-2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19</a:t>
            </a:r>
            <a:r>
              <a:rPr sz="550" spc="15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550" spc="15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dirty="0">
                <a:latin typeface="Courier New" panose="02070309020205020404"/>
                <a:cs typeface="Courier New" panose="02070309020205020404"/>
              </a:rPr>
              <a:t>}</a:t>
            </a:r>
            <a:endParaRPr sz="65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3305175"/>
            <a:ext cx="4608195" cy="151130"/>
            <a:chOff x="0" y="3305175"/>
            <a:chExt cx="4608195" cy="151130"/>
          </a:xfrm>
        </p:grpSpPr>
        <p:sp>
          <p:nvSpPr>
            <p:cNvPr id="24" name="object 24"/>
            <p:cNvSpPr/>
            <p:nvPr/>
          </p:nvSpPr>
          <p:spPr>
            <a:xfrm>
              <a:off x="0" y="3305175"/>
              <a:ext cx="4608195" cy="151130"/>
            </a:xfrm>
            <a:custGeom>
              <a:avLst/>
              <a:gdLst/>
              <a:ahLst/>
              <a:cxnLst/>
              <a:rect l="l" t="t" r="r" b="b"/>
              <a:pathLst>
                <a:path w="4608195" h="151129">
                  <a:moveTo>
                    <a:pt x="4607941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4607941" y="150875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465199" y="3382390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4">
                  <a:moveTo>
                    <a:pt x="0" y="0"/>
                  </a:moveTo>
                  <a:lnTo>
                    <a:pt x="54736" y="0"/>
                  </a:lnTo>
                </a:path>
              </a:pathLst>
            </a:custGeom>
            <a:ln w="50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207128" y="3320923"/>
              <a:ext cx="364490" cy="120014"/>
            </a:xfrm>
            <a:custGeom>
              <a:avLst/>
              <a:gdLst/>
              <a:ahLst/>
              <a:cxnLst/>
              <a:rect l="l" t="t" r="r" b="b"/>
              <a:pathLst>
                <a:path w="364489" h="120014">
                  <a:moveTo>
                    <a:pt x="364363" y="0"/>
                  </a:moveTo>
                  <a:lnTo>
                    <a:pt x="0" y="0"/>
                  </a:lnTo>
                  <a:lnTo>
                    <a:pt x="0" y="119506"/>
                  </a:lnTo>
                  <a:lnTo>
                    <a:pt x="364363" y="119506"/>
                  </a:lnTo>
                  <a:lnTo>
                    <a:pt x="36436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xfrm>
            <a:off x="23749" y="3313885"/>
            <a:ext cx="2357120" cy="1047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>
                <a:sym typeface="+mn-ea"/>
              </a:rPr>
              <a:t>Программная</a:t>
            </a:r>
            <a:r>
              <a:rPr spc="-30" dirty="0">
                <a:sym typeface="+mn-ea"/>
              </a:rPr>
              <a:t> </a:t>
            </a:r>
            <a:r>
              <a:rPr spc="15" dirty="0">
                <a:sym typeface="+mn-ea"/>
              </a:rPr>
              <a:t>инженерия.</a:t>
            </a:r>
            <a:r>
              <a:rPr spc="25" dirty="0">
                <a:sym typeface="+mn-ea"/>
              </a:rPr>
              <a:t> </a:t>
            </a:r>
            <a:r>
              <a:rPr spc="10" dirty="0">
                <a:sym typeface="+mn-ea"/>
              </a:rPr>
              <a:t>Документирование</a:t>
            </a:r>
            <a:r>
              <a:rPr spc="-25" dirty="0">
                <a:sym typeface="+mn-ea"/>
              </a:rPr>
              <a:t> </a:t>
            </a:r>
            <a:r>
              <a:rPr spc="15" dirty="0">
                <a:sym typeface="+mn-ea"/>
              </a:rPr>
              <a:t>ПО</a:t>
            </a:r>
            <a:endParaRPr spc="15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-20" dirty="0"/>
              <a:t>1</a:t>
            </a:r>
            <a:r>
              <a:rPr spc="-20" dirty="0"/>
              <a:t>9</a:t>
            </a:r>
            <a:r>
              <a:rPr spc="-80" dirty="0"/>
              <a:t> </a:t>
            </a:r>
            <a:r>
              <a:rPr spc="-75" dirty="0"/>
              <a:t>/</a:t>
            </a:r>
            <a:r>
              <a:rPr spc="-80" dirty="0"/>
              <a:t> </a:t>
            </a:r>
            <a:r>
              <a:rPr spc="-20" dirty="0"/>
              <a:t>26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608195" cy="201295"/>
            <a:chOff x="0" y="0"/>
            <a:chExt cx="4608195" cy="201295"/>
          </a:xfrm>
        </p:grpSpPr>
        <p:sp>
          <p:nvSpPr>
            <p:cNvPr id="3" name="object 3"/>
            <p:cNvSpPr/>
            <p:nvPr/>
          </p:nvSpPr>
          <p:spPr>
            <a:xfrm>
              <a:off x="19641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0002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361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07213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1082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1441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1800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2161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2520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8815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0949" y="0"/>
                  </a:moveTo>
                  <a:lnTo>
                    <a:pt x="6042" y="0"/>
                  </a:lnTo>
                  <a:lnTo>
                    <a:pt x="0" y="6042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6042"/>
                  </a:lnTo>
                  <a:lnTo>
                    <a:pt x="209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28815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3241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3600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39610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99326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02932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06527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967988" y="13017"/>
            <a:ext cx="54546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Заключение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847" y="13017"/>
            <a:ext cx="2764155" cy="44195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20"/>
              </a:spcBef>
              <a:tabLst>
                <a:tab pos="1897380" algn="l"/>
              </a:tabLst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Общие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понятия</a:t>
            </a:r>
            <a:r>
              <a:rPr sz="65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Виды</a:t>
            </a:r>
            <a:r>
              <a:rPr sz="650" spc="-3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Пример</a:t>
            </a:r>
            <a:r>
              <a:rPr sz="1050" spc="-6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2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r>
              <a:rPr sz="1050" spc="-1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:</a:t>
            </a:r>
            <a:r>
              <a:rPr sz="1050" spc="-6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1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Javadoc</a:t>
            </a:r>
            <a:endParaRPr sz="1050">
              <a:latin typeface="Lucida Sans Unicode" panose="020B0602030504020204"/>
              <a:cs typeface="Lucida Sans Unicode" panose="020B0602030504020204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84969" y="701845"/>
            <a:ext cx="3233333" cy="1823809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75513" y="2658844"/>
            <a:ext cx="4032250" cy="264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000"/>
              </a:lnSpc>
              <a:spcBef>
                <a:spcPts val="95"/>
              </a:spcBef>
            </a:pPr>
            <a:r>
              <a:rPr sz="550" spc="1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Фрагмент сгенерированной утилитой </a:t>
            </a:r>
            <a:r>
              <a:rPr sz="550" spc="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Javadoc </a:t>
            </a:r>
            <a:r>
              <a:rPr sz="550" spc="-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HTML-страницы </a:t>
            </a:r>
            <a:r>
              <a:rPr sz="550" spc="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документации, </a:t>
            </a:r>
            <a:r>
              <a:rPr sz="550" spc="1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соответствующей приведенному </a:t>
            </a:r>
            <a:r>
              <a:rPr sz="550" spc="-16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-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методу.</a:t>
            </a:r>
            <a:endParaRPr sz="5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0" y="3305175"/>
            <a:ext cx="4608195" cy="151130"/>
            <a:chOff x="0" y="3305175"/>
            <a:chExt cx="4608195" cy="151130"/>
          </a:xfrm>
        </p:grpSpPr>
        <p:sp>
          <p:nvSpPr>
            <p:cNvPr id="25" name="object 25"/>
            <p:cNvSpPr/>
            <p:nvPr/>
          </p:nvSpPr>
          <p:spPr>
            <a:xfrm>
              <a:off x="0" y="3305175"/>
              <a:ext cx="4608195" cy="151130"/>
            </a:xfrm>
            <a:custGeom>
              <a:avLst/>
              <a:gdLst/>
              <a:ahLst/>
              <a:cxnLst/>
              <a:rect l="l" t="t" r="r" b="b"/>
              <a:pathLst>
                <a:path w="4608195" h="151129">
                  <a:moveTo>
                    <a:pt x="4607941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4607941" y="150875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465199" y="3382390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4">
                  <a:moveTo>
                    <a:pt x="0" y="0"/>
                  </a:moveTo>
                  <a:lnTo>
                    <a:pt x="54736" y="0"/>
                  </a:lnTo>
                </a:path>
              </a:pathLst>
            </a:custGeom>
            <a:ln w="50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207128" y="3320923"/>
              <a:ext cx="364490" cy="120014"/>
            </a:xfrm>
            <a:custGeom>
              <a:avLst/>
              <a:gdLst/>
              <a:ahLst/>
              <a:cxnLst/>
              <a:rect l="l" t="t" r="r" b="b"/>
              <a:pathLst>
                <a:path w="364489" h="120014">
                  <a:moveTo>
                    <a:pt x="364363" y="0"/>
                  </a:moveTo>
                  <a:lnTo>
                    <a:pt x="0" y="0"/>
                  </a:lnTo>
                  <a:lnTo>
                    <a:pt x="0" y="119506"/>
                  </a:lnTo>
                  <a:lnTo>
                    <a:pt x="364363" y="119506"/>
                  </a:lnTo>
                  <a:lnTo>
                    <a:pt x="36436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xfrm>
            <a:off x="23749" y="3313885"/>
            <a:ext cx="2357120" cy="1047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>
                <a:sym typeface="+mn-ea"/>
              </a:rPr>
              <a:t>Программная</a:t>
            </a:r>
            <a:r>
              <a:rPr spc="-30" dirty="0">
                <a:sym typeface="+mn-ea"/>
              </a:rPr>
              <a:t> </a:t>
            </a:r>
            <a:r>
              <a:rPr spc="15" dirty="0">
                <a:sym typeface="+mn-ea"/>
              </a:rPr>
              <a:t>инженерия.</a:t>
            </a:r>
            <a:r>
              <a:rPr spc="25" dirty="0">
                <a:sym typeface="+mn-ea"/>
              </a:rPr>
              <a:t> </a:t>
            </a:r>
            <a:r>
              <a:rPr spc="10" dirty="0">
                <a:sym typeface="+mn-ea"/>
              </a:rPr>
              <a:t>Документирование</a:t>
            </a:r>
            <a:r>
              <a:rPr spc="-25" dirty="0">
                <a:sym typeface="+mn-ea"/>
              </a:rPr>
              <a:t> </a:t>
            </a:r>
            <a:r>
              <a:rPr spc="15" dirty="0">
                <a:sym typeface="+mn-ea"/>
              </a:rPr>
              <a:t>ПО</a:t>
            </a:r>
            <a:endParaRPr spc="15" dirty="0"/>
          </a:p>
        </p:txBody>
      </p:sp>
      <p:sp>
        <p:nvSpPr>
          <p:cNvPr id="29" name="object 29"/>
          <p:cNvSpPr txBox="1"/>
          <p:nvPr/>
        </p:nvSpPr>
        <p:spPr>
          <a:xfrm>
            <a:off x="4267580" y="3313885"/>
            <a:ext cx="243840" cy="12509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50" spc="-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20</a:t>
            </a:r>
            <a:r>
              <a:rPr sz="550" spc="-8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-7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/</a:t>
            </a:r>
            <a:r>
              <a:rPr sz="550" spc="-8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-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26</a:t>
            </a:r>
            <a:endParaRPr sz="55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608195" cy="201295"/>
            <a:chOff x="0" y="0"/>
            <a:chExt cx="4608195" cy="201295"/>
          </a:xfrm>
        </p:grpSpPr>
        <p:sp>
          <p:nvSpPr>
            <p:cNvPr id="3" name="object 3"/>
            <p:cNvSpPr/>
            <p:nvPr/>
          </p:nvSpPr>
          <p:spPr>
            <a:xfrm>
              <a:off x="19641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0002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361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07213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1082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1441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1800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2161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2520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8815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3241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0949" y="0"/>
                  </a:moveTo>
                  <a:lnTo>
                    <a:pt x="6042" y="0"/>
                  </a:lnTo>
                  <a:lnTo>
                    <a:pt x="0" y="6042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6042"/>
                  </a:lnTo>
                  <a:lnTo>
                    <a:pt x="209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3241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3600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39610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99326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02932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06527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967988" y="13017"/>
            <a:ext cx="54546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Заключение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847" y="13017"/>
            <a:ext cx="2764155" cy="44195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20"/>
              </a:spcBef>
              <a:tabLst>
                <a:tab pos="1897380" algn="l"/>
              </a:tabLst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Общие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понятия</a:t>
            </a:r>
            <a:r>
              <a:rPr sz="65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Виды</a:t>
            </a:r>
            <a:r>
              <a:rPr sz="650" spc="-3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Пример</a:t>
            </a:r>
            <a:r>
              <a:rPr sz="1050" spc="-6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2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r>
              <a:rPr sz="1050" spc="-1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:</a:t>
            </a:r>
            <a:r>
              <a:rPr sz="1050" spc="-6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1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Javadoc</a:t>
            </a:r>
            <a:endParaRPr sz="1050">
              <a:latin typeface="Lucida Sans Unicode" panose="020B0602030504020204"/>
              <a:cs typeface="Lucida Sans Unicode" panose="020B0602030504020204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68319" y="690766"/>
            <a:ext cx="4071428" cy="1885714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937133" y="2741688"/>
            <a:ext cx="2733675" cy="113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50" spc="1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Контекстная</a:t>
            </a:r>
            <a:r>
              <a:rPr sz="550" spc="-2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2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помощь</a:t>
            </a:r>
            <a:r>
              <a:rPr sz="550" spc="-1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для</a:t>
            </a:r>
            <a:r>
              <a:rPr sz="550" spc="-1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приведенного</a:t>
            </a:r>
            <a:r>
              <a:rPr sz="550" spc="-1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метода</a:t>
            </a:r>
            <a:r>
              <a:rPr sz="550" spc="-1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4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в</a:t>
            </a:r>
            <a:r>
              <a:rPr sz="550" spc="-1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-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среде</a:t>
            </a:r>
            <a:r>
              <a:rPr sz="550" spc="-1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разработки</a:t>
            </a:r>
            <a:r>
              <a:rPr sz="550" spc="-2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550" spc="-1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Eclipse.</a:t>
            </a:r>
            <a:endParaRPr sz="5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0" y="3305175"/>
            <a:ext cx="4608195" cy="151130"/>
            <a:chOff x="0" y="3305175"/>
            <a:chExt cx="4608195" cy="151130"/>
          </a:xfrm>
        </p:grpSpPr>
        <p:sp>
          <p:nvSpPr>
            <p:cNvPr id="25" name="object 25"/>
            <p:cNvSpPr/>
            <p:nvPr/>
          </p:nvSpPr>
          <p:spPr>
            <a:xfrm>
              <a:off x="0" y="3305175"/>
              <a:ext cx="4608195" cy="151130"/>
            </a:xfrm>
            <a:custGeom>
              <a:avLst/>
              <a:gdLst/>
              <a:ahLst/>
              <a:cxnLst/>
              <a:rect l="l" t="t" r="r" b="b"/>
              <a:pathLst>
                <a:path w="4608195" h="151129">
                  <a:moveTo>
                    <a:pt x="4607941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4607941" y="150875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465199" y="3382390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4">
                  <a:moveTo>
                    <a:pt x="0" y="0"/>
                  </a:moveTo>
                  <a:lnTo>
                    <a:pt x="54736" y="0"/>
                  </a:lnTo>
                </a:path>
              </a:pathLst>
            </a:custGeom>
            <a:ln w="50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207128" y="3320923"/>
              <a:ext cx="364490" cy="120014"/>
            </a:xfrm>
            <a:custGeom>
              <a:avLst/>
              <a:gdLst/>
              <a:ahLst/>
              <a:cxnLst/>
              <a:rect l="l" t="t" r="r" b="b"/>
              <a:pathLst>
                <a:path w="364489" h="120014">
                  <a:moveTo>
                    <a:pt x="364363" y="0"/>
                  </a:moveTo>
                  <a:lnTo>
                    <a:pt x="0" y="0"/>
                  </a:lnTo>
                  <a:lnTo>
                    <a:pt x="0" y="119506"/>
                  </a:lnTo>
                  <a:lnTo>
                    <a:pt x="364363" y="119506"/>
                  </a:lnTo>
                  <a:lnTo>
                    <a:pt x="36436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xfrm>
            <a:off x="23749" y="3313885"/>
            <a:ext cx="2357120" cy="1047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>
                <a:sym typeface="+mn-ea"/>
              </a:rPr>
              <a:t>Программная</a:t>
            </a:r>
            <a:r>
              <a:rPr spc="-30" dirty="0">
                <a:sym typeface="+mn-ea"/>
              </a:rPr>
              <a:t> </a:t>
            </a:r>
            <a:r>
              <a:rPr spc="15" dirty="0">
                <a:sym typeface="+mn-ea"/>
              </a:rPr>
              <a:t>инженерия.</a:t>
            </a:r>
            <a:r>
              <a:rPr spc="25" dirty="0">
                <a:sym typeface="+mn-ea"/>
              </a:rPr>
              <a:t> </a:t>
            </a:r>
            <a:r>
              <a:rPr spc="10" dirty="0">
                <a:sym typeface="+mn-ea"/>
              </a:rPr>
              <a:t>Документирование</a:t>
            </a:r>
            <a:r>
              <a:rPr spc="-25" dirty="0">
                <a:sym typeface="+mn-ea"/>
              </a:rPr>
              <a:t> </a:t>
            </a:r>
            <a:r>
              <a:rPr spc="15" dirty="0">
                <a:sym typeface="+mn-ea"/>
              </a:rPr>
              <a:t>ПО</a:t>
            </a:r>
            <a:endParaRPr spc="15" dirty="0"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-20" dirty="0"/>
              <a:t>2</a:t>
            </a:r>
            <a:r>
              <a:rPr spc="-20" dirty="0"/>
              <a:t>1</a:t>
            </a:r>
            <a:r>
              <a:rPr spc="-80" dirty="0"/>
              <a:t> </a:t>
            </a:r>
            <a:r>
              <a:rPr spc="-75" dirty="0"/>
              <a:t>/</a:t>
            </a:r>
            <a:r>
              <a:rPr spc="-80" dirty="0"/>
              <a:t> </a:t>
            </a:r>
            <a:r>
              <a:rPr spc="-20" dirty="0"/>
              <a:t>26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608195" cy="201295"/>
            <a:chOff x="0" y="0"/>
            <a:chExt cx="4608195" cy="201295"/>
          </a:xfrm>
        </p:grpSpPr>
        <p:sp>
          <p:nvSpPr>
            <p:cNvPr id="3" name="object 3"/>
            <p:cNvSpPr/>
            <p:nvPr/>
          </p:nvSpPr>
          <p:spPr>
            <a:xfrm>
              <a:off x="19641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0002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361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07213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1082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1441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1800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2161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2520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8815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3241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3600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0949" y="0"/>
                  </a:moveTo>
                  <a:lnTo>
                    <a:pt x="6042" y="0"/>
                  </a:lnTo>
                  <a:lnTo>
                    <a:pt x="0" y="6042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6042"/>
                  </a:lnTo>
                  <a:lnTo>
                    <a:pt x="209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3600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39610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99326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02932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06527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967988" y="13017"/>
            <a:ext cx="54546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Заключение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847" y="13017"/>
            <a:ext cx="2764155" cy="44195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20"/>
              </a:spcBef>
              <a:tabLst>
                <a:tab pos="1897380" algn="l"/>
              </a:tabLst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Общие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понятия</a:t>
            </a:r>
            <a:r>
              <a:rPr sz="65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Виды</a:t>
            </a:r>
            <a:r>
              <a:rPr sz="650" spc="-3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</a:pPr>
            <a:r>
              <a:rPr sz="1050" spc="-2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Г</a:t>
            </a:r>
            <a:r>
              <a:rPr sz="1050" spc="-1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рам</a:t>
            </a:r>
            <a:r>
              <a:rPr sz="1050" spc="-1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о</a:t>
            </a:r>
            <a:r>
              <a:rPr sz="1050" spc="-1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тно</a:t>
            </a:r>
            <a:r>
              <a:rPr sz="1050" spc="-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е</a:t>
            </a:r>
            <a:r>
              <a:rPr sz="1050" spc="-6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программирование</a:t>
            </a:r>
            <a:endParaRPr sz="10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7413" y="651332"/>
            <a:ext cx="4104004" cy="2374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sz="950" spc="-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Определение</a:t>
            </a:r>
            <a:endParaRPr sz="950">
              <a:latin typeface="Lucida Sans Unicode" panose="020B0602030504020204"/>
              <a:cs typeface="Lucida Sans Unicode" panose="020B0602030504020204"/>
            </a:endParaRPr>
          </a:p>
          <a:p>
            <a:pPr marL="50165" marR="93980">
              <a:lnSpc>
                <a:spcPct val="142000"/>
              </a:lnSpc>
              <a:spcBef>
                <a:spcPts val="185"/>
              </a:spcBef>
            </a:pPr>
            <a:r>
              <a:rPr sz="750" b="1" spc="30" dirty="0">
                <a:latin typeface="Arial" panose="020B0604020202020204"/>
                <a:cs typeface="Arial" panose="020B0604020202020204"/>
              </a:rPr>
              <a:t>Грамотное </a:t>
            </a:r>
            <a:r>
              <a:rPr sz="750" b="1" spc="45" dirty="0">
                <a:latin typeface="Arial" panose="020B0604020202020204"/>
                <a:cs typeface="Arial" panose="020B0604020202020204"/>
              </a:rPr>
              <a:t>программирование </a:t>
            </a:r>
            <a:r>
              <a:rPr sz="750" spc="-15" dirty="0">
                <a:latin typeface="Lucida Sans Unicode" panose="020B0602030504020204"/>
                <a:cs typeface="Lucida Sans Unicode" panose="020B0602030504020204"/>
              </a:rPr>
              <a:t>(</a:t>
            </a:r>
            <a:r>
              <a:rPr sz="750" i="1" spc="15" dirty="0">
                <a:latin typeface="Arial" panose="020B0604020202020204"/>
                <a:cs typeface="Arial" panose="020B0604020202020204"/>
              </a:rPr>
              <a:t>literate </a:t>
            </a:r>
            <a:r>
              <a:rPr sz="750" i="1" spc="25" dirty="0">
                <a:latin typeface="Arial" panose="020B0604020202020204"/>
                <a:cs typeface="Arial" panose="020B0604020202020204"/>
              </a:rPr>
              <a:t>programming</a:t>
            </a:r>
            <a:r>
              <a:rPr sz="750" spc="25" dirty="0">
                <a:latin typeface="Lucida Sans Unicode" panose="020B0602030504020204"/>
                <a:cs typeface="Lucida Sans Unicode" panose="020B0602030504020204"/>
              </a:rPr>
              <a:t>)</a:t>
            </a:r>
            <a:r>
              <a:rPr sz="750" spc="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lang="en-US" sz="750" spc="30" dirty="0">
                <a:latin typeface="Lucida Sans Unicode" panose="020B0602030504020204"/>
                <a:cs typeface="Lucida Sans Unicode" panose="020B0602030504020204"/>
              </a:rPr>
              <a:t>-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методология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программирования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и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документирования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к</a:t>
            </a: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ода,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со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г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ласн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о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к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о</a:t>
            </a:r>
            <a:r>
              <a:rPr sz="750" spc="-15" dirty="0">
                <a:latin typeface="Lucida Sans Unicode" panose="020B0602030504020204"/>
                <a:cs typeface="Lucida Sans Unicode" panose="020B0602030504020204"/>
              </a:rPr>
              <a:t>т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орой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программа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5" dirty="0">
                <a:latin typeface="Lucida Sans Unicode" panose="020B0602030504020204"/>
                <a:cs typeface="Lucida Sans Unicode" panose="020B0602030504020204"/>
              </a:rPr>
              <a:t>(</a:t>
            </a:r>
            <a:r>
              <a:rPr sz="750" i="1" spc="-30" dirty="0">
                <a:latin typeface="Arial" panose="020B0604020202020204"/>
                <a:cs typeface="Arial" panose="020B0604020202020204"/>
              </a:rPr>
              <a:t>эссе</a:t>
            </a:r>
            <a:r>
              <a:rPr sz="750" spc="-15" dirty="0">
                <a:latin typeface="Lucida Sans Unicode" panose="020B0602030504020204"/>
                <a:cs typeface="Lucida Sans Unicode" panose="020B0602030504020204"/>
              </a:rPr>
              <a:t>) 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состоит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из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текста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на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естественном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языке </a:t>
            </a: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с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вкраплениями </a:t>
            </a:r>
            <a:r>
              <a:rPr sz="750" spc="-15" dirty="0">
                <a:latin typeface="Lucida Sans Unicode" panose="020B0602030504020204"/>
                <a:cs typeface="Lucida Sans Unicode" panose="020B0602030504020204"/>
              </a:rPr>
              <a:t>кода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на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языках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 программирования,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возможно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с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макроподстановками.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700">
              <a:latin typeface="Lucida Sans Unicode" panose="020B0602030504020204"/>
              <a:cs typeface="Lucida Sans Unicode" panose="020B0602030504020204"/>
            </a:endParaRPr>
          </a:p>
          <a:p>
            <a:pPr marL="50800">
              <a:lnSpc>
                <a:spcPct val="100000"/>
              </a:lnSpc>
            </a:pPr>
            <a:r>
              <a:rPr sz="750" b="1" spc="10" dirty="0">
                <a:latin typeface="Arial" panose="020B0604020202020204"/>
                <a:cs typeface="Arial" panose="020B0604020202020204"/>
              </a:rPr>
              <a:t>Автор:</a:t>
            </a:r>
            <a:r>
              <a:rPr sz="75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Дональд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Кнут</a:t>
            </a:r>
            <a:r>
              <a:rPr lang="ru-RU" sz="750" spc="5" dirty="0">
                <a:latin typeface="Lucida Sans Unicode" panose="020B0602030504020204"/>
                <a:cs typeface="Lucida Sans Unicode" panose="020B0602030504020204"/>
              </a:rPr>
              <a:t>, 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1981,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для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системы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компьютерной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верстки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60" dirty="0">
                <a:latin typeface="Lucida Sans Unicode" panose="020B0602030504020204"/>
                <a:cs typeface="Lucida Sans Unicode" panose="020B0602030504020204"/>
              </a:rPr>
              <a:t>T</a:t>
            </a:r>
            <a:r>
              <a:rPr sz="1125" spc="-89" baseline="-15000" dirty="0">
                <a:latin typeface="Lucida Sans Unicode" panose="020B0602030504020204"/>
                <a:cs typeface="Lucida Sans Unicode" panose="020B0602030504020204"/>
              </a:rPr>
              <a:t>E</a:t>
            </a:r>
            <a:r>
              <a:rPr sz="750" spc="-60" dirty="0">
                <a:latin typeface="Lucida Sans Unicode" panose="020B0602030504020204"/>
                <a:cs typeface="Lucida Sans Unicode" panose="020B0602030504020204"/>
              </a:rPr>
              <a:t>X.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50800">
              <a:lnSpc>
                <a:spcPct val="100000"/>
              </a:lnSpc>
              <a:spcBef>
                <a:spcPts val="790"/>
              </a:spcBef>
            </a:pPr>
            <a:r>
              <a:rPr sz="750" b="1" spc="35" dirty="0">
                <a:latin typeface="Arial" panose="020B0604020202020204"/>
                <a:cs typeface="Arial" panose="020B0604020202020204"/>
              </a:rPr>
              <a:t>Принципы: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265430" marR="516255" indent="-122555">
              <a:lnSpc>
                <a:spcPct val="142000"/>
              </a:lnSpc>
              <a:spcBef>
                <a:spcPts val="300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конструирование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эссе происходит </a:t>
            </a:r>
            <a:r>
              <a:rPr sz="750" spc="45" dirty="0">
                <a:latin typeface="Lucida Sans Unicode" panose="020B0602030504020204"/>
                <a:cs typeface="Lucida Sans Unicode" panose="020B0602030504020204"/>
              </a:rPr>
              <a:t>в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порядке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разработки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программы </a:t>
            </a:r>
            <a:r>
              <a:rPr sz="75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программистом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и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следует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его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мысли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43510">
              <a:lnSpc>
                <a:spcPct val="100000"/>
              </a:lnSpc>
              <a:spcBef>
                <a:spcPts val="675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lang="ru-RU"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роль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абстракций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выполняют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макросы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(логически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связанные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фрагменты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кода)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265430" marR="163830" indent="-122555">
              <a:lnSpc>
                <a:spcPct val="142000"/>
              </a:lnSpc>
              <a:spcBef>
                <a:spcPts val="300"/>
              </a:spcBef>
            </a:pPr>
            <a:r>
              <a:rPr sz="750" spc="179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▶</a:t>
            </a:r>
            <a:r>
              <a:rPr sz="750" spc="195" baseline="11000" dirty="0">
                <a:solidFill>
                  <a:srgbClr val="3333B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«чистый»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 код</a:t>
            </a: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программы</a:t>
            </a: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генерируется</a:t>
            </a:r>
            <a:r>
              <a:rPr sz="750" spc="-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препроцессором,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обрабатывающим </a:t>
            </a:r>
            <a:r>
              <a:rPr sz="75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макросы;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одному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5" dirty="0">
                <a:latin typeface="Lucida Sans Unicode" panose="020B0602030504020204"/>
                <a:cs typeface="Lucida Sans Unicode" panose="020B0602030504020204"/>
              </a:rPr>
              <a:t>эсс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е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м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о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ж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ет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со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о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твет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ствовать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нес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к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оль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к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о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программ,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45" dirty="0">
                <a:latin typeface="Lucida Sans Unicode" panose="020B0602030504020204"/>
                <a:cs typeface="Lucida Sans Unicode" panose="020B0602030504020204"/>
              </a:rPr>
              <a:t>в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т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.</a:t>
            </a:r>
            <a:r>
              <a:rPr sz="750" spc="-11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ч.  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на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разных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lang="ru-RU" sz="750" spc="-40" dirty="0">
                <a:latin typeface="Lucida Sans Unicode" panose="020B0602030504020204"/>
                <a:cs typeface="Lucida Sans Unicode" panose="020B0602030504020204"/>
              </a:rPr>
              <a:t>языках программирования</a:t>
            </a:r>
            <a:endParaRPr lang="ru-RU" sz="750" spc="-40" dirty="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0" y="3305175"/>
            <a:ext cx="4608195" cy="151130"/>
            <a:chOff x="0" y="3305175"/>
            <a:chExt cx="4608195" cy="151130"/>
          </a:xfrm>
        </p:grpSpPr>
        <p:sp>
          <p:nvSpPr>
            <p:cNvPr id="25" name="object 25"/>
            <p:cNvSpPr/>
            <p:nvPr/>
          </p:nvSpPr>
          <p:spPr>
            <a:xfrm>
              <a:off x="0" y="3305175"/>
              <a:ext cx="4608195" cy="151130"/>
            </a:xfrm>
            <a:custGeom>
              <a:avLst/>
              <a:gdLst/>
              <a:ahLst/>
              <a:cxnLst/>
              <a:rect l="l" t="t" r="r" b="b"/>
              <a:pathLst>
                <a:path w="4608195" h="151129">
                  <a:moveTo>
                    <a:pt x="4607941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4607941" y="150875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465199" y="3382390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4">
                  <a:moveTo>
                    <a:pt x="0" y="0"/>
                  </a:moveTo>
                  <a:lnTo>
                    <a:pt x="54736" y="0"/>
                  </a:lnTo>
                </a:path>
              </a:pathLst>
            </a:custGeom>
            <a:ln w="50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207128" y="3320923"/>
              <a:ext cx="364490" cy="120014"/>
            </a:xfrm>
            <a:custGeom>
              <a:avLst/>
              <a:gdLst/>
              <a:ahLst/>
              <a:cxnLst/>
              <a:rect l="l" t="t" r="r" b="b"/>
              <a:pathLst>
                <a:path w="364489" h="120014">
                  <a:moveTo>
                    <a:pt x="364363" y="0"/>
                  </a:moveTo>
                  <a:lnTo>
                    <a:pt x="0" y="0"/>
                  </a:lnTo>
                  <a:lnTo>
                    <a:pt x="0" y="119506"/>
                  </a:lnTo>
                  <a:lnTo>
                    <a:pt x="364363" y="119506"/>
                  </a:lnTo>
                  <a:lnTo>
                    <a:pt x="36436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xfrm>
            <a:off x="23749" y="3313885"/>
            <a:ext cx="2357120" cy="1047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>
                <a:sym typeface="+mn-ea"/>
              </a:rPr>
              <a:t>Программная</a:t>
            </a:r>
            <a:r>
              <a:rPr spc="-30" dirty="0">
                <a:sym typeface="+mn-ea"/>
              </a:rPr>
              <a:t> </a:t>
            </a:r>
            <a:r>
              <a:rPr spc="15" dirty="0">
                <a:sym typeface="+mn-ea"/>
              </a:rPr>
              <a:t>инженерия.</a:t>
            </a:r>
            <a:r>
              <a:rPr spc="25" dirty="0">
                <a:sym typeface="+mn-ea"/>
              </a:rPr>
              <a:t> </a:t>
            </a:r>
            <a:r>
              <a:rPr spc="10" dirty="0">
                <a:sym typeface="+mn-ea"/>
              </a:rPr>
              <a:t>Документирование</a:t>
            </a:r>
            <a:r>
              <a:rPr spc="-25" dirty="0">
                <a:sym typeface="+mn-ea"/>
              </a:rPr>
              <a:t> </a:t>
            </a:r>
            <a:r>
              <a:rPr spc="15" dirty="0">
                <a:sym typeface="+mn-ea"/>
              </a:rPr>
              <a:t>ПО</a:t>
            </a:r>
            <a:endParaRPr spc="15" dirty="0"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-20" dirty="0"/>
              <a:t>2</a:t>
            </a:r>
            <a:r>
              <a:rPr spc="-20" dirty="0"/>
              <a:t>2</a:t>
            </a:r>
            <a:r>
              <a:rPr spc="-80" dirty="0"/>
              <a:t> </a:t>
            </a:r>
            <a:r>
              <a:rPr spc="-75" dirty="0"/>
              <a:t>/</a:t>
            </a:r>
            <a:r>
              <a:rPr spc="-80" dirty="0"/>
              <a:t> </a:t>
            </a:r>
            <a:r>
              <a:rPr spc="-20" dirty="0"/>
              <a:t>26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608195" cy="201295"/>
            <a:chOff x="0" y="0"/>
            <a:chExt cx="4608195" cy="201295"/>
          </a:xfrm>
        </p:grpSpPr>
        <p:sp>
          <p:nvSpPr>
            <p:cNvPr id="3" name="object 3"/>
            <p:cNvSpPr/>
            <p:nvPr/>
          </p:nvSpPr>
          <p:spPr>
            <a:xfrm>
              <a:off x="19641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0002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361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07213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1082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1441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1800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2161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2520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8815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3241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3600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39610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0949" y="0"/>
                  </a:moveTo>
                  <a:lnTo>
                    <a:pt x="6042" y="0"/>
                  </a:lnTo>
                  <a:lnTo>
                    <a:pt x="0" y="6042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6042"/>
                  </a:lnTo>
                  <a:lnTo>
                    <a:pt x="209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39610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99326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02932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06527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967988" y="13017"/>
            <a:ext cx="54546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Заключение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847" y="13017"/>
            <a:ext cx="2764155" cy="44195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20"/>
              </a:spcBef>
              <a:tabLst>
                <a:tab pos="1897380" algn="l"/>
              </a:tabLst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Общие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понятия</a:t>
            </a:r>
            <a:r>
              <a:rPr sz="65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Виды</a:t>
            </a:r>
            <a:r>
              <a:rPr sz="650" spc="-3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Пример</a:t>
            </a:r>
            <a:r>
              <a:rPr sz="1050" spc="-6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2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грамо</a:t>
            </a:r>
            <a:r>
              <a:rPr sz="1050" spc="-3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тно</a:t>
            </a:r>
            <a:r>
              <a:rPr sz="1050" spc="-3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г</a:t>
            </a:r>
            <a:r>
              <a:rPr sz="1050" spc="-1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о</a:t>
            </a:r>
            <a:r>
              <a:rPr sz="1050" spc="-6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программирования</a:t>
            </a:r>
            <a:endParaRPr sz="10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3736" y="661784"/>
            <a:ext cx="2632710" cy="22313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15"/>
              </a:spcBef>
            </a:pPr>
            <a:r>
              <a:rPr sz="750" b="1" spc="45" dirty="0">
                <a:latin typeface="Arial" panose="020B0604020202020204"/>
                <a:cs typeface="Arial" panose="020B0604020202020204"/>
              </a:rPr>
              <a:t>Пример</a:t>
            </a:r>
            <a:r>
              <a:rPr sz="75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25" dirty="0">
                <a:latin typeface="Arial" panose="020B0604020202020204"/>
                <a:cs typeface="Arial" panose="020B0604020202020204"/>
              </a:rPr>
              <a:t>в</a:t>
            </a:r>
            <a:r>
              <a:rPr sz="75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spc="30" dirty="0">
                <a:latin typeface="Arial" panose="020B0604020202020204"/>
                <a:cs typeface="Arial" panose="020B0604020202020204"/>
              </a:rPr>
              <a:t>системе</a:t>
            </a:r>
            <a:r>
              <a:rPr sz="75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750" b="1" u="sng" spc="20" dirty="0">
                <a:solidFill>
                  <a:srgbClr val="B2B2FF"/>
                </a:solidFill>
                <a:uFill>
                  <a:solidFill>
                    <a:srgbClr val="B2B2FF"/>
                  </a:solidFill>
                </a:uFill>
                <a:latin typeface="Arial" panose="020B0604020202020204"/>
                <a:cs typeface="Arial" panose="020B0604020202020204"/>
                <a:hlinkClick r:id="rId1"/>
              </a:rPr>
              <a:t>noweb</a:t>
            </a:r>
            <a:r>
              <a:rPr sz="750" b="1" spc="20" dirty="0">
                <a:latin typeface="Arial" panose="020B0604020202020204"/>
                <a:cs typeface="Arial" panose="020B0604020202020204"/>
              </a:rPr>
              <a:t>: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53975">
              <a:lnSpc>
                <a:spcPct val="100000"/>
              </a:lnSpc>
              <a:spcBef>
                <a:spcPts val="795"/>
              </a:spcBef>
            </a:pPr>
            <a:r>
              <a:rPr sz="550" spc="-2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1</a:t>
            </a:r>
            <a:r>
              <a:rPr sz="550" spc="15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550" spc="15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dirty="0">
                <a:latin typeface="Courier New" panose="02070309020205020404"/>
                <a:cs typeface="Courier New" panose="02070309020205020404"/>
              </a:rPr>
              <a:t>Our</a:t>
            </a:r>
            <a:r>
              <a:rPr sz="650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basic</a:t>
            </a:r>
            <a:r>
              <a:rPr sz="650" dirty="0">
                <a:latin typeface="Courier New" panose="02070309020205020404"/>
                <a:cs typeface="Courier New" panose="02070309020205020404"/>
              </a:rPr>
              <a:t> C</a:t>
            </a:r>
            <a:r>
              <a:rPr sz="650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program</a:t>
            </a:r>
            <a:r>
              <a:rPr sz="65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consists</a:t>
            </a:r>
            <a:r>
              <a:rPr sz="650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dirty="0">
                <a:latin typeface="Courier New" panose="02070309020205020404"/>
                <a:cs typeface="Courier New" panose="02070309020205020404"/>
              </a:rPr>
              <a:t>of the</a:t>
            </a:r>
            <a:r>
              <a:rPr sz="650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five</a:t>
            </a:r>
            <a:r>
              <a:rPr sz="65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parts: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53975">
              <a:lnSpc>
                <a:spcPct val="100000"/>
              </a:lnSpc>
              <a:spcBef>
                <a:spcPts val="215"/>
              </a:spcBef>
            </a:pPr>
            <a:r>
              <a:rPr sz="550" spc="-2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2</a:t>
            </a:r>
            <a:r>
              <a:rPr sz="550" spc="15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550" spc="15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222250" indent="-168910">
              <a:lnSpc>
                <a:spcPct val="100000"/>
              </a:lnSpc>
              <a:spcBef>
                <a:spcPts val="215"/>
              </a:spcBef>
              <a:buClr>
                <a:srgbClr val="7F7F7F"/>
              </a:buClr>
              <a:buSzPct val="85000"/>
              <a:buFont typeface="Lucida Sans Unicode" panose="020B0602030504020204"/>
              <a:buAutoNum type="arabicPlain" startAt="3"/>
              <a:tabLst>
                <a:tab pos="222885" algn="l"/>
              </a:tabLst>
            </a:pPr>
            <a:r>
              <a:rPr sz="650" spc="-5" dirty="0">
                <a:latin typeface="Courier New" panose="02070309020205020404"/>
                <a:cs typeface="Courier New" panose="02070309020205020404"/>
              </a:rPr>
              <a:t>&lt;&lt;Header files </a:t>
            </a:r>
            <a:r>
              <a:rPr sz="650" dirty="0">
                <a:latin typeface="Courier New" panose="02070309020205020404"/>
                <a:cs typeface="Courier New" panose="02070309020205020404"/>
              </a:rPr>
              <a:t>to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 include&gt;&gt;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222250" indent="-168910">
              <a:lnSpc>
                <a:spcPct val="100000"/>
              </a:lnSpc>
              <a:spcBef>
                <a:spcPts val="215"/>
              </a:spcBef>
              <a:buClr>
                <a:srgbClr val="7F7F7F"/>
              </a:buClr>
              <a:buSzPct val="85000"/>
              <a:buFont typeface="Lucida Sans Unicode" panose="020B0602030504020204"/>
              <a:buAutoNum type="arabicPlain" startAt="3"/>
              <a:tabLst>
                <a:tab pos="222885" algn="l"/>
              </a:tabLst>
            </a:pPr>
            <a:r>
              <a:rPr sz="650" spc="-5" dirty="0">
                <a:latin typeface="Courier New" panose="02070309020205020404"/>
                <a:cs typeface="Courier New" panose="02070309020205020404"/>
              </a:rPr>
              <a:t>&lt;&lt;Type</a:t>
            </a:r>
            <a:r>
              <a:rPr sz="650" spc="-3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definitions&gt;&gt;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222250" indent="-168910">
              <a:lnSpc>
                <a:spcPct val="100000"/>
              </a:lnSpc>
              <a:spcBef>
                <a:spcPts val="220"/>
              </a:spcBef>
              <a:buClr>
                <a:srgbClr val="7F7F7F"/>
              </a:buClr>
              <a:buSzPct val="85000"/>
              <a:buFont typeface="Lucida Sans Unicode" panose="020B0602030504020204"/>
              <a:buAutoNum type="arabicPlain" startAt="3"/>
              <a:tabLst>
                <a:tab pos="222885" algn="l"/>
              </a:tabLst>
            </a:pPr>
            <a:r>
              <a:rPr sz="650" spc="-5" dirty="0">
                <a:latin typeface="Courier New" panose="02070309020205020404"/>
                <a:cs typeface="Courier New" panose="02070309020205020404"/>
              </a:rPr>
              <a:t>&lt;&lt;Global</a:t>
            </a:r>
            <a:r>
              <a:rPr sz="650" spc="-3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variables&gt;&gt;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222250" indent="-168910">
              <a:lnSpc>
                <a:spcPct val="100000"/>
              </a:lnSpc>
              <a:spcBef>
                <a:spcPts val="215"/>
              </a:spcBef>
              <a:buClr>
                <a:srgbClr val="7F7F7F"/>
              </a:buClr>
              <a:buSzPct val="85000"/>
              <a:buFont typeface="Lucida Sans Unicode" panose="020B0602030504020204"/>
              <a:buAutoNum type="arabicPlain" startAt="3"/>
              <a:tabLst>
                <a:tab pos="222885" algn="l"/>
              </a:tabLst>
            </a:pPr>
            <a:r>
              <a:rPr sz="650" spc="-5" dirty="0">
                <a:latin typeface="Courier New" panose="02070309020205020404"/>
                <a:cs typeface="Courier New" panose="02070309020205020404"/>
              </a:rPr>
              <a:t>&lt;&lt;Function</a:t>
            </a:r>
            <a:r>
              <a:rPr sz="650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definitions&gt;&gt;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222250" indent="-168910">
              <a:lnSpc>
                <a:spcPct val="100000"/>
              </a:lnSpc>
              <a:spcBef>
                <a:spcPts val="215"/>
              </a:spcBef>
              <a:buClr>
                <a:srgbClr val="7F7F7F"/>
              </a:buClr>
              <a:buSzPct val="85000"/>
              <a:buFont typeface="Lucida Sans Unicode" panose="020B0602030504020204"/>
              <a:buAutoNum type="arabicPlain" startAt="3"/>
              <a:tabLst>
                <a:tab pos="222885" algn="l"/>
              </a:tabLst>
            </a:pPr>
            <a:r>
              <a:rPr sz="650" spc="-5" dirty="0">
                <a:latin typeface="Courier New" panose="02070309020205020404"/>
                <a:cs typeface="Courier New" panose="02070309020205020404"/>
              </a:rPr>
              <a:t>&lt;&lt;The</a:t>
            </a:r>
            <a:r>
              <a:rPr sz="650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main</a:t>
            </a:r>
            <a:r>
              <a:rPr sz="650" spc="-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program&gt;&gt;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53975">
              <a:lnSpc>
                <a:spcPct val="100000"/>
              </a:lnSpc>
              <a:spcBef>
                <a:spcPts val="215"/>
              </a:spcBef>
            </a:pPr>
            <a:r>
              <a:rPr sz="550" spc="-2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8</a:t>
            </a:r>
            <a:r>
              <a:rPr sz="550" spc="15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550" spc="15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dirty="0">
                <a:latin typeface="Courier New" panose="02070309020205020404"/>
                <a:cs typeface="Courier New" panose="02070309020205020404"/>
              </a:rPr>
              <a:t>@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53975">
              <a:lnSpc>
                <a:spcPct val="100000"/>
              </a:lnSpc>
              <a:spcBef>
                <a:spcPts val="320"/>
              </a:spcBef>
            </a:pPr>
            <a:r>
              <a:rPr sz="550" spc="-2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9</a:t>
            </a:r>
            <a:endParaRPr sz="550">
              <a:latin typeface="Lucida Sans Unicode" panose="020B0602030504020204"/>
              <a:cs typeface="Lucida Sans Unicode" panose="020B0602030504020204"/>
            </a:endParaRPr>
          </a:p>
          <a:p>
            <a:pPr marL="222250" indent="-210185">
              <a:lnSpc>
                <a:spcPct val="100000"/>
              </a:lnSpc>
              <a:spcBef>
                <a:spcPts val="235"/>
              </a:spcBef>
              <a:buClr>
                <a:srgbClr val="7F7F7F"/>
              </a:buClr>
              <a:buSzPct val="85000"/>
              <a:buFont typeface="Lucida Sans Unicode" panose="020B0602030504020204"/>
              <a:buAutoNum type="arabicPlain" startAt="10"/>
              <a:tabLst>
                <a:tab pos="222885" algn="l"/>
              </a:tabLst>
            </a:pPr>
            <a:r>
              <a:rPr sz="650" dirty="0">
                <a:latin typeface="Courier New" panose="02070309020205020404"/>
                <a:cs typeface="Courier New" panose="02070309020205020404"/>
              </a:rPr>
              <a:t>As we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intend</a:t>
            </a:r>
            <a:r>
              <a:rPr sz="650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dirty="0">
                <a:latin typeface="Courier New" panose="02070309020205020404"/>
                <a:cs typeface="Courier New" panose="02070309020205020404"/>
              </a:rPr>
              <a:t>to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present</a:t>
            </a:r>
            <a:r>
              <a:rPr sz="65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information</a:t>
            </a:r>
            <a:r>
              <a:rPr sz="650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dirty="0">
                <a:latin typeface="Courier New" panose="02070309020205020404"/>
                <a:cs typeface="Courier New" panose="02070309020205020404"/>
              </a:rPr>
              <a:t>to the</a:t>
            </a:r>
            <a:r>
              <a:rPr sz="650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user,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222250" indent="-210185">
              <a:lnSpc>
                <a:spcPct val="100000"/>
              </a:lnSpc>
              <a:spcBef>
                <a:spcPts val="215"/>
              </a:spcBef>
              <a:buClr>
                <a:srgbClr val="7F7F7F"/>
              </a:buClr>
              <a:buSzPct val="85000"/>
              <a:buFont typeface="Lucida Sans Unicode" panose="020B0602030504020204"/>
              <a:buAutoNum type="arabicPlain" startAt="10"/>
              <a:tabLst>
                <a:tab pos="222885" algn="l"/>
              </a:tabLst>
            </a:pPr>
            <a:r>
              <a:rPr sz="650" dirty="0">
                <a:latin typeface="Courier New" panose="02070309020205020404"/>
                <a:cs typeface="Courier New" panose="02070309020205020404"/>
              </a:rPr>
              <a:t>we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should</a:t>
            </a:r>
            <a:r>
              <a:rPr sz="65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include</a:t>
            </a:r>
            <a:r>
              <a:rPr sz="650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dirty="0">
                <a:latin typeface="Courier New" panose="02070309020205020404"/>
                <a:cs typeface="Courier New" panose="02070309020205020404"/>
              </a:rPr>
              <a:t>the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standard</a:t>
            </a:r>
            <a:r>
              <a:rPr sz="650" dirty="0">
                <a:latin typeface="Courier New" panose="02070309020205020404"/>
                <a:cs typeface="Courier New" panose="02070309020205020404"/>
              </a:rPr>
              <a:t> I/O</a:t>
            </a:r>
            <a:r>
              <a:rPr sz="650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library.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222250" indent="-210185">
              <a:lnSpc>
                <a:spcPct val="100000"/>
              </a:lnSpc>
              <a:spcBef>
                <a:spcPts val="215"/>
              </a:spcBef>
              <a:buClr>
                <a:srgbClr val="7F7F7F"/>
              </a:buClr>
              <a:buSzPct val="85000"/>
              <a:buFont typeface="Lucida Sans Unicode" panose="020B0602030504020204"/>
              <a:buAutoNum type="arabicPlain" startAt="10"/>
              <a:tabLst>
                <a:tab pos="222885" algn="l"/>
              </a:tabLst>
            </a:pPr>
            <a:r>
              <a:rPr sz="650" spc="-5" dirty="0">
                <a:latin typeface="Courier New" panose="02070309020205020404"/>
                <a:cs typeface="Courier New" panose="02070309020205020404"/>
              </a:rPr>
              <a:t>&lt;&lt;Header files </a:t>
            </a:r>
            <a:r>
              <a:rPr sz="650" dirty="0">
                <a:latin typeface="Courier New" panose="02070309020205020404"/>
                <a:cs typeface="Courier New" panose="02070309020205020404"/>
              </a:rPr>
              <a:t>to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 include&gt;&gt;=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222250" indent="-210185">
              <a:lnSpc>
                <a:spcPct val="100000"/>
              </a:lnSpc>
              <a:spcBef>
                <a:spcPts val="220"/>
              </a:spcBef>
              <a:buClr>
                <a:srgbClr val="7F7F7F"/>
              </a:buClr>
              <a:buSzPct val="85000"/>
              <a:buFont typeface="Lucida Sans Unicode" panose="020B0602030504020204"/>
              <a:buAutoNum type="arabicPlain" startAt="10"/>
              <a:tabLst>
                <a:tab pos="222885" algn="l"/>
              </a:tabLst>
            </a:pPr>
            <a:r>
              <a:rPr sz="650" spc="-5" dirty="0">
                <a:solidFill>
                  <a:srgbClr val="7F0066"/>
                </a:solidFill>
                <a:latin typeface="Courier New" panose="02070309020205020404"/>
                <a:cs typeface="Courier New" panose="02070309020205020404"/>
              </a:rPr>
              <a:t>#include</a:t>
            </a:r>
            <a:r>
              <a:rPr sz="650" spc="-25" dirty="0">
                <a:solidFill>
                  <a:srgbClr val="7F00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&lt;</a:t>
            </a:r>
            <a:r>
              <a:rPr lang="en-US" sz="650" spc="-5" dirty="0">
                <a:latin typeface="Courier New" panose="02070309020205020404"/>
                <a:cs typeface="Courier New" panose="02070309020205020404"/>
              </a:rPr>
              <a:t>iostream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&gt;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550" spc="-2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14</a:t>
            </a:r>
            <a:r>
              <a:rPr sz="550" spc="15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550" spc="15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dirty="0">
                <a:latin typeface="Courier New" panose="02070309020205020404"/>
                <a:cs typeface="Courier New" panose="02070309020205020404"/>
              </a:rPr>
              <a:t>@</a:t>
            </a:r>
            <a:endParaRPr sz="65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550" spc="-2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15</a:t>
            </a:r>
            <a:endParaRPr sz="55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550" spc="-20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16</a:t>
            </a:r>
            <a:r>
              <a:rPr sz="550" spc="155" dirty="0">
                <a:solidFill>
                  <a:srgbClr val="7F7F7F"/>
                </a:solidFill>
                <a:latin typeface="Lucida Sans Unicode" panose="020B0602030504020204"/>
                <a:cs typeface="Lucida Sans Unicode" panose="020B0602030504020204"/>
              </a:rPr>
              <a:t>   </a:t>
            </a:r>
            <a:r>
              <a:rPr sz="650" dirty="0">
                <a:latin typeface="Courier New" panose="02070309020205020404"/>
                <a:cs typeface="Courier New" panose="02070309020205020404"/>
              </a:rPr>
              <a:t>So</a:t>
            </a:r>
            <a:r>
              <a:rPr sz="650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dirty="0">
                <a:latin typeface="Courier New" panose="02070309020205020404"/>
                <a:cs typeface="Courier New" panose="02070309020205020404"/>
              </a:rPr>
              <a:t>it</a:t>
            </a:r>
            <a:r>
              <a:rPr sz="650" spc="-3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650" spc="-5" dirty="0">
                <a:latin typeface="Courier New" panose="02070309020205020404"/>
                <a:cs typeface="Courier New" panose="02070309020205020404"/>
              </a:rPr>
              <a:t>goes</a:t>
            </a:r>
            <a:r>
              <a:rPr lang="en-US" sz="650" spc="-5" dirty="0">
                <a:latin typeface="Courier New" panose="02070309020205020404"/>
                <a:cs typeface="Courier New" panose="02070309020205020404"/>
              </a:rPr>
              <a:t>, amen.</a:t>
            </a:r>
            <a:endParaRPr lang="en-US" sz="650" spc="-5" dirty="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3305175"/>
            <a:ext cx="4608195" cy="151130"/>
            <a:chOff x="0" y="3305175"/>
            <a:chExt cx="4608195" cy="151130"/>
          </a:xfrm>
        </p:grpSpPr>
        <p:sp>
          <p:nvSpPr>
            <p:cNvPr id="24" name="object 24"/>
            <p:cNvSpPr/>
            <p:nvPr/>
          </p:nvSpPr>
          <p:spPr>
            <a:xfrm>
              <a:off x="0" y="3305175"/>
              <a:ext cx="4608195" cy="151130"/>
            </a:xfrm>
            <a:custGeom>
              <a:avLst/>
              <a:gdLst/>
              <a:ahLst/>
              <a:cxnLst/>
              <a:rect l="l" t="t" r="r" b="b"/>
              <a:pathLst>
                <a:path w="4608195" h="151129">
                  <a:moveTo>
                    <a:pt x="4607941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4607941" y="150875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465199" y="3382390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4">
                  <a:moveTo>
                    <a:pt x="0" y="0"/>
                  </a:moveTo>
                  <a:lnTo>
                    <a:pt x="54736" y="0"/>
                  </a:lnTo>
                </a:path>
              </a:pathLst>
            </a:custGeom>
            <a:ln w="50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207128" y="3320923"/>
              <a:ext cx="364490" cy="120014"/>
            </a:xfrm>
            <a:custGeom>
              <a:avLst/>
              <a:gdLst/>
              <a:ahLst/>
              <a:cxnLst/>
              <a:rect l="l" t="t" r="r" b="b"/>
              <a:pathLst>
                <a:path w="364489" h="120014">
                  <a:moveTo>
                    <a:pt x="364363" y="0"/>
                  </a:moveTo>
                  <a:lnTo>
                    <a:pt x="0" y="0"/>
                  </a:lnTo>
                  <a:lnTo>
                    <a:pt x="0" y="119506"/>
                  </a:lnTo>
                  <a:lnTo>
                    <a:pt x="364363" y="119506"/>
                  </a:lnTo>
                  <a:lnTo>
                    <a:pt x="36436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xfrm>
            <a:off x="23749" y="3313885"/>
            <a:ext cx="2357120" cy="1047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>
                <a:sym typeface="+mn-ea"/>
              </a:rPr>
              <a:t>Программная</a:t>
            </a:r>
            <a:r>
              <a:rPr spc="-30" dirty="0">
                <a:sym typeface="+mn-ea"/>
              </a:rPr>
              <a:t> </a:t>
            </a:r>
            <a:r>
              <a:rPr spc="15" dirty="0">
                <a:sym typeface="+mn-ea"/>
              </a:rPr>
              <a:t>инженерия.</a:t>
            </a:r>
            <a:r>
              <a:rPr spc="25" dirty="0">
                <a:sym typeface="+mn-ea"/>
              </a:rPr>
              <a:t> </a:t>
            </a:r>
            <a:r>
              <a:rPr spc="10" dirty="0">
                <a:sym typeface="+mn-ea"/>
              </a:rPr>
              <a:t>Документирование</a:t>
            </a:r>
            <a:r>
              <a:rPr spc="-25" dirty="0">
                <a:sym typeface="+mn-ea"/>
              </a:rPr>
              <a:t> </a:t>
            </a:r>
            <a:r>
              <a:rPr spc="15" dirty="0">
                <a:sym typeface="+mn-ea"/>
              </a:rPr>
              <a:t>ПО</a:t>
            </a:r>
            <a:endParaRPr spc="15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-20" dirty="0"/>
              <a:t>2</a:t>
            </a:r>
            <a:r>
              <a:rPr spc="-20" dirty="0"/>
              <a:t>3</a:t>
            </a:r>
            <a:r>
              <a:rPr spc="-80" dirty="0"/>
              <a:t> </a:t>
            </a:r>
            <a:r>
              <a:rPr spc="-75" dirty="0"/>
              <a:t>/</a:t>
            </a:r>
            <a:r>
              <a:rPr spc="-80" dirty="0"/>
              <a:t> </a:t>
            </a:r>
            <a:r>
              <a:rPr spc="-20" dirty="0"/>
              <a:t>26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50" y="13017"/>
            <a:ext cx="69405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Общие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понятия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61642" y="145981"/>
            <a:ext cx="464184" cy="32384"/>
            <a:chOff x="1961642" y="145981"/>
            <a:chExt cx="464184" cy="32384"/>
          </a:xfrm>
        </p:grpSpPr>
        <p:sp>
          <p:nvSpPr>
            <p:cNvPr id="4" name="object 4"/>
            <p:cNvSpPr/>
            <p:nvPr/>
          </p:nvSpPr>
          <p:spPr>
            <a:xfrm>
              <a:off x="19641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002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0361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07213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1082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1441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1800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2161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520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28815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3241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3600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39610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938908" y="13017"/>
            <a:ext cx="87947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Виды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990730" y="145991"/>
            <a:ext cx="104139" cy="32384"/>
            <a:chOff x="3990730" y="145991"/>
            <a:chExt cx="104139" cy="32384"/>
          </a:xfrm>
        </p:grpSpPr>
        <p:sp>
          <p:nvSpPr>
            <p:cNvPr id="19" name="object 19"/>
            <p:cNvSpPr/>
            <p:nvPr/>
          </p:nvSpPr>
          <p:spPr>
            <a:xfrm>
              <a:off x="399326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0949" y="0"/>
                  </a:moveTo>
                  <a:lnTo>
                    <a:pt x="6042" y="0"/>
                  </a:lnTo>
                  <a:lnTo>
                    <a:pt x="0" y="6042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6042"/>
                  </a:lnTo>
                  <a:lnTo>
                    <a:pt x="209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99326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02932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06526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3967988" y="13017"/>
            <a:ext cx="54546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Заключение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847" y="269964"/>
            <a:ext cx="55372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2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Выводы</a:t>
            </a:r>
            <a:endParaRPr sz="10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5270" y="908941"/>
            <a:ext cx="4130675" cy="1677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7955" marR="142240" indent="-135890">
              <a:lnSpc>
                <a:spcPct val="142000"/>
              </a:lnSpc>
              <a:spcBef>
                <a:spcPts val="95"/>
              </a:spcBef>
              <a:buClr>
                <a:srgbClr val="3333B2"/>
              </a:buClr>
              <a:buAutoNum type="arabicPeriod"/>
              <a:tabLst>
                <a:tab pos="148590" algn="l"/>
              </a:tabLst>
            </a:pP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Документация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на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ПО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нужна,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5" dirty="0">
                <a:latin typeface="Lucida Sans Unicode" panose="020B0602030504020204"/>
                <a:cs typeface="Lucida Sans Unicode" panose="020B0602030504020204"/>
              </a:rPr>
              <a:t>чтобы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описать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его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функционал</a:t>
            </a:r>
            <a:r>
              <a:rPr lang="ru-RU" sz="750" dirty="0">
                <a:latin typeface="Lucida Sans Unicode" panose="020B0602030504020204"/>
                <a:cs typeface="Lucida Sans Unicode" panose="020B0602030504020204"/>
              </a:rPr>
              <a:t>ьность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для</a:t>
            </a:r>
            <a:r>
              <a:rPr sz="75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пользователей </a:t>
            </a:r>
            <a:r>
              <a:rPr sz="750" spc="-2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(пользовательская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документация)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и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упростить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сопровождение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и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эволюцию</a:t>
            </a:r>
            <a:r>
              <a:rPr lang="ru-RU" sz="750" spc="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(сис</a:t>
            </a:r>
            <a:r>
              <a:rPr sz="750" spc="-15" dirty="0">
                <a:latin typeface="Lucida Sans Unicode" panose="020B0602030504020204"/>
                <a:cs typeface="Lucida Sans Unicode" panose="020B0602030504020204"/>
              </a:rPr>
              <a:t>т</a:t>
            </a:r>
            <a:r>
              <a:rPr sz="750" spc="20" dirty="0">
                <a:latin typeface="Lucida Sans Unicode" panose="020B0602030504020204"/>
                <a:cs typeface="Lucida Sans Unicode" panose="020B0602030504020204"/>
              </a:rPr>
              <a:t>емная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документация)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47955" marR="5080" indent="-135890">
              <a:lnSpc>
                <a:spcPct val="142000"/>
              </a:lnSpc>
              <a:spcBef>
                <a:spcPts val="505"/>
              </a:spcBef>
              <a:buClr>
                <a:srgbClr val="3333B2"/>
              </a:buClr>
              <a:buAutoNum type="arabicPeriod" startAt="2"/>
              <a:tabLst>
                <a:tab pos="148590" algn="l"/>
              </a:tabLst>
            </a:pPr>
            <a:r>
              <a:rPr sz="750" spc="-15" dirty="0">
                <a:latin typeface="Lucida Sans Unicode" panose="020B0602030504020204"/>
                <a:cs typeface="Lucida Sans Unicode" panose="020B0602030504020204"/>
              </a:rPr>
              <a:t>Согласно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гибкой методологии разработки, </a:t>
            </a:r>
            <a:r>
              <a:rPr sz="750" spc="30" dirty="0">
                <a:latin typeface="Lucida Sans Unicode" panose="020B0602030504020204"/>
                <a:cs typeface="Lucida Sans Unicode" panose="020B0602030504020204"/>
              </a:rPr>
              <a:t>объем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документации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(в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особенности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документов,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описывающих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процесс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разработки)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должен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5" dirty="0">
                <a:latin typeface="Lucida Sans Unicode" panose="020B0602030504020204"/>
                <a:cs typeface="Lucida Sans Unicode" panose="020B0602030504020204"/>
              </a:rPr>
              <a:t>быть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сведен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к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минимуму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47955" marR="61595" indent="-135890">
              <a:lnSpc>
                <a:spcPct val="142000"/>
              </a:lnSpc>
              <a:spcBef>
                <a:spcPts val="505"/>
              </a:spcBef>
              <a:buClr>
                <a:srgbClr val="3333B2"/>
              </a:buClr>
              <a:buAutoNum type="arabicPeriod" startAt="2"/>
              <a:tabLst>
                <a:tab pos="148590" algn="l"/>
              </a:tabLst>
            </a:pP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Стандарт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25" dirty="0">
                <a:latin typeface="Lucida Sans Unicode" panose="020B0602030504020204"/>
                <a:cs typeface="Lucida Sans Unicode" panose="020B0602030504020204"/>
              </a:rPr>
              <a:t>IEEE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1063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содержит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рекомендации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по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составлению</a:t>
            </a:r>
            <a:r>
              <a:rPr sz="750" spc="-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к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ПО, </a:t>
            </a:r>
            <a:r>
              <a:rPr sz="75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45" dirty="0">
                <a:latin typeface="Lucida Sans Unicode" panose="020B0602030504020204"/>
                <a:cs typeface="Lucida Sans Unicode" panose="020B0602030504020204"/>
              </a:rPr>
              <a:t>в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частности,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приблизительную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структуру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документов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  <a:p>
            <a:pPr marL="147955" marR="407035" indent="-135890">
              <a:lnSpc>
                <a:spcPct val="142000"/>
              </a:lnSpc>
              <a:spcBef>
                <a:spcPts val="505"/>
              </a:spcBef>
              <a:buClr>
                <a:srgbClr val="3333B2"/>
              </a:buClr>
              <a:buAutoNum type="arabicPeriod" startAt="2"/>
              <a:tabLst>
                <a:tab pos="148590" algn="l"/>
              </a:tabLst>
            </a:pP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Создание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можно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автоматизировать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за</a:t>
            </a:r>
            <a:r>
              <a:rPr sz="750" spc="-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5" dirty="0">
                <a:latin typeface="Lucida Sans Unicode" panose="020B0602030504020204"/>
                <a:cs typeface="Lucida Sans Unicode" panose="020B0602030504020204"/>
              </a:rPr>
              <a:t>счет</a:t>
            </a:r>
            <a:r>
              <a:rPr sz="750" spc="-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использования </a:t>
            </a:r>
            <a:r>
              <a:rPr sz="750" spc="-2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генераторов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наподобие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lang="en-US" sz="750" spc="-40" dirty="0">
                <a:latin typeface="Lucida Sans Unicode" panose="020B0602030504020204"/>
                <a:cs typeface="Lucida Sans Unicode" panose="020B0602030504020204"/>
              </a:rPr>
              <a:t>D</a:t>
            </a:r>
            <a:r>
              <a:rPr lang="en-US" sz="750" spc="-10" dirty="0">
                <a:latin typeface="Lucida Sans Unicode" panose="020B0602030504020204"/>
                <a:cs typeface="Lucida Sans Unicode" panose="020B0602030504020204"/>
              </a:rPr>
              <a:t>oxygen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3305175"/>
            <a:ext cx="4608195" cy="151130"/>
            <a:chOff x="0" y="3305175"/>
            <a:chExt cx="4608195" cy="151130"/>
          </a:xfrm>
        </p:grpSpPr>
        <p:sp>
          <p:nvSpPr>
            <p:cNvPr id="27" name="object 27"/>
            <p:cNvSpPr/>
            <p:nvPr/>
          </p:nvSpPr>
          <p:spPr>
            <a:xfrm>
              <a:off x="0" y="3305175"/>
              <a:ext cx="4608195" cy="151130"/>
            </a:xfrm>
            <a:custGeom>
              <a:avLst/>
              <a:gdLst/>
              <a:ahLst/>
              <a:cxnLst/>
              <a:rect l="l" t="t" r="r" b="b"/>
              <a:pathLst>
                <a:path w="4608195" h="151129">
                  <a:moveTo>
                    <a:pt x="4607941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4607941" y="150875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465199" y="3382390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4">
                  <a:moveTo>
                    <a:pt x="0" y="0"/>
                  </a:moveTo>
                  <a:lnTo>
                    <a:pt x="54736" y="0"/>
                  </a:lnTo>
                </a:path>
              </a:pathLst>
            </a:custGeom>
            <a:ln w="50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207128" y="3320923"/>
              <a:ext cx="364490" cy="120014"/>
            </a:xfrm>
            <a:custGeom>
              <a:avLst/>
              <a:gdLst/>
              <a:ahLst/>
              <a:cxnLst/>
              <a:rect l="l" t="t" r="r" b="b"/>
              <a:pathLst>
                <a:path w="364489" h="120014">
                  <a:moveTo>
                    <a:pt x="364363" y="0"/>
                  </a:moveTo>
                  <a:lnTo>
                    <a:pt x="0" y="0"/>
                  </a:lnTo>
                  <a:lnTo>
                    <a:pt x="0" y="119506"/>
                  </a:lnTo>
                  <a:lnTo>
                    <a:pt x="364363" y="119506"/>
                  </a:lnTo>
                  <a:lnTo>
                    <a:pt x="36436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xfrm>
            <a:off x="23749" y="3313885"/>
            <a:ext cx="2357120" cy="1047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>
                <a:sym typeface="+mn-ea"/>
              </a:rPr>
              <a:t>Программная</a:t>
            </a:r>
            <a:r>
              <a:rPr spc="-30" dirty="0">
                <a:sym typeface="+mn-ea"/>
              </a:rPr>
              <a:t> </a:t>
            </a:r>
            <a:r>
              <a:rPr spc="15" dirty="0">
                <a:sym typeface="+mn-ea"/>
              </a:rPr>
              <a:t>инженерия.</a:t>
            </a:r>
            <a:r>
              <a:rPr spc="25" dirty="0">
                <a:sym typeface="+mn-ea"/>
              </a:rPr>
              <a:t> </a:t>
            </a:r>
            <a:r>
              <a:rPr spc="10" dirty="0">
                <a:sym typeface="+mn-ea"/>
              </a:rPr>
              <a:t>Документирование</a:t>
            </a:r>
            <a:r>
              <a:rPr spc="-25" dirty="0">
                <a:sym typeface="+mn-ea"/>
              </a:rPr>
              <a:t> </a:t>
            </a:r>
            <a:r>
              <a:rPr spc="15" dirty="0">
                <a:sym typeface="+mn-ea"/>
              </a:rPr>
              <a:t>ПО</a:t>
            </a:r>
            <a:endParaRPr spc="15" dirty="0"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-20" dirty="0"/>
              <a:t>2</a:t>
            </a:r>
            <a:r>
              <a:rPr spc="-20" dirty="0"/>
              <a:t>4</a:t>
            </a:r>
            <a:r>
              <a:rPr spc="-80" dirty="0"/>
              <a:t> </a:t>
            </a:r>
            <a:r>
              <a:rPr spc="-75" dirty="0"/>
              <a:t>/</a:t>
            </a:r>
            <a:r>
              <a:rPr spc="-80" dirty="0"/>
              <a:t> </a:t>
            </a:r>
            <a:r>
              <a:rPr spc="-20" dirty="0"/>
              <a:t>26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50" y="13017"/>
            <a:ext cx="69405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Общие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понятия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61642" y="145981"/>
            <a:ext cx="464184" cy="32384"/>
            <a:chOff x="1961642" y="145981"/>
            <a:chExt cx="464184" cy="32384"/>
          </a:xfrm>
        </p:grpSpPr>
        <p:sp>
          <p:nvSpPr>
            <p:cNvPr id="4" name="object 4"/>
            <p:cNvSpPr/>
            <p:nvPr/>
          </p:nvSpPr>
          <p:spPr>
            <a:xfrm>
              <a:off x="19641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002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0361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07213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1082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1441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1800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2161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520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28815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3241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3600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39610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938908" y="13017"/>
            <a:ext cx="87947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Виды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990730" y="145991"/>
            <a:ext cx="104139" cy="32384"/>
            <a:chOff x="3990730" y="145991"/>
            <a:chExt cx="104139" cy="32384"/>
          </a:xfrm>
        </p:grpSpPr>
        <p:sp>
          <p:nvSpPr>
            <p:cNvPr id="19" name="object 19"/>
            <p:cNvSpPr/>
            <p:nvPr/>
          </p:nvSpPr>
          <p:spPr>
            <a:xfrm>
              <a:off x="399326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02932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0949" y="0"/>
                  </a:moveTo>
                  <a:lnTo>
                    <a:pt x="6042" y="0"/>
                  </a:lnTo>
                  <a:lnTo>
                    <a:pt x="0" y="6042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6042"/>
                  </a:lnTo>
                  <a:lnTo>
                    <a:pt x="209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02932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06526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3967988" y="13017"/>
            <a:ext cx="54546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Заключение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847" y="269964"/>
            <a:ext cx="78105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5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Материалы</a:t>
            </a:r>
            <a:endParaRPr sz="10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23596" y="1263880"/>
            <a:ext cx="106680" cy="144780"/>
            <a:chOff x="223596" y="1263880"/>
            <a:chExt cx="106680" cy="144780"/>
          </a:xfrm>
        </p:grpSpPr>
        <p:pic>
          <p:nvPicPr>
            <p:cNvPr id="26" name="object 2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26136" y="1266420"/>
              <a:ext cx="101220" cy="139177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26136" y="1266420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7"/>
                  </a:moveTo>
                  <a:lnTo>
                    <a:pt x="101220" y="139177"/>
                  </a:lnTo>
                  <a:lnTo>
                    <a:pt x="101220" y="25305"/>
                  </a:lnTo>
                  <a:lnTo>
                    <a:pt x="75915" y="0"/>
                  </a:lnTo>
                  <a:lnTo>
                    <a:pt x="0" y="0"/>
                  </a:lnTo>
                  <a:lnTo>
                    <a:pt x="0" y="139177"/>
                  </a:lnTo>
                  <a:close/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38788" y="1285399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8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51441" y="1304377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10" y="0"/>
                  </a:lnTo>
                </a:path>
                <a:path w="50800" h="12700">
                  <a:moveTo>
                    <a:pt x="0" y="12652"/>
                  </a:moveTo>
                  <a:lnTo>
                    <a:pt x="50610" y="12652"/>
                  </a:lnTo>
                </a:path>
              </a:pathLst>
            </a:custGeom>
            <a:ln w="508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38788" y="1336009"/>
              <a:ext cx="31750" cy="38100"/>
            </a:xfrm>
            <a:custGeom>
              <a:avLst/>
              <a:gdLst/>
              <a:ahLst/>
              <a:cxnLst/>
              <a:rect l="l" t="t" r="r" b="b"/>
              <a:pathLst>
                <a:path w="31750" h="38100">
                  <a:moveTo>
                    <a:pt x="0" y="0"/>
                  </a:moveTo>
                  <a:lnTo>
                    <a:pt x="31631" y="0"/>
                  </a:lnTo>
                </a:path>
                <a:path w="31750" h="38100">
                  <a:moveTo>
                    <a:pt x="0" y="12652"/>
                  </a:moveTo>
                  <a:lnTo>
                    <a:pt x="31631" y="12652"/>
                  </a:lnTo>
                </a:path>
                <a:path w="31750" h="38100">
                  <a:moveTo>
                    <a:pt x="0" y="25305"/>
                  </a:moveTo>
                  <a:lnTo>
                    <a:pt x="31631" y="25305"/>
                  </a:lnTo>
                </a:path>
                <a:path w="31750" h="38100">
                  <a:moveTo>
                    <a:pt x="0" y="37957"/>
                  </a:moveTo>
                  <a:lnTo>
                    <a:pt x="31631" y="37957"/>
                  </a:lnTo>
                </a:path>
              </a:pathLst>
            </a:custGeom>
            <a:ln w="5080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3072" y="1332845"/>
              <a:ext cx="31635" cy="4428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02051" y="126642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25305"/>
                  </a:moveTo>
                  <a:lnTo>
                    <a:pt x="0" y="25305"/>
                  </a:lnTo>
                  <a:lnTo>
                    <a:pt x="0" y="0"/>
                  </a:lnTo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/>
          <p:cNvGrpSpPr/>
          <p:nvPr/>
        </p:nvGrpSpPr>
        <p:grpSpPr>
          <a:xfrm>
            <a:off x="223596" y="1777214"/>
            <a:ext cx="106680" cy="144780"/>
            <a:chOff x="223596" y="1777214"/>
            <a:chExt cx="106680" cy="144780"/>
          </a:xfrm>
        </p:grpSpPr>
        <p:pic>
          <p:nvPicPr>
            <p:cNvPr id="34" name="object 3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26136" y="1779754"/>
              <a:ext cx="101220" cy="13917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26136" y="1779754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7"/>
                  </a:moveTo>
                  <a:lnTo>
                    <a:pt x="101220" y="139177"/>
                  </a:lnTo>
                  <a:lnTo>
                    <a:pt x="101220" y="25305"/>
                  </a:lnTo>
                  <a:lnTo>
                    <a:pt x="75915" y="0"/>
                  </a:lnTo>
                  <a:lnTo>
                    <a:pt x="0" y="0"/>
                  </a:lnTo>
                  <a:lnTo>
                    <a:pt x="0" y="139177"/>
                  </a:lnTo>
                  <a:close/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38788" y="1798733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8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51441" y="1817711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10" y="0"/>
                  </a:lnTo>
                </a:path>
                <a:path w="50800" h="12700">
                  <a:moveTo>
                    <a:pt x="0" y="12652"/>
                  </a:moveTo>
                  <a:lnTo>
                    <a:pt x="50610" y="12652"/>
                  </a:lnTo>
                </a:path>
              </a:pathLst>
            </a:custGeom>
            <a:ln w="508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38788" y="1849343"/>
              <a:ext cx="31750" cy="38100"/>
            </a:xfrm>
            <a:custGeom>
              <a:avLst/>
              <a:gdLst/>
              <a:ahLst/>
              <a:cxnLst/>
              <a:rect l="l" t="t" r="r" b="b"/>
              <a:pathLst>
                <a:path w="31750" h="38100">
                  <a:moveTo>
                    <a:pt x="0" y="0"/>
                  </a:moveTo>
                  <a:lnTo>
                    <a:pt x="31631" y="0"/>
                  </a:lnTo>
                </a:path>
                <a:path w="31750" h="38100">
                  <a:moveTo>
                    <a:pt x="0" y="12652"/>
                  </a:moveTo>
                  <a:lnTo>
                    <a:pt x="31631" y="12652"/>
                  </a:lnTo>
                </a:path>
                <a:path w="31750" h="38100">
                  <a:moveTo>
                    <a:pt x="0" y="25305"/>
                  </a:moveTo>
                  <a:lnTo>
                    <a:pt x="31631" y="25305"/>
                  </a:lnTo>
                </a:path>
                <a:path w="31750" h="38100">
                  <a:moveTo>
                    <a:pt x="0" y="37957"/>
                  </a:moveTo>
                  <a:lnTo>
                    <a:pt x="31631" y="37957"/>
                  </a:lnTo>
                </a:path>
              </a:pathLst>
            </a:custGeom>
            <a:ln w="5080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072" y="1846179"/>
              <a:ext cx="31635" cy="4428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02051" y="177975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25305"/>
                  </a:moveTo>
                  <a:lnTo>
                    <a:pt x="0" y="25305"/>
                  </a:lnTo>
                  <a:lnTo>
                    <a:pt x="0" y="0"/>
                  </a:lnTo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226088" y="1231267"/>
            <a:ext cx="2652395" cy="70167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750" u="sng" dirty="0">
                <a:solidFill>
                  <a:srgbClr val="3333B2"/>
                </a:solidFill>
                <a:uFill>
                  <a:solidFill>
                    <a:srgbClr val="B2B2B2"/>
                  </a:solidFill>
                </a:uFill>
                <a:latin typeface="Times New Roman" panose="02020603050405020304"/>
                <a:cs typeface="Times New Roman" panose="02020603050405020304"/>
              </a:rPr>
              <a:t>   </a:t>
            </a:r>
            <a:r>
              <a:rPr sz="750" u="sng" spc="10" dirty="0">
                <a:solidFill>
                  <a:srgbClr val="3333B2"/>
                </a:solidFill>
                <a:uFill>
                  <a:solidFill>
                    <a:srgbClr val="B2B2B2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solidFill>
                  <a:srgbClr val="3333B2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750" spc="90" dirty="0">
                <a:solidFill>
                  <a:srgbClr val="3333B2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https://lectures.ostrov.ski/list</a:t>
            </a:r>
            <a:r>
              <a:rPr lang="en-US" sz="75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endParaRPr lang="en-US" sz="750" dirty="0">
              <a:solidFill>
                <a:srgbClr val="3333B2"/>
              </a:solidFill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endParaRPr lang="en-US" sz="750" spc="25" dirty="0">
              <a:solidFill>
                <a:srgbClr val="3333B2"/>
              </a:solidFill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endParaRPr lang="en-US" sz="750" spc="25" dirty="0">
              <a:solidFill>
                <a:srgbClr val="3333B2"/>
              </a:solidFill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lang="en-US" sz="750" dirty="0">
                <a:solidFill>
                  <a:srgbClr val="3333B2"/>
                </a:solidFill>
                <a:latin typeface="Lucida Sans Unicode" panose="020B0602030504020204"/>
                <a:cs typeface="Lucida Sans Unicode" panose="020B0602030504020204"/>
              </a:rPr>
              <a:t>      </a:t>
            </a:r>
            <a:r>
              <a:rPr sz="750" spc="25" dirty="0">
                <a:latin typeface="Lucida Sans Unicode" panose="020B0602030504020204"/>
                <a:cs typeface="Lucida Sans Unicode" panose="020B0602030504020204"/>
              </a:rPr>
              <a:t>IEEE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1063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Standa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r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d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-10" dirty="0">
                <a:latin typeface="Lucida Sans Unicode" panose="020B0602030504020204"/>
                <a:cs typeface="Lucida Sans Unicode" panose="020B0602030504020204"/>
              </a:rPr>
              <a:t>fo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r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5" dirty="0">
                <a:latin typeface="Lucida Sans Unicode" panose="020B0602030504020204"/>
                <a:cs typeface="Lucida Sans Unicode" panose="020B0602030504020204"/>
              </a:rPr>
              <a:t>Softwa</a:t>
            </a:r>
            <a:r>
              <a:rPr sz="750" spc="-5" dirty="0">
                <a:latin typeface="Lucida Sans Unicode" panose="020B0602030504020204"/>
                <a:cs typeface="Lucida Sans Unicode" panose="020B0602030504020204"/>
              </a:rPr>
              <a:t>r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e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spc="10" dirty="0">
                <a:latin typeface="Lucida Sans Unicode" panose="020B0602030504020204"/>
                <a:cs typeface="Lucida Sans Unicode" panose="020B0602030504020204"/>
              </a:rPr>
              <a:t>User</a:t>
            </a:r>
            <a:r>
              <a:rPr sz="75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750" dirty="0">
                <a:latin typeface="Lucida Sans Unicode" panose="020B0602030504020204"/>
                <a:cs typeface="Lucida Sans Unicode" panose="020B0602030504020204"/>
              </a:rPr>
              <a:t>Documentation</a:t>
            </a:r>
            <a:endParaRPr sz="7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0" y="3305175"/>
            <a:ext cx="4608195" cy="151130"/>
            <a:chOff x="0" y="3305175"/>
            <a:chExt cx="4608195" cy="151130"/>
          </a:xfrm>
        </p:grpSpPr>
        <p:sp>
          <p:nvSpPr>
            <p:cNvPr id="43" name="object 43"/>
            <p:cNvSpPr/>
            <p:nvPr/>
          </p:nvSpPr>
          <p:spPr>
            <a:xfrm>
              <a:off x="0" y="3305175"/>
              <a:ext cx="4608195" cy="151130"/>
            </a:xfrm>
            <a:custGeom>
              <a:avLst/>
              <a:gdLst/>
              <a:ahLst/>
              <a:cxnLst/>
              <a:rect l="l" t="t" r="r" b="b"/>
              <a:pathLst>
                <a:path w="4608195" h="151129">
                  <a:moveTo>
                    <a:pt x="4607941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4607941" y="150875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465199" y="3382390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4">
                  <a:moveTo>
                    <a:pt x="0" y="0"/>
                  </a:moveTo>
                  <a:lnTo>
                    <a:pt x="54736" y="0"/>
                  </a:lnTo>
                </a:path>
              </a:pathLst>
            </a:custGeom>
            <a:ln w="50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207128" y="3320923"/>
              <a:ext cx="364490" cy="120014"/>
            </a:xfrm>
            <a:custGeom>
              <a:avLst/>
              <a:gdLst/>
              <a:ahLst/>
              <a:cxnLst/>
              <a:rect l="l" t="t" r="r" b="b"/>
              <a:pathLst>
                <a:path w="364489" h="120014">
                  <a:moveTo>
                    <a:pt x="364363" y="0"/>
                  </a:moveTo>
                  <a:lnTo>
                    <a:pt x="0" y="0"/>
                  </a:lnTo>
                  <a:lnTo>
                    <a:pt x="0" y="119506"/>
                  </a:lnTo>
                  <a:lnTo>
                    <a:pt x="364363" y="119506"/>
                  </a:lnTo>
                  <a:lnTo>
                    <a:pt x="36436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xfrm>
            <a:off x="23749" y="3313885"/>
            <a:ext cx="2357120" cy="1047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>
                <a:sym typeface="+mn-ea"/>
              </a:rPr>
              <a:t>Программная</a:t>
            </a:r>
            <a:r>
              <a:rPr spc="-30" dirty="0">
                <a:sym typeface="+mn-ea"/>
              </a:rPr>
              <a:t> </a:t>
            </a:r>
            <a:r>
              <a:rPr spc="15" dirty="0">
                <a:sym typeface="+mn-ea"/>
              </a:rPr>
              <a:t>инженерия.</a:t>
            </a:r>
            <a:r>
              <a:rPr spc="25" dirty="0">
                <a:sym typeface="+mn-ea"/>
              </a:rPr>
              <a:t> </a:t>
            </a:r>
            <a:r>
              <a:rPr spc="10" dirty="0">
                <a:sym typeface="+mn-ea"/>
              </a:rPr>
              <a:t>Документирование</a:t>
            </a:r>
            <a:r>
              <a:rPr spc="-25" dirty="0">
                <a:sym typeface="+mn-ea"/>
              </a:rPr>
              <a:t> </a:t>
            </a:r>
            <a:r>
              <a:rPr spc="15" dirty="0">
                <a:sym typeface="+mn-ea"/>
              </a:rPr>
              <a:t>ПО</a:t>
            </a:r>
            <a:endParaRPr spc="15" dirty="0"/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-20" dirty="0"/>
              <a:t>2</a:t>
            </a:r>
            <a:r>
              <a:rPr spc="-20" dirty="0"/>
              <a:t>5</a:t>
            </a:r>
            <a:r>
              <a:rPr spc="-80" dirty="0"/>
              <a:t> </a:t>
            </a:r>
            <a:r>
              <a:rPr spc="-75" dirty="0"/>
              <a:t>/</a:t>
            </a:r>
            <a:r>
              <a:rPr spc="-80" dirty="0"/>
              <a:t> </a:t>
            </a:r>
            <a:r>
              <a:rPr spc="-20" dirty="0"/>
              <a:t>26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50" y="13017"/>
            <a:ext cx="69405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Общие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понятия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61642" y="145981"/>
            <a:ext cx="464184" cy="32384"/>
            <a:chOff x="1961642" y="145981"/>
            <a:chExt cx="464184" cy="32384"/>
          </a:xfrm>
        </p:grpSpPr>
        <p:sp>
          <p:nvSpPr>
            <p:cNvPr id="4" name="object 4"/>
            <p:cNvSpPr/>
            <p:nvPr/>
          </p:nvSpPr>
          <p:spPr>
            <a:xfrm>
              <a:off x="19641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002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0361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07213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1082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1441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180082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21615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5209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28815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32410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360041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39610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938908" y="13017"/>
            <a:ext cx="87947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Виды</a:t>
            </a:r>
            <a:r>
              <a:rPr sz="650" spc="-3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650" spc="5" dirty="0">
                <a:solidFill>
                  <a:srgbClr val="8C8CAC"/>
                </a:solidFill>
                <a:latin typeface="Lucida Sans Unicode" panose="020B0602030504020204"/>
                <a:cs typeface="Lucida Sans Unicode" panose="020B0602030504020204"/>
              </a:rPr>
              <a:t>документации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990730" y="145991"/>
            <a:ext cx="104139" cy="32384"/>
            <a:chOff x="3990730" y="145991"/>
            <a:chExt cx="104139" cy="32384"/>
          </a:xfrm>
        </p:grpSpPr>
        <p:sp>
          <p:nvSpPr>
            <p:cNvPr id="19" name="object 19"/>
            <p:cNvSpPr/>
            <p:nvPr/>
          </p:nvSpPr>
          <p:spPr>
            <a:xfrm>
              <a:off x="3993260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029328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06526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0949" y="0"/>
                  </a:moveTo>
                  <a:lnTo>
                    <a:pt x="6042" y="0"/>
                  </a:lnTo>
                  <a:lnTo>
                    <a:pt x="0" y="6042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6042"/>
                  </a:lnTo>
                  <a:lnTo>
                    <a:pt x="209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065269" y="148521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6992" y="13496"/>
                  </a:moveTo>
                  <a:lnTo>
                    <a:pt x="26992" y="6042"/>
                  </a:lnTo>
                  <a:lnTo>
                    <a:pt x="20949" y="0"/>
                  </a:lnTo>
                  <a:lnTo>
                    <a:pt x="13496" y="0"/>
                  </a:lnTo>
                  <a:lnTo>
                    <a:pt x="6042" y="0"/>
                  </a:lnTo>
                  <a:lnTo>
                    <a:pt x="0" y="6042"/>
                  </a:lnTo>
                  <a:lnTo>
                    <a:pt x="0" y="13496"/>
                  </a:lnTo>
                  <a:lnTo>
                    <a:pt x="0" y="20949"/>
                  </a:lnTo>
                  <a:lnTo>
                    <a:pt x="6042" y="26992"/>
                  </a:lnTo>
                  <a:lnTo>
                    <a:pt x="13496" y="26992"/>
                  </a:lnTo>
                  <a:lnTo>
                    <a:pt x="20949" y="26992"/>
                  </a:lnTo>
                  <a:lnTo>
                    <a:pt x="26992" y="20949"/>
                  </a:lnTo>
                  <a:lnTo>
                    <a:pt x="26992" y="13496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3967988" y="13017"/>
            <a:ext cx="54546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Заключение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37792" y="1444282"/>
            <a:ext cx="2332355" cy="266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650">
                <a:latin typeface="Lucida Sans Unicode" panose="020B0602030504020204"/>
                <a:cs typeface="Lucida Sans Unicode" panose="020B0602030504020204"/>
              </a:rPr>
              <a:t>Практика на </a:t>
            </a:r>
            <a:r>
              <a:rPr lang="en-US" sz="1650">
                <a:latin typeface="Lucida Sans Unicode" panose="020B0602030504020204"/>
                <a:cs typeface="Lucida Sans Unicode" panose="020B0602030504020204"/>
              </a:rPr>
              <a:t>Doxygen</a:t>
            </a:r>
            <a:endParaRPr lang="en-US" sz="1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3305175"/>
            <a:ext cx="4608195" cy="151130"/>
            <a:chOff x="0" y="3305175"/>
            <a:chExt cx="4608195" cy="151130"/>
          </a:xfrm>
        </p:grpSpPr>
        <p:sp>
          <p:nvSpPr>
            <p:cNvPr id="26" name="object 26"/>
            <p:cNvSpPr/>
            <p:nvPr/>
          </p:nvSpPr>
          <p:spPr>
            <a:xfrm>
              <a:off x="0" y="3305175"/>
              <a:ext cx="4608195" cy="151130"/>
            </a:xfrm>
            <a:custGeom>
              <a:avLst/>
              <a:gdLst/>
              <a:ahLst/>
              <a:cxnLst/>
              <a:rect l="l" t="t" r="r" b="b"/>
              <a:pathLst>
                <a:path w="4608195" h="151129">
                  <a:moveTo>
                    <a:pt x="4607941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4607941" y="150875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465199" y="3382390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4">
                  <a:moveTo>
                    <a:pt x="0" y="0"/>
                  </a:moveTo>
                  <a:lnTo>
                    <a:pt x="54736" y="0"/>
                  </a:lnTo>
                </a:path>
              </a:pathLst>
            </a:custGeom>
            <a:ln w="50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207128" y="3320923"/>
              <a:ext cx="364490" cy="120014"/>
            </a:xfrm>
            <a:custGeom>
              <a:avLst/>
              <a:gdLst/>
              <a:ahLst/>
              <a:cxnLst/>
              <a:rect l="l" t="t" r="r" b="b"/>
              <a:pathLst>
                <a:path w="364489" h="120014">
                  <a:moveTo>
                    <a:pt x="364363" y="0"/>
                  </a:moveTo>
                  <a:lnTo>
                    <a:pt x="0" y="0"/>
                  </a:lnTo>
                  <a:lnTo>
                    <a:pt x="0" y="119506"/>
                  </a:lnTo>
                  <a:lnTo>
                    <a:pt x="364363" y="119506"/>
                  </a:lnTo>
                  <a:lnTo>
                    <a:pt x="36436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xfrm>
            <a:off x="23749" y="3313885"/>
            <a:ext cx="2357120" cy="1047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5" dirty="0">
                <a:sym typeface="+mn-ea"/>
              </a:rPr>
              <a:t>Программная</a:t>
            </a:r>
            <a:r>
              <a:rPr spc="-30" dirty="0">
                <a:sym typeface="+mn-ea"/>
              </a:rPr>
              <a:t> </a:t>
            </a:r>
            <a:r>
              <a:rPr spc="15" dirty="0">
                <a:sym typeface="+mn-ea"/>
              </a:rPr>
              <a:t>инженерия.</a:t>
            </a:r>
            <a:r>
              <a:rPr spc="25" dirty="0">
                <a:sym typeface="+mn-ea"/>
              </a:rPr>
              <a:t> </a:t>
            </a:r>
            <a:r>
              <a:rPr spc="10" dirty="0">
                <a:sym typeface="+mn-ea"/>
              </a:rPr>
              <a:t>Документирование</a:t>
            </a:r>
            <a:r>
              <a:rPr spc="-25" dirty="0">
                <a:sym typeface="+mn-ea"/>
              </a:rPr>
              <a:t> </a:t>
            </a:r>
            <a:r>
              <a:rPr spc="15" dirty="0">
                <a:sym typeface="+mn-ea"/>
              </a:rPr>
              <a:t>ПО</a:t>
            </a:r>
            <a:endParaRPr spc="15" dirty="0"/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-20" dirty="0"/>
              <a:t>2</a:t>
            </a:r>
            <a:r>
              <a:rPr spc="-20" dirty="0"/>
              <a:t>6</a:t>
            </a:r>
            <a:r>
              <a:rPr spc="-80" dirty="0"/>
              <a:t> </a:t>
            </a:r>
            <a:r>
              <a:rPr spc="-75" dirty="0"/>
              <a:t>/</a:t>
            </a:r>
            <a:r>
              <a:rPr spc="-80" dirty="0"/>
              <a:t> </a:t>
            </a:r>
            <a:r>
              <a:rPr spc="-20" dirty="0"/>
              <a:t>26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B2B2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12084</Words>
  <Application>WPS Presentation</Application>
  <PresentationFormat>On-screen Show (4:3)</PresentationFormat>
  <Paragraphs>565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9" baseType="lpstr">
      <vt:lpstr>Arial</vt:lpstr>
      <vt:lpstr>SimSun</vt:lpstr>
      <vt:lpstr>Wingdings</vt:lpstr>
      <vt:lpstr>Lucida Sans Unicode</vt:lpstr>
      <vt:lpstr>Arial</vt:lpstr>
      <vt:lpstr>Cambria</vt:lpstr>
      <vt:lpstr>Times New Roman</vt:lpstr>
      <vt:lpstr>Verdana</vt:lpstr>
      <vt:lpstr>Calibri</vt:lpstr>
      <vt:lpstr>Microsoft YaHei</vt:lpstr>
      <vt:lpstr>Arial Unicode MS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Документирование ПО</dc:title>
  <dc:creator>Алексей Островский</dc:creator>
  <cp:lastModifiedBy>Alex</cp:lastModifiedBy>
  <cp:revision>2</cp:revision>
  <dcterms:created xsi:type="dcterms:W3CDTF">2022-10-30T08:52:38Z</dcterms:created>
  <dcterms:modified xsi:type="dcterms:W3CDTF">2022-10-30T09:21:15Z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2017-05-12T02:00:00Z</vt:filetime>
  </property>
  <property fmtid="{D5CDD505-2E9C-101B-9397-08002B2CF9AE}" pid="3" name="Creator">
    <vt:lpwstr>LaTeX with Beamer class version 3.24</vt:lpwstr>
  </property>
  <property fmtid="{D5CDD505-2E9C-101B-9397-08002B2CF9AE}" pid="4" name="LastSaved">
    <vt:filetime>2017-05-12T02:00:00Z</vt:filetime>
  </property>
  <property fmtid="{D5CDD505-2E9C-101B-9397-08002B2CF9AE}" pid="5" name="ICV">
    <vt:lpwstr>82D7A02DF81742C09DDCCC9AA5B0711B</vt:lpwstr>
  </property>
  <property fmtid="{D5CDD505-2E9C-101B-9397-08002B2CF9AE}" pid="6" name="KSOProductBuildVer">
    <vt:lpwstr>1033-11.2.0.11380</vt:lpwstr>
  </property>
</Properties>
</file>