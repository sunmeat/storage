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83" r:id="rId11"/>
    <p:sldId id="284" r:id="rId12"/>
    <p:sldId id="263" r:id="rId13"/>
    <p:sldId id="264" r:id="rId14"/>
    <p:sldId id="265" r:id="rId15"/>
    <p:sldId id="266" r:id="rId16"/>
    <p:sldId id="270" r:id="rId17"/>
    <p:sldId id="271" r:id="rId18"/>
    <p:sldId id="273" r:id="rId19"/>
    <p:sldId id="274" r:id="rId20"/>
    <p:sldId id="275" r:id="rId21"/>
    <p:sldId id="276" r:id="rId22"/>
    <p:sldId id="277" r:id="rId23"/>
    <p:sldId id="278" r:id="rId24"/>
    <p:sldId id="279" r:id="rId25"/>
    <p:sldId id="280" r:id="rId26"/>
    <p:sldId id="281" r:id="rId27"/>
  </p:sldIdLst>
  <p:sldSz cx="9144000" cy="6858000"/>
  <p:notesSz cx="6858000" cy="9144000"/>
  <p:embeddedFontLst>
    <p:embeddedFont>
      <p:font typeface="Helvetica Neue" panose="020B0604020202020204"/>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6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1.fntdata"/><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ru-RU"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48"/>
        <p:cNvGrpSpPr/>
        <p:nvPr/>
      </p:nvGrpSpPr>
      <p:grpSpPr>
        <a:xfrm>
          <a:off x="0" y="0"/>
          <a:ext cx="0" cy="0"/>
          <a:chOff x="0" y="0"/>
          <a:chExt cx="0" cy="0"/>
        </a:xfrm>
      </p:grpSpPr>
      <p:sp>
        <p:nvSpPr>
          <p:cNvPr id="49" name="Google Shape;49;p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50" name="Google Shape;50;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 name="Google Shape;51;p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5" name="Shape 55"/>
        <p:cNvGrpSpPr/>
        <p:nvPr/>
      </p:nvGrpSpPr>
      <p:grpSpPr>
        <a:xfrm>
          <a:off x="0" y="0"/>
          <a:ext cx="0" cy="0"/>
          <a:chOff x="0" y="0"/>
          <a:chExt cx="0" cy="0"/>
        </a:xfrm>
      </p:grpSpPr>
      <p:sp>
        <p:nvSpPr>
          <p:cNvPr id="56" name="Google Shape;56;p2: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57" name="Google Shape;57;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 name="Google Shape;58;p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62"/>
        <p:cNvGrpSpPr/>
        <p:nvPr/>
      </p:nvGrpSpPr>
      <p:grpSpPr>
        <a:xfrm>
          <a:off x="0" y="0"/>
          <a:ext cx="0" cy="0"/>
          <a:chOff x="0" y="0"/>
          <a:chExt cx="0" cy="0"/>
        </a:xfrm>
      </p:grpSpPr>
      <p:sp>
        <p:nvSpPr>
          <p:cNvPr id="63" name="Google Shape;63;p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64" name="Google Shape;64;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68"/>
        <p:cNvGrpSpPr/>
        <p:nvPr/>
      </p:nvGrpSpPr>
      <p:grpSpPr>
        <a:xfrm>
          <a:off x="0" y="0"/>
          <a:ext cx="0" cy="0"/>
          <a:chOff x="0" y="0"/>
          <a:chExt cx="0" cy="0"/>
        </a:xfrm>
      </p:grpSpPr>
      <p:sp>
        <p:nvSpPr>
          <p:cNvPr id="69" name="Google Shape;69;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70" name="Google Shape;70;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76" name="Google Shape;76;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2" name="Google Shape;82;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86" name="Shape 86"/>
        <p:cNvGrpSpPr/>
        <p:nvPr/>
      </p:nvGrpSpPr>
      <p:grpSpPr>
        <a:xfrm>
          <a:off x="0" y="0"/>
          <a:ext cx="0" cy="0"/>
          <a:chOff x="0" y="0"/>
          <a:chExt cx="0" cy="0"/>
        </a:xfrm>
      </p:grpSpPr>
      <p:sp>
        <p:nvSpPr>
          <p:cNvPr id="87" name="Google Shape;87;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88" name="Google Shape;88;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92" name="Shape 92"/>
        <p:cNvGrpSpPr/>
        <p:nvPr/>
      </p:nvGrpSpPr>
      <p:grpSpPr>
        <a:xfrm>
          <a:off x="0" y="0"/>
          <a:ext cx="0" cy="0"/>
          <a:chOff x="0" y="0"/>
          <a:chExt cx="0" cy="0"/>
        </a:xfrm>
      </p:grpSpPr>
      <p:sp>
        <p:nvSpPr>
          <p:cNvPr id="93" name="Google Shape;93;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94" name="Google Shape;94;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00" name="Google Shape;100;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10: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106" name="Google Shape;106;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10: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p1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13" name="Google Shape;113;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38"/>
        <p:cNvGrpSpPr/>
        <p:nvPr/>
      </p:nvGrpSpPr>
      <p:grpSpPr>
        <a:xfrm>
          <a:off x="0" y="0"/>
          <a:ext cx="0" cy="0"/>
          <a:chOff x="0" y="0"/>
          <a:chExt cx="0" cy="0"/>
        </a:xfrm>
      </p:grpSpPr>
      <p:sp>
        <p:nvSpPr>
          <p:cNvPr id="139" name="Google Shape;139;p1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140" name="Google Shape;140;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1" name="Google Shape;141;p1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5" name="Shape 145"/>
        <p:cNvGrpSpPr/>
        <p:nvPr/>
      </p:nvGrpSpPr>
      <p:grpSpPr>
        <a:xfrm>
          <a:off x="0" y="0"/>
          <a:ext cx="0" cy="0"/>
          <a:chOff x="0" y="0"/>
          <a:chExt cx="0" cy="0"/>
        </a:xfrm>
      </p:grpSpPr>
      <p:sp>
        <p:nvSpPr>
          <p:cNvPr id="146" name="Google Shape;146;p1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47" name="Google Shape;147;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18: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159" name="Google Shape;159;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8: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1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66" name="Google Shape;166;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0" name="Shape 170"/>
        <p:cNvGrpSpPr/>
        <p:nvPr/>
      </p:nvGrpSpPr>
      <p:grpSpPr>
        <a:xfrm>
          <a:off x="0" y="0"/>
          <a:ext cx="0" cy="0"/>
          <a:chOff x="0" y="0"/>
          <a:chExt cx="0" cy="0"/>
        </a:xfrm>
      </p:grpSpPr>
      <p:sp>
        <p:nvSpPr>
          <p:cNvPr id="171" name="Google Shape;171;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72" name="Google Shape;172;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2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78" name="Google Shape;178;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2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84" name="Google Shape;184;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p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90" name="Google Shape;190;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96" name="Google Shape;196;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2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202" name="Google Shape;202;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3" name="Google Shape;203;p2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2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ru-RU"/>
            </a:fld>
            <a:endParaRPr lang="ru-RU"/>
          </a:p>
        </p:txBody>
      </p:sp>
      <p:sp>
        <p:nvSpPr>
          <p:cNvPr id="202" name="Google Shape;202;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3" name="Google Shape;203;p2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Титульный слайд">
  <p:cSld name="TITLE">
    <p:bg>
      <p:bgPr>
        <a:blipFill>
          <a:blip r:embed="rId2"/>
          <a:stretch>
            <a:fillRect/>
          </a:stretch>
        </a:blipFill>
        <a:effectLst/>
      </p:bgPr>
    </p:bg>
    <p:spTree>
      <p:nvGrpSpPr>
        <p:cNvPr id="12" name="Shape 12"/>
        <p:cNvGrpSpPr/>
        <p:nvPr/>
      </p:nvGrpSpPr>
      <p:grpSpPr>
        <a:xfrm>
          <a:off x="0" y="0"/>
          <a:ext cx="0" cy="0"/>
          <a:chOff x="0" y="0"/>
          <a:chExt cx="0" cy="0"/>
        </a:xfrm>
      </p:grpSpPr>
      <p:sp>
        <p:nvSpPr>
          <p:cNvPr id="13" name="Google Shape;13;p2"/>
          <p:cNvSpPr txBox="1"/>
          <p:nvPr>
            <p:ph type="ctrTitle"/>
          </p:nvPr>
        </p:nvSpPr>
        <p:spPr>
          <a:xfrm>
            <a:off x="142875" y="2381250"/>
            <a:ext cx="3781425" cy="7048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ubTitle" idx="1"/>
          </p:nvPr>
        </p:nvSpPr>
        <p:spPr>
          <a:xfrm>
            <a:off x="142875" y="3343275"/>
            <a:ext cx="3781425" cy="485775"/>
          </a:xfrm>
          <a:prstGeom prst="rect">
            <a:avLst/>
          </a:prstGeom>
          <a:noFill/>
          <a:ln>
            <a:noFill/>
          </a:ln>
        </p:spPr>
        <p:txBody>
          <a:bodyPr spcFirstLastPara="1" wrap="square" lIns="91425" tIns="45700" rIns="91425" bIns="45700" anchor="t" anchorCtr="0">
            <a:noAutofit/>
          </a:bodyPr>
          <a:lstStyle>
            <a:lvl1pPr lvl="0" algn="ctr">
              <a:spcBef>
                <a:spcPts val="480"/>
              </a:spcBef>
              <a:spcAft>
                <a:spcPts val="0"/>
              </a:spcAft>
              <a:buClr>
                <a:schemeClr val="lt1"/>
              </a:buClr>
              <a:buSzPts val="2400"/>
              <a:buFont typeface="Helvetica Neue" panose="020B0604020202020204"/>
              <a:buNone/>
              <a:defRPr sz="2400">
                <a:solidFill>
                  <a:schemeClr val="lt1"/>
                </a:solidFill>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Заголовок и объект">
  <p:cSld name="OBJECT">
    <p:spTree>
      <p:nvGrpSpPr>
        <p:cNvPr id="15" name="Shape 15"/>
        <p:cNvGrpSpPr/>
        <p:nvPr/>
      </p:nvGrpSpPr>
      <p:grpSpPr>
        <a:xfrm>
          <a:off x="0" y="0"/>
          <a:ext cx="0" cy="0"/>
          <a:chOff x="0" y="0"/>
          <a:chExt cx="0" cy="0"/>
        </a:xfrm>
      </p:grpSpPr>
      <p:sp>
        <p:nvSpPr>
          <p:cNvPr id="16" name="Google Shape;16;p3"/>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3"/>
          <p:cNvSpPr txBox="1"/>
          <p:nvPr>
            <p:ph type="body" idx="1"/>
          </p:nvPr>
        </p:nvSpPr>
        <p:spPr>
          <a:xfrm>
            <a:off x="971550" y="1447800"/>
            <a:ext cx="73152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Заголовок раздела">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Helvetica Neue" panose="020B0604020202020204"/>
              <a:buNone/>
              <a:defRPr sz="2400"/>
            </a:lvl1pPr>
            <a:lvl2pPr marL="914400" lvl="1" indent="-228600" algn="l">
              <a:spcBef>
                <a:spcPts val="400"/>
              </a:spcBef>
              <a:spcAft>
                <a:spcPts val="0"/>
              </a:spcAft>
              <a:buClr>
                <a:schemeClr val="dk1"/>
              </a:buClr>
              <a:buSzPts val="2000"/>
              <a:buFont typeface="Helvetica Neue" panose="020B0604020202020204"/>
              <a:buNone/>
              <a:defRPr sz="2000"/>
            </a:lvl2pPr>
            <a:lvl3pPr marL="1371600" lvl="2" indent="-228600" algn="l">
              <a:spcBef>
                <a:spcPts val="360"/>
              </a:spcBef>
              <a:spcAft>
                <a:spcPts val="0"/>
              </a:spcAft>
              <a:buClr>
                <a:schemeClr val="dk1"/>
              </a:buClr>
              <a:buSzPts val="1800"/>
              <a:buFont typeface="Helvetica Neue" panose="020B0604020202020204"/>
              <a:buNone/>
              <a:defRPr sz="1800"/>
            </a:lvl3pPr>
            <a:lvl4pPr marL="1828800" lvl="3" indent="-228600" algn="l">
              <a:spcBef>
                <a:spcPts val="320"/>
              </a:spcBef>
              <a:spcAft>
                <a:spcPts val="0"/>
              </a:spcAft>
              <a:buClr>
                <a:schemeClr val="dk1"/>
              </a:buClr>
              <a:buSzPts val="1600"/>
              <a:buFont typeface="Helvetica Neue" panose="020B0604020202020204"/>
              <a:buNone/>
              <a:defRPr sz="1600"/>
            </a:lvl4pPr>
            <a:lvl5pPr marL="2286000" lvl="4" indent="-228600" algn="l">
              <a:spcBef>
                <a:spcPts val="320"/>
              </a:spcBef>
              <a:spcAft>
                <a:spcPts val="0"/>
              </a:spcAft>
              <a:buClr>
                <a:schemeClr val="dk1"/>
              </a:buClr>
              <a:buSzPts val="1600"/>
              <a:buFont typeface="Helvetica Neue" panose="020B0604020202020204"/>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Два объекта">
  <p:cSld name="TWO_OBJECTS">
    <p:spTree>
      <p:nvGrpSpPr>
        <p:cNvPr id="21" name="Shape 21"/>
        <p:cNvGrpSpPr/>
        <p:nvPr/>
      </p:nvGrpSpPr>
      <p:grpSpPr>
        <a:xfrm>
          <a:off x="0" y="0"/>
          <a:ext cx="0" cy="0"/>
          <a:chOff x="0" y="0"/>
          <a:chExt cx="0" cy="0"/>
        </a:xfrm>
      </p:grpSpPr>
      <p:sp>
        <p:nvSpPr>
          <p:cNvPr id="22" name="Google Shape;22;p5"/>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5"/>
          <p:cNvSpPr txBox="1"/>
          <p:nvPr>
            <p:ph type="body" idx="1"/>
          </p:nvPr>
        </p:nvSpPr>
        <p:spPr>
          <a:xfrm>
            <a:off x="971550" y="1447800"/>
            <a:ext cx="35814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5"/>
          <p:cNvSpPr txBox="1"/>
          <p:nvPr>
            <p:ph type="body" idx="2"/>
          </p:nvPr>
        </p:nvSpPr>
        <p:spPr>
          <a:xfrm>
            <a:off x="4705350" y="1447800"/>
            <a:ext cx="35814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Сравнение">
  <p:cSld name="TWO_OBJECTS_WITH_TEXT">
    <p:spTree>
      <p:nvGrpSpPr>
        <p:cNvPr id="25" name="Shape 25"/>
        <p:cNvGrpSpPr/>
        <p:nvPr/>
      </p:nvGrpSpPr>
      <p:grpSpPr>
        <a:xfrm>
          <a:off x="0" y="0"/>
          <a:ext cx="0" cy="0"/>
          <a:chOff x="0" y="0"/>
          <a:chExt cx="0" cy="0"/>
        </a:xfrm>
      </p:grpSpPr>
      <p:sp>
        <p:nvSpPr>
          <p:cNvPr id="26" name="Google Shape;26;p6"/>
          <p:cNvSpPr txBox="1"/>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6"/>
          <p:cNvSpPr txBox="1"/>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Helvetica Neue" panose="020B0604020202020204"/>
              <a:buNone/>
              <a:defRPr sz="2400" b="1"/>
            </a:lvl1pPr>
            <a:lvl2pPr marL="914400" lvl="1" indent="-228600" algn="l">
              <a:spcBef>
                <a:spcPts val="400"/>
              </a:spcBef>
              <a:spcAft>
                <a:spcPts val="0"/>
              </a:spcAft>
              <a:buClr>
                <a:schemeClr val="dk1"/>
              </a:buClr>
              <a:buSzPts val="2000"/>
              <a:buFont typeface="Helvetica Neue" panose="020B0604020202020204"/>
              <a:buNone/>
              <a:defRPr sz="2000" b="1"/>
            </a:lvl2pPr>
            <a:lvl3pPr marL="1371600" lvl="2" indent="-228600" algn="l">
              <a:spcBef>
                <a:spcPts val="360"/>
              </a:spcBef>
              <a:spcAft>
                <a:spcPts val="0"/>
              </a:spcAft>
              <a:buClr>
                <a:schemeClr val="dk1"/>
              </a:buClr>
              <a:buSzPts val="1800"/>
              <a:buFont typeface="Helvetica Neue" panose="020B0604020202020204"/>
              <a:buNone/>
              <a:defRPr sz="1800" b="1"/>
            </a:lvl3pPr>
            <a:lvl4pPr marL="1828800" lvl="3" indent="-228600" algn="l">
              <a:spcBef>
                <a:spcPts val="320"/>
              </a:spcBef>
              <a:spcAft>
                <a:spcPts val="0"/>
              </a:spcAft>
              <a:buClr>
                <a:schemeClr val="dk1"/>
              </a:buClr>
              <a:buSzPts val="1600"/>
              <a:buFont typeface="Helvetica Neue" panose="020B0604020202020204"/>
              <a:buNone/>
              <a:defRPr sz="1600" b="1"/>
            </a:lvl4pPr>
            <a:lvl5pPr marL="2286000" lvl="4" indent="-228600" algn="l">
              <a:spcBef>
                <a:spcPts val="320"/>
              </a:spcBef>
              <a:spcAft>
                <a:spcPts val="0"/>
              </a:spcAft>
              <a:buClr>
                <a:schemeClr val="dk1"/>
              </a:buClr>
              <a:buSzPts val="1600"/>
              <a:buFont typeface="Helvetica Neue" panose="020B0604020202020204"/>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28" name="Google Shape;28;p6"/>
          <p:cNvSpPr txBox="1"/>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6"/>
          <p:cNvSpPr txBox="1"/>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Helvetica Neue" panose="020B0604020202020204"/>
              <a:buNone/>
              <a:defRPr sz="2400" b="1"/>
            </a:lvl1pPr>
            <a:lvl2pPr marL="914400" lvl="1" indent="-228600" algn="l">
              <a:spcBef>
                <a:spcPts val="400"/>
              </a:spcBef>
              <a:spcAft>
                <a:spcPts val="0"/>
              </a:spcAft>
              <a:buClr>
                <a:schemeClr val="dk1"/>
              </a:buClr>
              <a:buSzPts val="2000"/>
              <a:buFont typeface="Helvetica Neue" panose="020B0604020202020204"/>
              <a:buNone/>
              <a:defRPr sz="2000" b="1"/>
            </a:lvl2pPr>
            <a:lvl3pPr marL="1371600" lvl="2" indent="-228600" algn="l">
              <a:spcBef>
                <a:spcPts val="360"/>
              </a:spcBef>
              <a:spcAft>
                <a:spcPts val="0"/>
              </a:spcAft>
              <a:buClr>
                <a:schemeClr val="dk1"/>
              </a:buClr>
              <a:buSzPts val="1800"/>
              <a:buFont typeface="Helvetica Neue" panose="020B0604020202020204"/>
              <a:buNone/>
              <a:defRPr sz="1800" b="1"/>
            </a:lvl3pPr>
            <a:lvl4pPr marL="1828800" lvl="3" indent="-228600" algn="l">
              <a:spcBef>
                <a:spcPts val="320"/>
              </a:spcBef>
              <a:spcAft>
                <a:spcPts val="0"/>
              </a:spcAft>
              <a:buClr>
                <a:schemeClr val="dk1"/>
              </a:buClr>
              <a:buSzPts val="1600"/>
              <a:buFont typeface="Helvetica Neue" panose="020B0604020202020204"/>
              <a:buNone/>
              <a:defRPr sz="1600" b="1"/>
            </a:lvl4pPr>
            <a:lvl5pPr marL="2286000" lvl="4" indent="-228600" algn="l">
              <a:spcBef>
                <a:spcPts val="320"/>
              </a:spcBef>
              <a:spcAft>
                <a:spcPts val="0"/>
              </a:spcAft>
              <a:buClr>
                <a:schemeClr val="dk1"/>
              </a:buClr>
              <a:buSzPts val="1600"/>
              <a:buFont typeface="Helvetica Neue" panose="020B0604020202020204"/>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30" name="Google Shape;30;p6"/>
          <p:cNvSpPr txBox="1"/>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Только заголовок">
  <p:cSld name="TITLE_ONLY">
    <p:spTree>
      <p:nvGrpSpPr>
        <p:cNvPr id="31" name="Shape 31"/>
        <p:cNvGrpSpPr/>
        <p:nvPr/>
      </p:nvGrpSpPr>
      <p:grpSpPr>
        <a:xfrm>
          <a:off x="0" y="0"/>
          <a:ext cx="0" cy="0"/>
          <a:chOff x="0" y="0"/>
          <a:chExt cx="0" cy="0"/>
        </a:xfrm>
      </p:grpSpPr>
      <p:sp>
        <p:nvSpPr>
          <p:cNvPr id="32" name="Google Shape;32;p7"/>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Пустой слайд">
  <p:cSld name="BLANK">
    <p:spTree>
      <p:nvGrpSpPr>
        <p:cNvPr id="33" name="Shape 33"/>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Объект с подписью">
  <p:cSld name="OBJECT_WITH_CAPTION_TEXT">
    <p:spTree>
      <p:nvGrpSpPr>
        <p:cNvPr id="34" name="Shape 34"/>
        <p:cNvGrpSpPr/>
        <p:nvPr/>
      </p:nvGrpSpPr>
      <p:grpSpPr>
        <a:xfrm>
          <a:off x="0" y="0"/>
          <a:ext cx="0" cy="0"/>
          <a:chOff x="0" y="0"/>
          <a:chExt cx="0" cy="0"/>
        </a:xfrm>
      </p:grpSpPr>
      <p:sp>
        <p:nvSpPr>
          <p:cNvPr id="35" name="Google Shape;35;p9"/>
          <p:cNvSpPr txBox="1"/>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
          <p:cNvSpPr txBox="1"/>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Helvetica Neue" panose="020B0604020202020204"/>
              <a:buChar char="•"/>
              <a:defRPr sz="3200"/>
            </a:lvl1pPr>
            <a:lvl2pPr marL="914400" lvl="1" indent="-406400" algn="l">
              <a:spcBef>
                <a:spcPts val="560"/>
              </a:spcBef>
              <a:spcAft>
                <a:spcPts val="0"/>
              </a:spcAft>
              <a:buClr>
                <a:schemeClr val="dk1"/>
              </a:buClr>
              <a:buSzPts val="2800"/>
              <a:buFont typeface="Helvetica Neue" panose="020B0604020202020204"/>
              <a:buChar char="–"/>
              <a:defRPr sz="2800"/>
            </a:lvl2pPr>
            <a:lvl3pPr marL="1371600" lvl="2" indent="-381000" algn="l">
              <a:spcBef>
                <a:spcPts val="480"/>
              </a:spcBef>
              <a:spcAft>
                <a:spcPts val="0"/>
              </a:spcAft>
              <a:buClr>
                <a:schemeClr val="dk1"/>
              </a:buClr>
              <a:buSzPts val="2400"/>
              <a:buFont typeface="Helvetica Neue" panose="020B0604020202020204"/>
              <a:buChar char="•"/>
              <a:defRPr sz="2400"/>
            </a:lvl3pPr>
            <a:lvl4pPr marL="1828800" lvl="3" indent="-355600" algn="l">
              <a:spcBef>
                <a:spcPts val="400"/>
              </a:spcBef>
              <a:spcAft>
                <a:spcPts val="0"/>
              </a:spcAft>
              <a:buClr>
                <a:schemeClr val="dk1"/>
              </a:buClr>
              <a:buSzPts val="2000"/>
              <a:buFont typeface="Helvetica Neue" panose="020B0604020202020204"/>
              <a:buChar char="–"/>
              <a:defRPr sz="2000"/>
            </a:lvl4pPr>
            <a:lvl5pPr marL="2286000" lvl="4" indent="-355600" algn="l">
              <a:spcBef>
                <a:spcPts val="400"/>
              </a:spcBef>
              <a:spcAft>
                <a:spcPts val="0"/>
              </a:spcAft>
              <a:buClr>
                <a:schemeClr val="dk1"/>
              </a:buClr>
              <a:buSzPts val="2000"/>
              <a:buFont typeface="Helvetica Neue" panose="020B0604020202020204"/>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37" name="Google Shape;37;p9"/>
          <p:cNvSpPr txBox="1"/>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Helvetica Neue" panose="020B0604020202020204"/>
              <a:buNone/>
              <a:defRPr sz="1600"/>
            </a:lvl1pPr>
            <a:lvl2pPr marL="914400" lvl="1" indent="-228600" algn="l">
              <a:spcBef>
                <a:spcPts val="280"/>
              </a:spcBef>
              <a:spcAft>
                <a:spcPts val="0"/>
              </a:spcAft>
              <a:buClr>
                <a:schemeClr val="dk1"/>
              </a:buClr>
              <a:buSzPts val="1400"/>
              <a:buFont typeface="Helvetica Neue" panose="020B0604020202020204"/>
              <a:buNone/>
              <a:defRPr sz="1400"/>
            </a:lvl2pPr>
            <a:lvl3pPr marL="1371600" lvl="2" indent="-228600" algn="l">
              <a:spcBef>
                <a:spcPts val="240"/>
              </a:spcBef>
              <a:spcAft>
                <a:spcPts val="0"/>
              </a:spcAft>
              <a:buClr>
                <a:schemeClr val="dk1"/>
              </a:buClr>
              <a:buSzPts val="1200"/>
              <a:buFont typeface="Helvetica Neue" panose="020B0604020202020204"/>
              <a:buNone/>
              <a:defRPr sz="1200"/>
            </a:lvl3pPr>
            <a:lvl4pPr marL="1828800" lvl="3" indent="-228600" algn="l">
              <a:spcBef>
                <a:spcPts val="200"/>
              </a:spcBef>
              <a:spcAft>
                <a:spcPts val="0"/>
              </a:spcAft>
              <a:buClr>
                <a:schemeClr val="dk1"/>
              </a:buClr>
              <a:buSzPts val="1000"/>
              <a:buFont typeface="Helvetica Neue" panose="020B0604020202020204"/>
              <a:buNone/>
              <a:defRPr sz="1000"/>
            </a:lvl4pPr>
            <a:lvl5pPr marL="2286000" lvl="4" indent="-228600" algn="l">
              <a:spcBef>
                <a:spcPts val="200"/>
              </a:spcBef>
              <a:spcAft>
                <a:spcPts val="0"/>
              </a:spcAft>
              <a:buClr>
                <a:schemeClr val="dk1"/>
              </a:buClr>
              <a:buSzPts val="1000"/>
              <a:buFont typeface="Helvetica Neue" panose="020B0604020202020204"/>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Рисунок с подписью">
  <p:cSld name="PICTURE_WITH_CAPTION_TEXT">
    <p:spTree>
      <p:nvGrpSpPr>
        <p:cNvPr id="38" name="Shape 38"/>
        <p:cNvGrpSpPr/>
        <p:nvPr/>
      </p:nvGrpSpPr>
      <p:grpSpPr>
        <a:xfrm>
          <a:off x="0" y="0"/>
          <a:ext cx="0" cy="0"/>
          <a:chOff x="0" y="0"/>
          <a:chExt cx="0" cy="0"/>
        </a:xfrm>
      </p:grpSpPr>
      <p:sp>
        <p:nvSpPr>
          <p:cNvPr id="39" name="Google Shape;39;p10"/>
          <p:cNvSpPr txBox="1"/>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p:nvPr>
            <p:ph type="pic" idx="2"/>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Helvetica Neue" panose="020B0604020202020204"/>
              <a:buNone/>
              <a:defRPr sz="32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1pPr>
            <a:lvl2pPr marR="0" lvl="1" algn="l" rtl="0">
              <a:spcBef>
                <a:spcPts val="560"/>
              </a:spcBef>
              <a:spcAft>
                <a:spcPts val="0"/>
              </a:spcAft>
              <a:buClr>
                <a:schemeClr val="dk1"/>
              </a:buClr>
              <a:buSzPts val="2800"/>
              <a:buFont typeface="Helvetica Neue" panose="020B0604020202020204"/>
              <a:buNone/>
              <a:defRPr sz="2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2pPr>
            <a:lvl3pPr marR="0" lvl="2" algn="l" rtl="0">
              <a:spcBef>
                <a:spcPts val="480"/>
              </a:spcBef>
              <a:spcAft>
                <a:spcPts val="0"/>
              </a:spcAft>
              <a:buClr>
                <a:schemeClr val="dk1"/>
              </a:buClr>
              <a:buSzPts val="2400"/>
              <a:buFont typeface="Helvetica Neue" panose="020B0604020202020204"/>
              <a:buNone/>
              <a:defRPr sz="24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3pPr>
            <a:lvl4pPr marR="0" lvl="3" algn="l" rtl="0">
              <a:spcBef>
                <a:spcPts val="400"/>
              </a:spcBef>
              <a:spcAft>
                <a:spcPts val="0"/>
              </a:spcAft>
              <a:buClr>
                <a:schemeClr val="dk1"/>
              </a:buClr>
              <a:buSzPts val="2000"/>
              <a:buFont typeface="Helvetica Neue" panose="020B0604020202020204"/>
              <a:buNone/>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4pPr>
            <a:lvl5pPr marR="0" lvl="4" algn="l" rtl="0">
              <a:spcBef>
                <a:spcPts val="400"/>
              </a:spcBef>
              <a:spcAft>
                <a:spcPts val="0"/>
              </a:spcAft>
              <a:buClr>
                <a:schemeClr val="dk1"/>
              </a:buClr>
              <a:buSzPts val="2000"/>
              <a:buFont typeface="Helvetica Neue" panose="020B0604020202020204"/>
              <a:buNone/>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5pPr>
            <a:lvl6pPr marR="0" lvl="5"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6pPr>
            <a:lvl7pPr marR="0" lvl="6"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7pPr>
            <a:lvl8pPr marR="0" lvl="7"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8pPr>
            <a:lvl9pPr marR="0" lvl="8"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9pPr>
          </a:lstStyle>
          <a:p/>
        </p:txBody>
      </p:sp>
      <p:sp>
        <p:nvSpPr>
          <p:cNvPr id="41" name="Google Shape;41;p10"/>
          <p:cNvSpPr txBox="1"/>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Helvetica Neue" panose="020B0604020202020204"/>
              <a:buNone/>
              <a:defRPr sz="1600"/>
            </a:lvl1pPr>
            <a:lvl2pPr marL="914400" lvl="1" indent="-228600" algn="l">
              <a:spcBef>
                <a:spcPts val="280"/>
              </a:spcBef>
              <a:spcAft>
                <a:spcPts val="0"/>
              </a:spcAft>
              <a:buClr>
                <a:schemeClr val="dk1"/>
              </a:buClr>
              <a:buSzPts val="1400"/>
              <a:buFont typeface="Helvetica Neue" panose="020B0604020202020204"/>
              <a:buNone/>
              <a:defRPr sz="1400"/>
            </a:lvl2pPr>
            <a:lvl3pPr marL="1371600" lvl="2" indent="-228600" algn="l">
              <a:spcBef>
                <a:spcPts val="240"/>
              </a:spcBef>
              <a:spcAft>
                <a:spcPts val="0"/>
              </a:spcAft>
              <a:buClr>
                <a:schemeClr val="dk1"/>
              </a:buClr>
              <a:buSzPts val="1200"/>
              <a:buFont typeface="Helvetica Neue" panose="020B0604020202020204"/>
              <a:buNone/>
              <a:defRPr sz="1200"/>
            </a:lvl3pPr>
            <a:lvl4pPr marL="1828800" lvl="3" indent="-228600" algn="l">
              <a:spcBef>
                <a:spcPts val="200"/>
              </a:spcBef>
              <a:spcAft>
                <a:spcPts val="0"/>
              </a:spcAft>
              <a:buClr>
                <a:schemeClr val="dk1"/>
              </a:buClr>
              <a:buSzPts val="1000"/>
              <a:buFont typeface="Helvetica Neue" panose="020B0604020202020204"/>
              <a:buNone/>
              <a:defRPr sz="1000"/>
            </a:lvl4pPr>
            <a:lvl5pPr marL="2286000" lvl="4" indent="-228600" algn="l">
              <a:spcBef>
                <a:spcPts val="200"/>
              </a:spcBef>
              <a:spcAft>
                <a:spcPts val="0"/>
              </a:spcAft>
              <a:buClr>
                <a:schemeClr val="dk1"/>
              </a:buClr>
              <a:buSzPts val="1000"/>
              <a:buFont typeface="Helvetica Neue" panose="020B0604020202020204"/>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Заголовок и вертикальный текст">
  <p:cSld name="VERTICAL_TEXT">
    <p:spTree>
      <p:nvGrpSpPr>
        <p:cNvPr id="42" name="Shape 42"/>
        <p:cNvGrpSpPr/>
        <p:nvPr/>
      </p:nvGrpSpPr>
      <p:grpSpPr>
        <a:xfrm>
          <a:off x="0" y="0"/>
          <a:ext cx="0" cy="0"/>
          <a:chOff x="0" y="0"/>
          <a:chExt cx="0" cy="0"/>
        </a:xfrm>
      </p:grpSpPr>
      <p:sp>
        <p:nvSpPr>
          <p:cNvPr id="43" name="Google Shape;43;p11"/>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p:nvPr>
            <p:ph type="body" idx="1"/>
          </p:nvPr>
        </p:nvSpPr>
        <p:spPr>
          <a:xfrm rot="5400000">
            <a:off x="2495550" y="-76200"/>
            <a:ext cx="4267200" cy="7315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Вертикальный заголовок и текст">
  <p:cSld name="VERTICAL_TITLE_AND_VERTICAL_TEXT">
    <p:spTree>
      <p:nvGrpSpPr>
        <p:cNvPr id="45" name="Shape 45"/>
        <p:cNvGrpSpPr/>
        <p:nvPr/>
      </p:nvGrpSpPr>
      <p:grpSpPr>
        <a:xfrm>
          <a:off x="0" y="0"/>
          <a:ext cx="0" cy="0"/>
          <a:chOff x="0" y="0"/>
          <a:chExt cx="0" cy="0"/>
        </a:xfrm>
      </p:grpSpPr>
      <p:sp>
        <p:nvSpPr>
          <p:cNvPr id="46" name="Google Shape;46;p12"/>
          <p:cNvSpPr txBox="1"/>
          <p:nvPr>
            <p:ph type="title"/>
          </p:nvPr>
        </p:nvSpPr>
        <p:spPr>
          <a:xfrm rot="5400000">
            <a:off x="4471987" y="1833563"/>
            <a:ext cx="5686425" cy="20764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type="body" idx="1"/>
          </p:nvPr>
        </p:nvSpPr>
        <p:spPr>
          <a:xfrm rot="5400000">
            <a:off x="242887" y="-166687"/>
            <a:ext cx="5686425" cy="60769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9" name="Shape 9"/>
        <p:cNvGrpSpPr/>
        <p:nvPr/>
      </p:nvGrpSpPr>
      <p:grpSpPr>
        <a:xfrm>
          <a:off x="0" y="0"/>
          <a:ext cx="0" cy="0"/>
          <a:chOff x="0" y="0"/>
          <a:chExt cx="0" cy="0"/>
        </a:xfrm>
      </p:grpSpPr>
      <p:sp>
        <p:nvSpPr>
          <p:cNvPr id="10" name="Google Shape;10;p1"/>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1pPr>
            <a:lvl2pPr marR="0" lvl="1"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2pPr>
            <a:lvl3pPr marR="0" lvl="2"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3pPr>
            <a:lvl4pPr marR="0" lvl="3"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4pPr>
            <a:lvl5pPr marR="0" lvl="4"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5pPr>
            <a:lvl6pPr marR="0" lvl="5"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6pPr>
            <a:lvl7pPr marR="0" lvl="6"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7pPr>
            <a:lvl8pPr marR="0" lvl="7"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8pPr>
            <a:lvl9pPr marR="0" lvl="8" algn="l" rtl="0">
              <a:spcBef>
                <a:spcPts val="0"/>
              </a:spcBef>
              <a:spcAft>
                <a:spcPts val="0"/>
              </a:spcAft>
              <a:buSzPts val="1400"/>
              <a:buNone/>
              <a:defRPr sz="4400" b="0" i="0" u="none" strike="noStrike" cap="none">
                <a:solidFill>
                  <a:schemeClr val="lt1"/>
                </a:solidFill>
                <a:latin typeface="Helvetica Neue" panose="020B0604020202020204"/>
                <a:ea typeface="Helvetica Neue" panose="020B0604020202020204"/>
                <a:cs typeface="Helvetica Neue" panose="020B0604020202020204"/>
                <a:sym typeface="Helvetica Neue" panose="020B0604020202020204"/>
              </a:defRPr>
            </a:lvl9pPr>
          </a:lstStyle>
          <a:p/>
        </p:txBody>
      </p:sp>
      <p:sp>
        <p:nvSpPr>
          <p:cNvPr id="11" name="Google Shape;11;p1"/>
          <p:cNvSpPr txBox="1"/>
          <p:nvPr>
            <p:ph type="body" idx="1"/>
          </p:nvPr>
        </p:nvSpPr>
        <p:spPr>
          <a:xfrm>
            <a:off x="971550" y="1447800"/>
            <a:ext cx="7315200" cy="42672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Helvetica Neue" panose="020B0604020202020204"/>
              <a:buChar char="•"/>
              <a:defRPr sz="32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1pPr>
            <a:lvl2pPr marL="914400" marR="0" lvl="1" indent="-406400" algn="l" rtl="0">
              <a:spcBef>
                <a:spcPts val="560"/>
              </a:spcBef>
              <a:spcAft>
                <a:spcPts val="0"/>
              </a:spcAft>
              <a:buClr>
                <a:schemeClr val="dk1"/>
              </a:buClr>
              <a:buSzPts val="2800"/>
              <a:buFont typeface="Helvetica Neue" panose="020B0604020202020204"/>
              <a:buChar char="–"/>
              <a:defRPr sz="2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2pPr>
            <a:lvl3pPr marL="1371600" marR="0" lvl="2" indent="-381000" algn="l" rtl="0">
              <a:spcBef>
                <a:spcPts val="480"/>
              </a:spcBef>
              <a:spcAft>
                <a:spcPts val="0"/>
              </a:spcAft>
              <a:buClr>
                <a:schemeClr val="dk1"/>
              </a:buClr>
              <a:buSzPts val="2400"/>
              <a:buFont typeface="Helvetica Neue" panose="020B0604020202020204"/>
              <a:buChar char="•"/>
              <a:defRPr sz="24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3pPr>
            <a:lvl4pPr marL="1828800" marR="0" lvl="3" indent="-355600" algn="l" rtl="0">
              <a:spcBef>
                <a:spcPts val="400"/>
              </a:spcBef>
              <a:spcAft>
                <a:spcPts val="0"/>
              </a:spcAft>
              <a:buClr>
                <a:schemeClr val="dk1"/>
              </a:buClr>
              <a:buSzPts val="2000"/>
              <a:buFont typeface="Helvetica Neue" panose="020B0604020202020204"/>
              <a:buChar char="–"/>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4pPr>
            <a:lvl5pPr marL="2286000" marR="0" lvl="4" indent="-355600" algn="l" rtl="0">
              <a:spcBef>
                <a:spcPts val="400"/>
              </a:spcBef>
              <a:spcAft>
                <a:spcPts val="0"/>
              </a:spcAft>
              <a:buClr>
                <a:schemeClr val="dk1"/>
              </a:buClr>
              <a:buSzPts val="2000"/>
              <a:buFont typeface="Helvetica Neue" panose="020B0604020202020204"/>
              <a:buChar char="»"/>
              <a:defRPr sz="20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2" name="Shape 52"/>
        <p:cNvGrpSpPr/>
        <p:nvPr/>
      </p:nvGrpSpPr>
      <p:grpSpPr>
        <a:xfrm>
          <a:off x="0" y="0"/>
          <a:ext cx="0" cy="0"/>
          <a:chOff x="0" y="0"/>
          <a:chExt cx="0" cy="0"/>
        </a:xfrm>
      </p:grpSpPr>
      <p:sp>
        <p:nvSpPr>
          <p:cNvPr id="54" name="Google Shape;54;p13"/>
          <p:cNvSpPr txBox="1"/>
          <p:nvPr>
            <p:ph type="ctrTitle"/>
          </p:nvPr>
        </p:nvSpPr>
        <p:spPr>
          <a:xfrm>
            <a:off x="142875" y="2381250"/>
            <a:ext cx="3781425" cy="70485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ru-RU"/>
              <a:t>Управление проектами</a:t>
            </a:r>
            <a:endParaRPr lang="ru-RU"/>
          </a:p>
        </p:txBody>
      </p:sp>
      <p:sp>
        <p:nvSpPr>
          <p:cNvPr id="1" name="Subtitle 0"/>
          <p:cNvSpPr/>
          <p:nvPr>
            <p:ph type="subTitle" idx="1"/>
          </p:nvPr>
        </p:nvSpPr>
        <p:spPr/>
        <p:txBody>
          <a:bodyPr/>
          <a:p>
            <a:r>
              <a:rPr lang="ru-RU" altLang="en-US"/>
              <a:t>Декомпозиция</a:t>
            </a:r>
            <a:endParaRPr lang="ru-RU" altLang="en-US"/>
          </a:p>
          <a:p>
            <a:r>
              <a:rPr lang="ru-RU" altLang="en-US"/>
              <a:t>проекта</a:t>
            </a:r>
            <a:endParaRPr lang="ru-RU"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2057400" y="503238"/>
            <a:ext cx="6934200" cy="71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80">
                <a:solidFill>
                  <a:schemeClr val="dk1"/>
                </a:solidFill>
              </a:rPr>
              <a:t>Структурная декомпозиция работ проекта</a:t>
            </a:r>
            <a:endParaRPr sz="2880">
              <a:solidFill>
                <a:schemeClr val="dk1"/>
              </a:solidFill>
            </a:endParaRPr>
          </a:p>
        </p:txBody>
      </p:sp>
      <p:sp>
        <p:nvSpPr>
          <p:cNvPr id="61" name="Google Shape;61;p14"/>
          <p:cNvSpPr txBox="1"/>
          <p:nvPr>
            <p:ph type="body" idx="1"/>
          </p:nvPr>
        </p:nvSpPr>
        <p:spPr>
          <a:xfrm>
            <a:off x="1979712" y="1447800"/>
            <a:ext cx="7011888" cy="5149552"/>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240"/>
              <a:buFont typeface="Helvetica Neue" panose="020B0604020202020204"/>
              <a:buNone/>
            </a:pPr>
            <a:r>
              <a:rPr lang="ru-RU" sz="2240"/>
              <a:t>Успешное управление проектом зависит от способностей менеджера эффективно руководить командой проекта, достигая спланированных результатов. </a:t>
            </a:r>
            <a:endParaRPr lang="ru-RU" sz="2240"/>
          </a:p>
          <a:p>
            <a:pPr marL="0" lvl="0" indent="0" algn="l" rtl="0">
              <a:lnSpc>
                <a:spcPct val="80000"/>
              </a:lnSpc>
              <a:spcBef>
                <a:spcPts val="0"/>
              </a:spcBef>
              <a:spcAft>
                <a:spcPts val="0"/>
              </a:spcAft>
              <a:buClr>
                <a:schemeClr val="dk1"/>
              </a:buClr>
              <a:buSzPts val="2240"/>
              <a:buFont typeface="Helvetica Neue" panose="020B0604020202020204"/>
              <a:buNone/>
            </a:pPr>
            <a:endParaRPr lang="ru-RU" sz="2240"/>
          </a:p>
          <a:p>
            <a:pPr marL="0" lvl="0" indent="0" algn="l" rtl="0">
              <a:lnSpc>
                <a:spcPct val="80000"/>
              </a:lnSpc>
              <a:spcBef>
                <a:spcPts val="0"/>
              </a:spcBef>
              <a:spcAft>
                <a:spcPts val="0"/>
              </a:spcAft>
              <a:buClr>
                <a:schemeClr val="dk1"/>
              </a:buClr>
              <a:buSzPts val="2240"/>
              <a:buFont typeface="Helvetica Neue" panose="020B0604020202020204"/>
              <a:buNone/>
            </a:pPr>
            <a:r>
              <a:rPr lang="ru-RU" sz="2240"/>
              <a:t>Существует несколько различных названий (англоязычный термин только один), которые, по сути, отражают одно и то же – структурная декомпозиция работ, структура декомпозиции работ, иерархическая структура работ, структура разбиения работ.</a:t>
            </a:r>
            <a:endParaRPr sz="224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5" name="Shape 65"/>
        <p:cNvGrpSpPr/>
        <p:nvPr/>
      </p:nvGrpSpPr>
      <p:grpSpPr>
        <a:xfrm>
          <a:off x="0" y="0"/>
          <a:ext cx="0" cy="0"/>
          <a:chOff x="0" y="0"/>
          <a:chExt cx="0" cy="0"/>
        </a:xfrm>
      </p:grpSpPr>
      <p:sp>
        <p:nvSpPr>
          <p:cNvPr id="66" name="Google Shape;66;p15"/>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Структурная декомпозиция работ</a:t>
            </a:r>
            <a:endParaRPr sz="3200"/>
          </a:p>
        </p:txBody>
      </p:sp>
      <p:sp>
        <p:nvSpPr>
          <p:cNvPr id="67" name="Google Shape;67;p15"/>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480"/>
              <a:buFont typeface="Helvetica Neue" panose="020B0604020202020204"/>
              <a:buNone/>
            </a:pPr>
            <a:r>
              <a:rPr lang="ru-RU" sz="2480"/>
              <a:t>Структурная декомпозиция работ (СДР или WBS - Work Breakdown Structure) – это представление проекта в виде иерархической структуры работ, полученной путём последовательной декомпозиции. СДР предназначена для детального планирования, оценки стоимости и обеспечения персональной ответственности исполнителей.</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Благодаря структурной декомпозиции работ менеджер проекта имеет:</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точное описание содержания работ</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точное определение объёма работ </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измеримый результат выполнения работ </a:t>
            </a:r>
            <a:endParaRPr sz="248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71" name="Shape 71"/>
        <p:cNvGrpSpPr/>
        <p:nvPr/>
      </p:nvGrpSpPr>
      <p:grpSpPr>
        <a:xfrm>
          <a:off x="0" y="0"/>
          <a:ext cx="0" cy="0"/>
          <a:chOff x="0" y="0"/>
          <a:chExt cx="0" cy="0"/>
        </a:xfrm>
      </p:grpSpPr>
      <p:sp>
        <p:nvSpPr>
          <p:cNvPr id="72" name="Google Shape;72;p16"/>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Структурная декомпозиция работ </a:t>
            </a:r>
            <a:endParaRPr sz="3200"/>
          </a:p>
        </p:txBody>
      </p:sp>
      <p:sp>
        <p:nvSpPr>
          <p:cNvPr id="73" name="Google Shape;73;p16"/>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480"/>
              <a:buFont typeface="Helvetica Neue" panose="020B0604020202020204"/>
              <a:buNone/>
            </a:pPr>
            <a:r>
              <a:rPr lang="ru-RU" sz="2480"/>
              <a:t>СДР является средством для разделения всех работ по проекту на управляемые пакеты работ. Это позволяет достичь такого уровня детализации информации, который соответствует потребностям руководства проекта для осуществления контроля. Под пакетом работ понимается комплекс работ, сгруппированных по заданным критериям. СДР позволяет свести цели проекта либо к иерархии средств их достижения, либо к иерархии результатов, предусмотренных проектом. СДР является также инструментом, позволяющим руководителю проекта получить описание конечного продукта проекта. </a:t>
            </a:r>
            <a:endParaRPr sz="248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77" name="Shape 77"/>
        <p:cNvGrpSpPr/>
        <p:nvPr/>
      </p:nvGrpSpPr>
      <p:grpSpPr>
        <a:xfrm>
          <a:off x="0" y="0"/>
          <a:ext cx="0" cy="0"/>
          <a:chOff x="0" y="0"/>
          <a:chExt cx="0" cy="0"/>
        </a:xfrm>
      </p:grpSpPr>
      <p:sp>
        <p:nvSpPr>
          <p:cNvPr id="78" name="Google Shape;78;p17"/>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Структурная декомпозиция работ </a:t>
            </a:r>
            <a:endParaRPr sz="3200"/>
          </a:p>
        </p:txBody>
      </p:sp>
      <p:sp>
        <p:nvSpPr>
          <p:cNvPr id="79" name="Google Shape;79;p17"/>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720"/>
              <a:buFont typeface="Helvetica Neue" panose="020B0604020202020204"/>
              <a:buNone/>
            </a:pPr>
            <a:r>
              <a:rPr lang="ru-RU" sz="2720"/>
              <a:t>СДР обеспечивает выявление работ, необходимых для достижения целей проекта. Каждый следующий уровень декомпозиции обеспечивает последовательную детализацию содержания проекта, что позволяет производить оценку выполненных объёмов работ, освоенных денег и выполнения по срокам. На нижних уровнях пакетам работ соответствуют сравнительно меньшие объёмы работ. Это упрощает оценку процента выполнения и даёт возможность более чётко определять действия, необходимые для достижения целей проекта. </a:t>
            </a:r>
            <a:endParaRPr sz="272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8"/>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Цели СДР</a:t>
            </a:r>
            <a:endParaRPr sz="3200"/>
          </a:p>
        </p:txBody>
      </p:sp>
      <p:sp>
        <p:nvSpPr>
          <p:cNvPr id="85" name="Google Shape;85;p18"/>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450"/>
              </a:spcBef>
              <a:spcAft>
                <a:spcPts val="0"/>
              </a:spcAft>
              <a:buClr>
                <a:schemeClr val="dk1"/>
              </a:buClr>
              <a:buSzPts val="2240"/>
              <a:buFont typeface="Helvetica Neue" panose="020B0604020202020204"/>
              <a:buNone/>
            </a:pPr>
            <a:r>
              <a:rPr lang="ru-RU" sz="2240"/>
              <a:t>Разработка СДР имеет две основные цели:</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1. обеспечение планирования всех необходимых работ проекта</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2. обеспечение отсутствия работ, не связанных с реализацией проекта</a:t>
            </a:r>
            <a:endParaRPr lang="ru-RU" sz="224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89" name="Shape 89"/>
        <p:cNvGrpSpPr/>
        <p:nvPr/>
      </p:nvGrpSpPr>
      <p:grpSpPr>
        <a:xfrm>
          <a:off x="0" y="0"/>
          <a:ext cx="0" cy="0"/>
          <a:chOff x="0" y="0"/>
          <a:chExt cx="0" cy="0"/>
        </a:xfrm>
      </p:grpSpPr>
      <p:sp>
        <p:nvSpPr>
          <p:cNvPr id="90" name="Google Shape;90;p19"/>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Структурная декомпозиция работ </a:t>
            </a:r>
            <a:endParaRPr sz="3200"/>
          </a:p>
        </p:txBody>
      </p:sp>
      <p:sp>
        <p:nvSpPr>
          <p:cNvPr id="91" name="Google Shape;91;p19"/>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240"/>
              <a:buFont typeface="Helvetica Neue" panose="020B0604020202020204"/>
              <a:buNone/>
            </a:pPr>
            <a:r>
              <a:rPr lang="ru-RU" sz="2240"/>
              <a:t>Для руководителя проекта важны обе эти цели. Если в плане отсутствуют необходимые работы, проект будет задержан, бюджет, скорее всего, будет превышен. Если выполняются работы, не относящиеся к данному проекту – деньги заказчика тратятся нецелевым образом. Если СДР не объединяет обе эти цели, проект может потерпеть неудачу.</a:t>
            </a:r>
            <a:endParaRPr lang="ru-RU" sz="2240"/>
          </a:p>
          <a:p>
            <a:pPr marL="0" lvl="0" indent="0" algn="l" rtl="0">
              <a:lnSpc>
                <a:spcPct val="80000"/>
              </a:lnSpc>
              <a:spcBef>
                <a:spcPts val="0"/>
              </a:spcBef>
              <a:spcAft>
                <a:spcPts val="0"/>
              </a:spcAft>
              <a:buClr>
                <a:schemeClr val="dk1"/>
              </a:buClr>
              <a:buSzPts val="2240"/>
              <a:buFont typeface="Helvetica Neue" panose="020B0604020202020204"/>
              <a:buNone/>
            </a:pP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На основе СДР выполняются следующие процессы:</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1. определение работ</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2. планирование ресурсов</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3. оценка стоимости</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4. определение рисков</a:t>
            </a:r>
            <a:endParaRPr lang="ru-RU" sz="224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7" name="Номер слайда 4"/>
          <p:cNvSpPr txBox="1">
            <a:spLocks noGrp="1"/>
          </p:cNvSpPr>
          <p:nvPr>
            <p:ph type="sldNum" sz="quarter" idx="4"/>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imes New Roman" panose="02020603050405020304" pitchFamily="18" charset="0"/>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5pPr>
          </a:lstStyle>
          <a:p>
            <a:pPr lvl="0" algn="r" eaLnBrk="1" hangingPunct="1"/>
            <a:fld id="{9A0DB2DC-4C9A-4742-B13C-FB6460FD3503}" type="slidenum">
              <a:rPr lang="ru-RU" sz="1200" b="0" dirty="0">
                <a:latin typeface="Arial" panose="020B0604020202020204" pitchFamily="34" charset="0"/>
              </a:rPr>
            </a:fld>
            <a:endParaRPr lang="ru-RU" sz="1200" b="0" dirty="0">
              <a:latin typeface="Arial" panose="020B0604020202020204" pitchFamily="34" charset="0"/>
            </a:endParaRPr>
          </a:p>
        </p:txBody>
      </p:sp>
      <p:sp>
        <p:nvSpPr>
          <p:cNvPr id="1028" name="Rectangle 2"/>
          <p:cNvSpPr>
            <a:spLocks noGrp="1" noRot="1"/>
          </p:cNvSpPr>
          <p:nvPr>
            <p:ph type="title"/>
          </p:nvPr>
        </p:nvSpPr>
        <p:spPr>
          <a:xfrm>
            <a:off x="468313" y="0"/>
            <a:ext cx="8229600" cy="1143000"/>
          </a:xfrm>
        </p:spPr>
        <p:txBody>
          <a:bodyPr vert="horz" wrap="square" lIns="91440" tIns="45720" rIns="91440" bIns="45720" anchor="ctr" anchorCtr="0"/>
          <a:p>
            <a:pPr eaLnBrk="1" hangingPunct="1"/>
            <a:endParaRPr sz="3600" dirty="0">
              <a:effectLst/>
            </a:endParaRPr>
          </a:p>
        </p:txBody>
      </p:sp>
      <p:graphicFrame>
        <p:nvGraphicFramePr>
          <p:cNvPr id="1026" name="Object 3"/>
          <p:cNvGraphicFramePr/>
          <p:nvPr>
            <p:ph idx="1"/>
          </p:nvPr>
        </p:nvGraphicFramePr>
        <p:xfrm>
          <a:off x="128270" y="815340"/>
          <a:ext cx="7220585" cy="4947285"/>
        </p:xfrm>
        <a:graphic>
          <a:graphicData uri="http://schemas.openxmlformats.org/presentationml/2006/ole">
            <mc:AlternateContent xmlns:mc="http://schemas.openxmlformats.org/markup-compatibility/2006">
              <mc:Choice xmlns:v="urn:schemas-microsoft-com:vml" Requires="v">
                <p:oleObj spid="_x0000_s3076" name="" r:id="rId1" imgW="9705975" imgH="6781800" progId="Visio.Drawing.11">
                  <p:embed/>
                </p:oleObj>
              </mc:Choice>
              <mc:Fallback>
                <p:oleObj name="" r:id="rId1" imgW="9705975" imgH="6781800" progId="Visio.Drawing.11">
                  <p:embed/>
                  <p:pic>
                    <p:nvPicPr>
                      <p:cNvPr id="0" name="Picture 3075"/>
                      <p:cNvPicPr/>
                      <p:nvPr/>
                    </p:nvPicPr>
                    <p:blipFill>
                      <a:blip r:embed="rId2"/>
                      <a:stretch>
                        <a:fillRect/>
                      </a:stretch>
                    </p:blipFill>
                    <p:spPr>
                      <a:xfrm>
                        <a:off x="128270" y="815340"/>
                        <a:ext cx="7220585" cy="4947285"/>
                      </a:xfrm>
                      <a:prstGeom prst="rect">
                        <a:avLst/>
                      </a:prstGeom>
                      <a:noFill/>
                      <a:ln w="38100">
                        <a:miter/>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Номер слайда 4"/>
          <p:cNvSpPr txBox="1">
            <a:spLocks noGrp="1"/>
          </p:cNvSpPr>
          <p:nvPr>
            <p:ph type="sldNum" sz="quarter" idx="4"/>
          </p:nvPr>
        </p:nvSpPr>
        <p:spPr>
          <a:xfrm>
            <a:off x="6553200" y="6248400"/>
            <a:ext cx="2133600" cy="476250"/>
          </a:xfrm>
        </p:spPr>
        <p:txBody>
          <a:bodyPr anchor="b" anchorCtr="0"/>
          <a:lstStyle>
            <a:lvl1pPr marL="0" lvl="0" indent="0" algn="l" defTabSz="914400" rtl="0" eaLnBrk="0" fontAlgn="base" latinLnBrk="0" hangingPunct="0">
              <a:lnSpc>
                <a:spcPct val="100000"/>
              </a:lnSpc>
              <a:spcBef>
                <a:spcPct val="0"/>
              </a:spcBef>
              <a:spcAft>
                <a:spcPct val="0"/>
              </a:spcAft>
              <a:buNone/>
              <a:defRPr sz="1800" b="1" i="0" u="none" kern="1200" baseline="0">
                <a:solidFill>
                  <a:schemeClr val="tx1"/>
                </a:solidFill>
                <a:latin typeface="Times New Roman" panose="02020603050405020304" pitchFamily="18" charset="0"/>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imes New Roman" panose="02020603050405020304" pitchFamily="18" charset="0"/>
                <a:ea typeface="+mn-ea"/>
                <a:cs typeface="+mn-cs"/>
              </a:defRPr>
            </a:lvl5pPr>
          </a:lstStyle>
          <a:p>
            <a:pPr lvl="0" algn="r" eaLnBrk="1" hangingPunct="1"/>
            <a:fld id="{9A0DB2DC-4C9A-4742-B13C-FB6460FD3503}" type="slidenum">
              <a:rPr lang="ru-RU" sz="1200" b="0" dirty="0">
                <a:latin typeface="Arial" panose="020B0604020202020204" pitchFamily="34" charset="0"/>
              </a:rPr>
            </a:fld>
            <a:endParaRPr lang="ru-RU" sz="1200" b="0" dirty="0">
              <a:latin typeface="Arial" panose="020B0604020202020204" pitchFamily="34" charset="0"/>
            </a:endParaRPr>
          </a:p>
        </p:txBody>
      </p:sp>
      <p:sp>
        <p:nvSpPr>
          <p:cNvPr id="270338" name="Rectangle 2"/>
          <p:cNvSpPr>
            <a:spLocks noGrp="1" noRot="1" noChangeArrowheads="1"/>
          </p:cNvSpPr>
          <p:nvPr>
            <p:ph type="title"/>
          </p:nvPr>
        </p:nvSpPr>
        <p:spPr>
          <a:xfrm>
            <a:off x="468313" y="188913"/>
            <a:ext cx="8229600" cy="6477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ru-RU"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rPr>
              <a:t>Ошибки планирования</a:t>
            </a:r>
            <a:endParaRPr kumimoji="0" lang="ru-RU" sz="3600" b="1" i="0" u="none" strike="noStrike" kern="0" cap="none" spc="0" normalizeH="0" baseline="0" noProof="0" smtClean="0">
              <a:ln>
                <a:noFill/>
              </a:ln>
              <a:solidFill>
                <a:schemeClr val="tx2"/>
              </a:solidFill>
              <a:effectLst>
                <a:outerShdw blurRad="38100" dist="38100" dir="2700000" algn="tl">
                  <a:srgbClr val="C0C0C0"/>
                </a:outerShdw>
              </a:effectLst>
              <a:uLnTx/>
              <a:uFillTx/>
              <a:latin typeface="+mj-lt"/>
              <a:ea typeface="+mj-ea"/>
              <a:cs typeface="+mj-cs"/>
            </a:endParaRPr>
          </a:p>
        </p:txBody>
      </p:sp>
      <p:sp>
        <p:nvSpPr>
          <p:cNvPr id="270339" name="Rectangle 3"/>
          <p:cNvSpPr>
            <a:spLocks noGrp="1" noChangeArrowheads="1"/>
          </p:cNvSpPr>
          <p:nvPr>
            <p:ph idx="1"/>
          </p:nvPr>
        </p:nvSpPr>
        <p:spPr>
          <a:xfrm>
            <a:off x="457200" y="1052513"/>
            <a:ext cx="8229600" cy="5472113"/>
          </a:xfrm>
        </p:spPr>
        <p:txBody>
          <a:bodyPr vert="horz" wrap="square" lIns="91440" tIns="45720" rIns="91440" bIns="45720" numCol="1" anchor="t" anchorCtr="0" compatLnSpc="1"/>
          <a:lstStyle/>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с использованием ошибочных целей</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на основе неполных данных</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с привлечением только плановиков</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без учёта предыдущего опыта</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ресурсов без учёта их доступности</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без учёта координации</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без учёта мотивации</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r>
              <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rPr>
              <a:t>Планирование с излишней детализацией</a:t>
            </a: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a:p>
            <a:pPr marL="533400" marR="0" lvl="0" indent="-533400" algn="l" defTabSz="914400" rtl="0" eaLnBrk="1" fontAlgn="base" latinLnBrk="0" hangingPunct="1">
              <a:lnSpc>
                <a:spcPct val="90000"/>
              </a:lnSpc>
              <a:spcBef>
                <a:spcPct val="20000"/>
              </a:spcBef>
              <a:spcAft>
                <a:spcPct val="0"/>
              </a:spcAft>
              <a:buClr>
                <a:schemeClr val="hlink"/>
              </a:buClr>
              <a:buSzTx/>
              <a:buFont typeface="Wingdings" panose="05000000000000000000" pitchFamily="2" charset="2"/>
              <a:buAutoNum type="arabicPeriod"/>
              <a:defRPr/>
            </a:pPr>
            <a:endParaRPr kumimoji="0" lang="ru-RU" sz="2500" b="0" i="0" u="none" strike="noStrike" kern="0" cap="none" spc="0" normalizeH="0" baseline="0" noProof="0" smtClean="0">
              <a:ln>
                <a:noFill/>
              </a:ln>
              <a:solidFill>
                <a:schemeClr val="tx1"/>
              </a:solidFill>
              <a:effectLst>
                <a:outerShdw blurRad="38100" dist="38100" dir="2700000" algn="tl">
                  <a:srgbClr val="C0C0C0"/>
                </a:outerShdw>
              </a:effectLst>
              <a:uLnTx/>
              <a:uFillTx/>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20"/>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Структурная декомпозиция работ </a:t>
            </a:r>
            <a:endParaRPr sz="3200"/>
          </a:p>
        </p:txBody>
      </p:sp>
      <p:sp>
        <p:nvSpPr>
          <p:cNvPr id="97" name="Google Shape;97;p20"/>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000"/>
              <a:buFont typeface="Helvetica Neue" panose="020B0604020202020204"/>
              <a:buNone/>
            </a:pPr>
            <a:r>
              <a:rPr lang="ru-RU" sz="2000"/>
              <a:t>Таким образом, СДР является основой:</a:t>
            </a:r>
            <a:endParaRPr lang="ru-RU" sz="2000"/>
          </a:p>
          <a:p>
            <a:pPr marL="0" lvl="0" indent="0" algn="l" rtl="0">
              <a:lnSpc>
                <a:spcPct val="80000"/>
              </a:lnSpc>
              <a:spcBef>
                <a:spcPts val="400"/>
              </a:spcBef>
              <a:spcAft>
                <a:spcPts val="0"/>
              </a:spcAft>
              <a:buClr>
                <a:schemeClr val="dk1"/>
              </a:buClr>
              <a:buSzPts val="2000"/>
              <a:buFont typeface="Helvetica Neue" panose="020B0604020202020204"/>
              <a:buNone/>
            </a:pPr>
            <a:r>
              <a:rPr lang="ru-RU" sz="2000"/>
              <a:t>• Комплексного план-графика проекта – СДР обеспечивает основу для планирования объемов работ, стоимости, сроков и рисков. С помощью СДР работы структурируются и непосредственно связываются с графиком, а ресурсы распределяются и отслеживаются. При изменении содержания проекта СДР должна быть откорректирована</a:t>
            </a:r>
            <a:endParaRPr lang="ru-RU" sz="2000"/>
          </a:p>
          <a:p>
            <a:pPr marL="0" lvl="0" indent="0" algn="l" rtl="0">
              <a:lnSpc>
                <a:spcPct val="80000"/>
              </a:lnSpc>
              <a:spcBef>
                <a:spcPts val="400"/>
              </a:spcBef>
              <a:spcAft>
                <a:spcPts val="0"/>
              </a:spcAft>
              <a:buClr>
                <a:schemeClr val="dk1"/>
              </a:buClr>
              <a:buSzPts val="2000"/>
              <a:buFont typeface="Helvetica Neue" panose="020B0604020202020204"/>
              <a:buNone/>
            </a:pPr>
            <a:endParaRPr lang="ru-RU" sz="2000"/>
          </a:p>
          <a:p>
            <a:pPr marL="0" lvl="0" indent="0" algn="l" rtl="0">
              <a:lnSpc>
                <a:spcPct val="80000"/>
              </a:lnSpc>
              <a:spcBef>
                <a:spcPts val="400"/>
              </a:spcBef>
              <a:spcAft>
                <a:spcPts val="0"/>
              </a:spcAft>
              <a:buClr>
                <a:schemeClr val="dk1"/>
              </a:buClr>
              <a:buSzPts val="2000"/>
              <a:buFont typeface="Helvetica Neue" panose="020B0604020202020204"/>
              <a:buNone/>
            </a:pPr>
            <a:r>
              <a:rPr lang="ru-RU" sz="2000"/>
              <a:t>• Отчётности о выполнении проекта – с помощью СДР определяется состояние проекта и выдаётся в различные формы отчётности. Например, по стадиям жизненного цикла проект или по результатам. Отчёты могут содержать данные по стоимости, срокам, рискам, объёму, трудоёмкости и качеству выполняющегося проекта или по сравнению с предыдущими аналогичными проектами (с такой же структурой)</a:t>
            </a:r>
            <a:endParaRPr lang="ru-RU"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t>Структурная декомпозиция работ </a:t>
            </a:r>
            <a:endParaRPr sz="3200"/>
          </a:p>
        </p:txBody>
      </p:sp>
      <p:sp>
        <p:nvSpPr>
          <p:cNvPr id="103" name="Google Shape;103;p21"/>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1760"/>
              <a:buFont typeface="Helvetica Neue" panose="020B0604020202020204"/>
              <a:buNone/>
            </a:pPr>
            <a:r>
              <a:rPr lang="ru-RU" sz="1760"/>
              <a:t>• Комплексного контроля изменений – СДР обеспечивает идентификацию соответствующих точек контроля, которые используются для упрощения обмена информацией и контроля результатов</a:t>
            </a:r>
            <a:endParaRPr lang="ru-RU" sz="1760"/>
          </a:p>
          <a:p>
            <a:pPr marL="0" lvl="0" indent="0" algn="l" rtl="0">
              <a:lnSpc>
                <a:spcPct val="80000"/>
              </a:lnSpc>
              <a:spcBef>
                <a:spcPts val="0"/>
              </a:spcBef>
              <a:spcAft>
                <a:spcPts val="0"/>
              </a:spcAft>
              <a:buClr>
                <a:schemeClr val="dk1"/>
              </a:buClr>
              <a:buSzPts val="1760"/>
              <a:buFont typeface="Helvetica Neue" panose="020B0604020202020204"/>
              <a:buNone/>
            </a:pP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Управления содержанием проекта – процесс разработки СДР способствует формированию концептуального целостного представления о проекте </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Организации взаимодействия между участниками проекта – СДР позволяет организовать направленную передачу информации между руководителем и участниками проекта на всех стадиях его жизненного цикла, с учётом принятых обязанностей и ответственности участников</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endParaRPr lang="ru-RU" sz="176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08" name="Shape 108"/>
        <p:cNvGrpSpPr/>
        <p:nvPr/>
      </p:nvGrpSpPr>
      <p:grpSpPr>
        <a:xfrm>
          <a:off x="0" y="0"/>
          <a:ext cx="0" cy="0"/>
          <a:chOff x="0" y="0"/>
          <a:chExt cx="0" cy="0"/>
        </a:xfrm>
      </p:grpSpPr>
      <p:sp>
        <p:nvSpPr>
          <p:cNvPr id="109" name="Google Shape;109;p22"/>
          <p:cNvSpPr txBox="1"/>
          <p:nvPr>
            <p:ph type="title"/>
          </p:nvPr>
        </p:nvSpPr>
        <p:spPr>
          <a:xfrm>
            <a:off x="2057400" y="503238"/>
            <a:ext cx="6934200" cy="71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80">
                <a:solidFill>
                  <a:schemeClr val="dk1"/>
                </a:solidFill>
              </a:rPr>
              <a:t>Разработка структурной декомпозиции работ</a:t>
            </a:r>
            <a:endParaRPr sz="2880">
              <a:solidFill>
                <a:schemeClr val="dk1"/>
              </a:solidFill>
            </a:endParaRPr>
          </a:p>
        </p:txBody>
      </p:sp>
      <p:sp>
        <p:nvSpPr>
          <p:cNvPr id="110" name="Google Shape;110;p22"/>
          <p:cNvSpPr txBox="1"/>
          <p:nvPr>
            <p:ph type="body" idx="1"/>
          </p:nvPr>
        </p:nvSpPr>
        <p:spPr>
          <a:xfrm>
            <a:off x="1979712" y="1447800"/>
            <a:ext cx="7011888" cy="5149552"/>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240"/>
              <a:buFont typeface="Helvetica Neue" panose="020B0604020202020204"/>
              <a:buNone/>
            </a:pPr>
            <a:r>
              <a:rPr lang="ru-RU" sz="2240"/>
              <a:t>Структура декомпозиции работ может разрабатываться «с нуля» либо с использованием компонентов уже созданных СДР-структур. При использовании существующих компонентов, элементы СДР составляются из элементов предыдущих проектов - аналогов или из стандартных шаблонов проектов, применяемых в данной организации, на основе удачных или типовых решений по аналогичным проектам.</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Провести декомпозицию и составить СДР, на первый взгляд, не сложно. Прежде всего, следует разбить проект на несколько подпроектов. Каждый из подпроектов, в свою очередь, может быть разбит на некоторое число подподпроектов. Так следует последовательно делить проект на составные части до тех пор, пока не будет достигнут нижний уровень детализации.</a:t>
            </a:r>
            <a:endParaRPr lang="ru-RU" sz="224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Разработка структурной декомпозиции работ</a:t>
            </a:r>
            <a:endParaRPr sz="2800"/>
          </a:p>
        </p:txBody>
      </p:sp>
      <p:sp>
        <p:nvSpPr>
          <p:cNvPr id="116" name="Google Shape;116;p23"/>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480"/>
              <a:buFont typeface="Helvetica Neue" panose="020B0604020202020204"/>
              <a:buNone/>
            </a:pPr>
            <a:r>
              <a:rPr lang="ru-RU" sz="2480"/>
              <a:t>На стадии инициации проекта руководитель должен ответить на целый ряд вопросов:</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Что нужно сделать (определить продукты проекта)</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Как это нужно будет делать (определить технологические этапы проекта)</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Кто это будет делать (определить исполнителей, соисполнителей, субподрядчиков)</a:t>
            </a:r>
            <a:endParaRPr lang="ru-RU" sz="2480"/>
          </a:p>
          <a:p>
            <a:pPr marL="0" lvl="0" indent="0" algn="l" rtl="0">
              <a:lnSpc>
                <a:spcPct val="80000"/>
              </a:lnSpc>
              <a:spcBef>
                <a:spcPts val="495"/>
              </a:spcBef>
              <a:spcAft>
                <a:spcPts val="0"/>
              </a:spcAft>
              <a:buClr>
                <a:schemeClr val="dk1"/>
              </a:buClr>
              <a:buSzPts val="2480"/>
              <a:buFont typeface="Helvetica Neue" panose="020B0604020202020204"/>
              <a:buNone/>
            </a:pPr>
            <a:r>
              <a:rPr lang="ru-RU" sz="2480"/>
              <a:t>• Кто и в какой форме будет оплачивать работы (определить, какие и с кем будут заключены контракты)</a:t>
            </a:r>
            <a:endParaRPr lang="ru-RU" sz="248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42" name="Shape 142"/>
        <p:cNvGrpSpPr/>
        <p:nvPr/>
      </p:nvGrpSpPr>
      <p:grpSpPr>
        <a:xfrm>
          <a:off x="0" y="0"/>
          <a:ext cx="0" cy="0"/>
          <a:chOff x="0" y="0"/>
          <a:chExt cx="0" cy="0"/>
        </a:xfrm>
      </p:grpSpPr>
      <p:sp>
        <p:nvSpPr>
          <p:cNvPr id="143" name="Google Shape;143;p27"/>
          <p:cNvSpPr txBox="1"/>
          <p:nvPr>
            <p:ph type="title"/>
          </p:nvPr>
        </p:nvSpPr>
        <p:spPr>
          <a:xfrm>
            <a:off x="2057400" y="503238"/>
            <a:ext cx="6934200" cy="71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solidFill>
                  <a:schemeClr val="dk1"/>
                </a:solidFill>
              </a:rPr>
              <a:t>Системный подход к СДР</a:t>
            </a:r>
            <a:endParaRPr sz="3200">
              <a:solidFill>
                <a:schemeClr val="dk1"/>
              </a:solidFill>
            </a:endParaRPr>
          </a:p>
        </p:txBody>
      </p:sp>
      <p:sp>
        <p:nvSpPr>
          <p:cNvPr id="144" name="Google Shape;144;p27"/>
          <p:cNvSpPr txBox="1"/>
          <p:nvPr>
            <p:ph type="body" idx="1"/>
          </p:nvPr>
        </p:nvSpPr>
        <p:spPr>
          <a:xfrm>
            <a:off x="1979712" y="1447800"/>
            <a:ext cx="7011888" cy="5149552"/>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240"/>
              <a:buFont typeface="Helvetica Neue" panose="020B0604020202020204"/>
              <a:buNone/>
            </a:pPr>
            <a:r>
              <a:rPr lang="ru-RU" sz="2240"/>
              <a:t>Если при разработке СДР руководствоваться теорией управления системами, то можно рассматривать проект как процесс превращения входных элементов (ресурсов, денег, трудозатрат) в выходные (результаты проекта).</a:t>
            </a:r>
            <a:endParaRPr lang="ru-RU" sz="2240"/>
          </a:p>
          <a:p>
            <a:pPr marL="0" lvl="0" indent="0" algn="l" rtl="0">
              <a:lnSpc>
                <a:spcPct val="80000"/>
              </a:lnSpc>
              <a:spcBef>
                <a:spcPts val="450"/>
              </a:spcBef>
              <a:spcAft>
                <a:spcPts val="0"/>
              </a:spcAft>
              <a:buClr>
                <a:schemeClr val="dk1"/>
              </a:buClr>
              <a:buSzPts val="2240"/>
              <a:buFont typeface="Helvetica Neue" panose="020B0604020202020204"/>
              <a:buNone/>
            </a:pPr>
            <a:r>
              <a:rPr lang="ru-RU" sz="2240"/>
              <a:t>Приложив данную теорию к иерархической структуре декомпозиции работ, можно сказать, что каждая работа на самом нижнем уровне иерархической структуры есть процесс превращений входных элементов в выходные. Входные элементы – то, что исполнитель элементарной работы должен получить из какого-либо внутреннего или внешнего по отношению к проекту источника. Выходные элементы – то, что должно быть передано в какую-то иную часть проекта, или то, что входит в результаты проекта.</a:t>
            </a:r>
            <a:endParaRPr lang="ru-RU" sz="224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Системный подход к СДР</a:t>
            </a:r>
            <a:endParaRPr sz="2800"/>
          </a:p>
        </p:txBody>
      </p:sp>
      <p:sp>
        <p:nvSpPr>
          <p:cNvPr id="150" name="Google Shape;150;p28"/>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480"/>
              <a:buFont typeface="Helvetica Neue" panose="020B0604020202020204"/>
              <a:buNone/>
            </a:pPr>
            <a:r>
              <a:rPr lang="ru-RU" sz="2480"/>
              <a:t>Системный анализ позволяет сделать уточнения в определении работы, которую необходимо выполнить в рамках проекта. Каждый исполнитель будет просматривать другие работы в поисках того, что необходимо для выполнения его работы. Он также будет изучать другие части проекта, которым должны быть переданы выходные элементы его работы. Все входные элементы должны исходить от чего-то внутри проекта или из внешнего источника. Все выходные элементы должны либо быть переданы в другую элементарную работу проекта, либо непосредственно являться частью результатов проекта.</a:t>
            </a:r>
            <a:endParaRPr lang="ru-RU" sz="248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61" name="Shape 161"/>
        <p:cNvGrpSpPr/>
        <p:nvPr/>
      </p:nvGrpSpPr>
      <p:grpSpPr>
        <a:xfrm>
          <a:off x="0" y="0"/>
          <a:ext cx="0" cy="0"/>
          <a:chOff x="0" y="0"/>
          <a:chExt cx="0" cy="0"/>
        </a:xfrm>
      </p:grpSpPr>
      <p:sp>
        <p:nvSpPr>
          <p:cNvPr id="162" name="Google Shape;162;p30"/>
          <p:cNvSpPr txBox="1"/>
          <p:nvPr>
            <p:ph type="title"/>
          </p:nvPr>
        </p:nvSpPr>
        <p:spPr>
          <a:xfrm>
            <a:off x="2057400" y="503238"/>
            <a:ext cx="6934200" cy="71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solidFill>
                  <a:schemeClr val="dk1"/>
                </a:solidFill>
              </a:rPr>
              <a:t>Этапы разработки СДР</a:t>
            </a:r>
            <a:endParaRPr sz="3200">
              <a:solidFill>
                <a:schemeClr val="dk1"/>
              </a:solidFill>
            </a:endParaRPr>
          </a:p>
        </p:txBody>
      </p:sp>
      <p:sp>
        <p:nvSpPr>
          <p:cNvPr id="163" name="Google Shape;163;p30"/>
          <p:cNvSpPr txBox="1"/>
          <p:nvPr>
            <p:ph type="body" idx="1"/>
          </p:nvPr>
        </p:nvSpPr>
        <p:spPr>
          <a:xfrm>
            <a:off x="1979712" y="1447800"/>
            <a:ext cx="7011888" cy="514955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720"/>
              <a:buFont typeface="Helvetica Neue" panose="020B0604020202020204"/>
              <a:buNone/>
            </a:pPr>
            <a:r>
              <a:rPr lang="ru-RU" sz="2720"/>
              <a:t>СДР разрабатывается путём итерационного рассмотрения целей и результатов проекта, критериев планирования/достижения функциональности, объёма работ, реализации технических требований и других технических атрибутов. Верхние уровни СДР могут быть разработаны на ранней, концептуальной стадии проекта. Дальнейшая детализация СДР возможна, как только будет определён проект и подготовлены спецификации.</a:t>
            </a:r>
            <a:endParaRPr lang="ru-RU" sz="272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Этапы разработки СДР</a:t>
            </a:r>
            <a:endParaRPr sz="2800"/>
          </a:p>
        </p:txBody>
      </p:sp>
      <p:sp>
        <p:nvSpPr>
          <p:cNvPr id="169" name="Google Shape;169;p31"/>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1760"/>
              <a:buFont typeface="Helvetica Neue" panose="020B0604020202020204"/>
              <a:buNone/>
            </a:pPr>
            <a:r>
              <a:rPr lang="ru-RU" sz="1760"/>
              <a:t>Основной процесс разработки СДР состоит из следующих шагов:</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Первый шаг – определение конечных результатов проекта – что должно быть произведено для обеспечения успешного завершения проекта. Рекомендуется проанализировать, рассмотреть документы, описывающие общий объём работ по проекту</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Второй шаг – определение основных пакетов работ, необходимых для получения продукта проекта. Часто такими основными пакетами работ являются результаты, необходимые для создания продукта проекта, но вместе с тем, сами по себе они не являются целями проекта (например, технические требования) </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Третий шаг – определение степени детализации в соответствии с внутренней системой управления и единой системой контроля. Такие элементы обычно связаны с чётким и раздельным определением отдельных результатов (продуктов) проекта</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Четвёртый шаг – анализ и усовершенствование СДР. Этот шаг повторяется до тех пор, пока все участники проекта не будут согласны, что планирование проекта может быть успешно завершено, и можно будет успешно управлять, контролировать и регулировать получаемые результаты</a:t>
            </a:r>
            <a:endParaRPr lang="ru-RU" sz="176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73" name="Shape 173"/>
        <p:cNvGrpSpPr/>
        <p:nvPr/>
      </p:nvGrpSpPr>
      <p:grpSpPr>
        <a:xfrm>
          <a:off x="0" y="0"/>
          <a:ext cx="0" cy="0"/>
          <a:chOff x="0" y="0"/>
          <a:chExt cx="0" cy="0"/>
        </a:xfrm>
      </p:grpSpPr>
      <p:sp>
        <p:nvSpPr>
          <p:cNvPr id="174" name="Google Shape;174;p32"/>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Этапы разработки СДР</a:t>
            </a:r>
            <a:endParaRPr sz="2800"/>
          </a:p>
        </p:txBody>
      </p:sp>
      <p:sp>
        <p:nvSpPr>
          <p:cNvPr id="175" name="Google Shape;175;p32"/>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000"/>
              <a:buFont typeface="Helvetica Neue" panose="020B0604020202020204"/>
              <a:buNone/>
            </a:pPr>
            <a:r>
              <a:rPr lang="ru-RU" sz="2000"/>
              <a:t>Подготовку структуры декомпозиции работ (СДР) можно считать законченной, когда определены мелкие индивидуальные части (элементарные) работы. Ответственность за каждую элементарную работу должна быть поручена одному и только одному члену команды проекта. Очень важно понять, что первоочередная задача составления СДР – разделить проект на подпроекты до той степени детализации, когда появится возможность распределить элементарные работы.</a:t>
            </a:r>
            <a:endParaRPr lang="ru-RU" sz="2000"/>
          </a:p>
          <a:p>
            <a:pPr marL="0" lvl="0" indent="0" algn="l" rtl="0">
              <a:lnSpc>
                <a:spcPct val="80000"/>
              </a:lnSpc>
              <a:spcBef>
                <a:spcPts val="400"/>
              </a:spcBef>
              <a:spcAft>
                <a:spcPts val="0"/>
              </a:spcAft>
              <a:buClr>
                <a:schemeClr val="dk1"/>
              </a:buClr>
              <a:buSzPts val="2000"/>
              <a:buFont typeface="Helvetica Neue" panose="020B0604020202020204"/>
              <a:buNone/>
            </a:pPr>
            <a:r>
              <a:rPr lang="ru-RU" sz="2000"/>
              <a:t>Если проект большой, СДР может иметь довольно общий характер. Можно остановиться на самом нижнем уровне, который отслеживает руководитель проекта. Следует учитывать, что, начиная с этого уровня, другие менеджеры, занятые на проекте, должны осуществить более подробное разделение проекта на части (подпроекты) до уровня элементарных работ.</a:t>
            </a:r>
            <a:endParaRPr lang="ru-RU"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Этапы разработки СДР</a:t>
            </a:r>
            <a:endParaRPr sz="2800"/>
          </a:p>
        </p:txBody>
      </p:sp>
      <p:sp>
        <p:nvSpPr>
          <p:cNvPr id="181" name="Google Shape;181;p33"/>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3200"/>
              <a:buFont typeface="Helvetica Neue" panose="020B0604020202020204"/>
              <a:buNone/>
            </a:pPr>
            <a:r>
              <a:rPr lang="ru-RU"/>
              <a:t>На самом нижнем уровне СДР должно быть описание элементарной работы, которая может быть выполнена одним человеком (или группой людей). Если этот человек (или группа) собираются выполнять работу, а не руководить ее выполнением, этот уровень может быть признан самым нижним уровнем СДР. </a:t>
            </a:r>
            <a:endParaRPr lang="ru-RU"/>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85" name="Shape 185"/>
        <p:cNvGrpSpPr/>
        <p:nvPr/>
      </p:nvGrpSpPr>
      <p:grpSpPr>
        <a:xfrm>
          <a:off x="0" y="0"/>
          <a:ext cx="0" cy="0"/>
          <a:chOff x="0" y="0"/>
          <a:chExt cx="0" cy="0"/>
        </a:xfrm>
      </p:grpSpPr>
      <p:sp>
        <p:nvSpPr>
          <p:cNvPr id="186" name="Google Shape;186;p34"/>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Этапы разработки СДР</a:t>
            </a:r>
            <a:endParaRPr sz="2800"/>
          </a:p>
        </p:txBody>
      </p:sp>
      <p:sp>
        <p:nvSpPr>
          <p:cNvPr id="187" name="Google Shape;187;p34"/>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2240"/>
              <a:buFont typeface="Helvetica Neue" panose="020B0604020202020204"/>
              <a:buNone/>
            </a:pPr>
            <a:r>
              <a:rPr lang="ru-RU" sz="2240"/>
              <a:t>Для проектов средней сложности рекомендуется использовать до 6 уровней СДР: 3 верхних уровня для предоставления информации уровня заказчика, 3 нижних уровня для детализации информации уровня исполнителя. Глубина детализации СДР зависит от размера и сложности проекта, поскольку должна обеспечивать чёткую формализацию целей и результатов работы, которые необходимо выполнить. </a:t>
            </a:r>
            <a:endParaRPr lang="ru-RU" sz="224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Этапы разработки СДР</a:t>
            </a:r>
            <a:endParaRPr sz="2800"/>
          </a:p>
        </p:txBody>
      </p:sp>
      <p:sp>
        <p:nvSpPr>
          <p:cNvPr id="193" name="Google Shape;193;p35"/>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1760"/>
              <a:buFont typeface="Helvetica Neue" panose="020B0604020202020204"/>
              <a:buNone/>
            </a:pPr>
            <a:r>
              <a:rPr lang="ru-RU" sz="1760"/>
              <a:t>Дальнейшая детализация необходима, если: </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Необходимо повысить точность оценки стоимости и длительности работ</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Для пакета работ определён более чем один ответственный</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Объём работ, выполняемый в рамках данного пакета, описывает больше одного результата проекта</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Необходимо раздельно определить стоимость процессов или результатов, описанных в данном пакете работ</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Есть зависимость между работами внутри разных пакетов</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Есть существенные перерывы в выполнении работ в рамках пакета</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Меняются требования к ресурсам в течение времени в рамках пакета работ</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Различаются исходные условия для работ внутри пакета </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Существуют риски, связанные с частью пакета работ</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Для части пакета работ может отдельно пересчитываться расписание</a:t>
            </a:r>
            <a:endParaRPr lang="ru-RU" sz="176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47625" y="28575"/>
            <a:ext cx="8305800" cy="639763"/>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2800"/>
              <a:t>Этапы разработки СДР</a:t>
            </a:r>
            <a:endParaRPr sz="2800"/>
          </a:p>
        </p:txBody>
      </p:sp>
      <p:sp>
        <p:nvSpPr>
          <p:cNvPr id="199" name="Google Shape;199;p36"/>
          <p:cNvSpPr txBox="1"/>
          <p:nvPr>
            <p:ph type="body" idx="1"/>
          </p:nvPr>
        </p:nvSpPr>
        <p:spPr>
          <a:xfrm>
            <a:off x="395536" y="1196752"/>
            <a:ext cx="7891214" cy="4518248"/>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1760"/>
              <a:buFont typeface="Helvetica Neue" panose="020B0604020202020204"/>
              <a:buNone/>
            </a:pPr>
            <a:r>
              <a:rPr lang="ru-RU" sz="1760"/>
              <a:t>Уровень детализации СДР зависит от размера и баланса между сложностью, риском, и требованиями руководителя проекта к контролю проекта. Уровень детализации может также изменяться в процессе жизненного цикла проекта. Для краткосрочных проектов на начальной стадии можно разработать всю СДР до достаточного уровня детализации, в то время как долгосрочные проекты и проекты с высоким уровнем сложности могут не декомпозироваться полностью на начальной стадии. Полностью СДР для таких проектов можно описать в процессе их реализации. С другой стороны, это может означать, что для конкретного проекта отдельные пакеты работ могут иметь различные уровни детализации. В частности, это верно при разработке «развёртывающихся» проектов, когда план детализируется для работ, которые должны непосредственно начаться, а работы будущих периодов определяются укрупнённо, на верхнем уровне, до тех пор, пока на более поздней стадии жизненного цикла проекта можно будет прописать их более детально.</a:t>
            </a:r>
            <a:endParaRPr lang="ru-RU" sz="176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4" name="Shape 204"/>
        <p:cNvGrpSpPr/>
        <p:nvPr/>
      </p:nvGrpSpPr>
      <p:grpSpPr>
        <a:xfrm>
          <a:off x="0" y="0"/>
          <a:ext cx="0" cy="0"/>
          <a:chOff x="0" y="0"/>
          <a:chExt cx="0" cy="0"/>
        </a:xfrm>
      </p:grpSpPr>
      <p:sp>
        <p:nvSpPr>
          <p:cNvPr id="205" name="Google Shape;205;p37"/>
          <p:cNvSpPr txBox="1"/>
          <p:nvPr>
            <p:ph type="title"/>
          </p:nvPr>
        </p:nvSpPr>
        <p:spPr>
          <a:xfrm>
            <a:off x="2057400" y="503238"/>
            <a:ext cx="6934200" cy="71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solidFill>
                  <a:schemeClr val="dk1"/>
                </a:solidFill>
              </a:rPr>
              <a:t>Правила разработки СДР</a:t>
            </a:r>
            <a:endParaRPr sz="3200">
              <a:solidFill>
                <a:schemeClr val="dk1"/>
              </a:solidFill>
            </a:endParaRPr>
          </a:p>
        </p:txBody>
      </p:sp>
      <p:sp>
        <p:nvSpPr>
          <p:cNvPr id="206" name="Google Shape;206;p37"/>
          <p:cNvSpPr txBox="1"/>
          <p:nvPr>
            <p:ph type="body" idx="1"/>
          </p:nvPr>
        </p:nvSpPr>
        <p:spPr>
          <a:xfrm>
            <a:off x="1979712" y="1447800"/>
            <a:ext cx="7011888" cy="5149552"/>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Clr>
                <a:schemeClr val="dk1"/>
              </a:buClr>
              <a:buSzPts val="1760"/>
              <a:buFont typeface="Helvetica Neue" panose="020B0604020202020204"/>
              <a:buNone/>
            </a:pPr>
            <a:r>
              <a:rPr lang="ru-RU" sz="1760"/>
              <a:t>При разработке СДР необходимо принимать во внимание следующие основные правила:</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Каждый элемент СДР должен обеспечивать достижение измеримого результата</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Каждый элемент СДР должен агрегировать все подчиненные элементы</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Результаты должны логически декомпозироваться до уровня, на котором можно определить, как они будут достигаться (проектирование, поставки, заключение договоров, производство)</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Результаты пакетов работ должны быть уникальными</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Выполнение отчётов должно быть оформлено как выполнение отдельных пакетов работ</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Все пакеты работ должны быть совместимы с организационной структурой и структурой затрат</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Исключаются пакеты работ с несколькими ответственными за создание одних и тех же результатов</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Результаты должны иметь размер, достаточный для эффективного управления, но не настолько малый, чтобы сделать затраты на контроль чрезмерными</a:t>
            </a:r>
            <a:endParaRPr lang="ru-RU" sz="176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204" name="Shape 204"/>
        <p:cNvGrpSpPr/>
        <p:nvPr/>
      </p:nvGrpSpPr>
      <p:grpSpPr>
        <a:xfrm>
          <a:off x="0" y="0"/>
          <a:ext cx="0" cy="0"/>
          <a:chOff x="0" y="0"/>
          <a:chExt cx="0" cy="0"/>
        </a:xfrm>
      </p:grpSpPr>
      <p:sp>
        <p:nvSpPr>
          <p:cNvPr id="205" name="Google Shape;205;p37"/>
          <p:cNvSpPr txBox="1"/>
          <p:nvPr>
            <p:ph type="title"/>
          </p:nvPr>
        </p:nvSpPr>
        <p:spPr>
          <a:xfrm>
            <a:off x="2057400" y="503238"/>
            <a:ext cx="6934200" cy="71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ru-RU" sz="3200">
                <a:solidFill>
                  <a:schemeClr val="dk1"/>
                </a:solidFill>
              </a:rPr>
              <a:t>Дополнительные материалы</a:t>
            </a:r>
            <a:endParaRPr lang="ru-RU" sz="3200">
              <a:solidFill>
                <a:schemeClr val="dk1"/>
              </a:solidFill>
            </a:endParaRPr>
          </a:p>
        </p:txBody>
      </p:sp>
      <p:sp>
        <p:nvSpPr>
          <p:cNvPr id="206" name="Google Shape;206;p37"/>
          <p:cNvSpPr txBox="1"/>
          <p:nvPr>
            <p:ph type="body" idx="1"/>
          </p:nvPr>
        </p:nvSpPr>
        <p:spPr>
          <a:xfrm>
            <a:off x="1979712" y="1447800"/>
            <a:ext cx="7011888" cy="5149552"/>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350"/>
              </a:spcBef>
              <a:spcAft>
                <a:spcPts val="0"/>
              </a:spcAft>
              <a:buClr>
                <a:schemeClr val="dk1"/>
              </a:buClr>
              <a:buSzPts val="1760"/>
              <a:buFont typeface="Helvetica Neue" panose="020B0604020202020204"/>
              <a:buNone/>
            </a:pPr>
            <a:r>
              <a:rPr lang="ru-RU" sz="1760"/>
              <a:t>• https://avivi.pro/ua/blog/dekompozitsiya-proektu-rozpodil-roley-i-stvorennya-yuzkeysiv/</a:t>
            </a: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endParaRPr lang="ru-RU" sz="1760"/>
          </a:p>
          <a:p>
            <a:pPr marL="0" lvl="0" indent="0" algn="l" rtl="0">
              <a:lnSpc>
                <a:spcPct val="80000"/>
              </a:lnSpc>
              <a:spcBef>
                <a:spcPts val="350"/>
              </a:spcBef>
              <a:spcAft>
                <a:spcPts val="0"/>
              </a:spcAft>
              <a:buClr>
                <a:schemeClr val="dk1"/>
              </a:buClr>
              <a:buSzPts val="1760"/>
              <a:buFont typeface="Helvetica Neue" panose="020B0604020202020204"/>
              <a:buNone/>
            </a:pPr>
            <a:r>
              <a:rPr lang="ru-RU" sz="1760"/>
              <a:t>• https://habr.com/ru/post/498226/</a:t>
            </a:r>
            <a:endParaRPr lang="ru-RU" sz="1760"/>
          </a:p>
        </p:txBody>
      </p:sp>
    </p:spTree>
  </p:cSld>
  <p:clrMapOvr>
    <a:masterClrMapping/>
  </p:clrMapOvr>
</p:sld>
</file>

<file path=ppt/theme/theme1.xml><?xml version="1.0" encoding="utf-8"?>
<a:theme xmlns:a="http://schemas.openxmlformats.org/drawingml/2006/main" name="powerpoint-template-24">
  <a:themeElements>
    <a:clrScheme name="powerpoint-template-24 13">
      <a:dk1>
        <a:srgbClr val="4D4D4D"/>
      </a:dk1>
      <a:lt1>
        <a:srgbClr val="FFFFFF"/>
      </a:lt1>
      <a:dk2>
        <a:srgbClr val="4D4D4D"/>
      </a:dk2>
      <a:lt2>
        <a:srgbClr val="ED1313"/>
      </a:lt2>
      <a:accent1>
        <a:srgbClr val="0AA6F4"/>
      </a:accent1>
      <a:accent2>
        <a:srgbClr val="098FE1"/>
      </a:accent2>
      <a:accent3>
        <a:srgbClr val="FFFFFF"/>
      </a:accent3>
      <a:accent4>
        <a:srgbClr val="404040"/>
      </a:accent4>
      <a:accent5>
        <a:srgbClr val="AAD0F8"/>
      </a:accent5>
      <a:accent6>
        <a:srgbClr val="0781CC"/>
      </a:accent6>
      <a:hlink>
        <a:srgbClr val="0471B4"/>
      </a:hlink>
      <a:folHlink>
        <a:srgbClr val="DDDDD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12651</Words>
  <Application>WPS Presentation</Application>
  <PresentationFormat/>
  <Paragraphs>159</Paragraphs>
  <Slides>24</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Helvetica Neue</vt:lpstr>
      <vt:lpstr>Calibri</vt:lpstr>
      <vt:lpstr>Microsoft YaHei</vt:lpstr>
      <vt:lpstr>Arial Unicode MS</vt:lpstr>
      <vt:lpstr>Times New Roman</vt:lpstr>
      <vt:lpstr>powerpoint-template-24</vt:lpstr>
      <vt:lpstr>Visio.Drawing.11</vt:lpstr>
      <vt:lpstr>Управление проектами</vt:lpstr>
      <vt:lpstr>Структурная декомпозиция работ проекта</vt:lpstr>
      <vt:lpstr>Структурная декомпозиция работ проекта</vt:lpstr>
      <vt:lpstr>Структурная декомпозиция работ проекта</vt:lpstr>
      <vt:lpstr>Структурная декомпозиция работ проекта</vt:lpstr>
      <vt:lpstr>Структурная декомпозиция работ проекта</vt:lpstr>
      <vt:lpstr>Структурная декомпозиция работ проекта</vt:lpstr>
      <vt:lpstr>PowerPoint 演示文稿</vt:lpstr>
      <vt:lpstr>Типичные ошибки планирования</vt:lpstr>
      <vt:lpstr>Структурная декомпозиция работ проекта</vt:lpstr>
      <vt:lpstr>Структурная декомпозиция работ проекта</vt:lpstr>
      <vt:lpstr>Разработка структурной декомпозиции работ</vt:lpstr>
      <vt:lpstr>Разработка структурной декомпозиции работ</vt:lpstr>
      <vt:lpstr>Системный подход к СДР</vt:lpstr>
      <vt:lpstr>Системный подход к СДР</vt:lpstr>
      <vt:lpstr>Этапы разработки СДР</vt:lpstr>
      <vt:lpstr>Этапы разработки СДР</vt:lpstr>
      <vt:lpstr>Этапы разработки СДР</vt:lpstr>
      <vt:lpstr>Этапы разработки СДР</vt:lpstr>
      <vt:lpstr>Этапы разработки СДР</vt:lpstr>
      <vt:lpstr>Этапы разработки СДР</vt:lpstr>
      <vt:lpstr>Этапы разработки СДР</vt:lpstr>
      <vt:lpstr>Правила разработки СДР</vt:lpstr>
      <vt:lpstr>Правила разработки СДР</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Управление проектами</dc:title>
  <dc:creator/>
  <cp:lastModifiedBy>Alex</cp:lastModifiedBy>
  <cp:revision>1</cp:revision>
  <dcterms:created xsi:type="dcterms:W3CDTF">2022-10-02T13:59:24Z</dcterms:created>
  <dcterms:modified xsi:type="dcterms:W3CDTF">2022-10-02T13:59:24Z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C6218CD255724F92A08F43293AFC2801</vt:lpwstr>
  </property>
  <property fmtid="{D5CDD505-2E9C-101B-9397-08002B2CF9AE}" pid="3" name="KSOProductBuildVer">
    <vt:lpwstr>1033-11.2.0.11341</vt:lpwstr>
  </property>
</Properties>
</file>